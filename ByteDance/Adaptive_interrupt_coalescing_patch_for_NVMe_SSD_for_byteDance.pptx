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charts/chart1.xml" ContentType="application/vnd.openxmlformats-officedocument.drawingml.char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7"/>
  </p:notesMasterIdLst>
  <p:sldIdLst>
    <p:sldId id="298" r:id="rId5"/>
    <p:sldId id="2147476006" r:id="rId6"/>
    <p:sldId id="2147476005" r:id="rId7"/>
    <p:sldId id="2147476029" r:id="rId8"/>
    <p:sldId id="2147476012" r:id="rId9"/>
    <p:sldId id="2147476034" r:id="rId10"/>
    <p:sldId id="2147476032" r:id="rId11"/>
    <p:sldId id="2147476009" r:id="rId12"/>
    <p:sldId id="2147476035" r:id="rId13"/>
    <p:sldId id="2147476033" r:id="rId14"/>
    <p:sldId id="2147476036" r:id="rId15"/>
    <p:sldId id="2147475984"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C35C922-EF92-3BDA-25E7-C1F1F418C3D1}" name="Basavaraj, Dheeraj" initials="BD" userId="S::dheeraj.basavaraj@intel.com::45b5da0b-d40d-4e7e-b34e-f261a1339343" providerId="AD"/>
  <p188:author id="{D5BE123C-2CA1-10AC-7FAF-0E8C4AF09840}" name="Arias Chinchilla, Abraham" initials="ACA" userId="S::abraham.arias.chinchilla@intel.com::da9715bc-f12b-46f5-b7b6-52ba6593e396" providerId="AD"/>
  <p188:author id="{9E973DA3-6B26-50E9-52B6-138D3257BC7B}" name="Zhu, Vivian" initials="VZ" userId="S::vivian.zhu@intel.com::632514be-92e9-4d20-8641-8dbf371994a3" providerId="AD"/>
  <p188:author id="{C7A868B7-6D14-C593-3AAE-11619CA3238C}" name="Fang, Liang A" initials="" userId="S::liang.a.fang@intel.com::6272a993-9b20-4827-820c-3df75b08a4a0" providerId="AD"/>
  <p188:author id="{36D753B9-25BA-DD97-F582-1EB358316228}" name="Ganesh, Priyanka" initials="GP" userId="S::priyanka.ganesh@intel.com::037e4b93-106a-4797-a721-1e34f21a3de2" providerId="AD"/>
  <p188:author id="{9D1826DE-7DE2-7198-13A6-1D485E71D8DE}" name="Patel, Mihir" initials="PM" userId="S::mihir.patel@intel.com::eefebcbd-a81d-40b6-98a7-46e0e9dd5ddc" providerId="AD"/>
  <p188:author id="{5FBFF9E8-68B2-0AC7-FFF9-A7F51FE1BC73}" name="Hu, Fenghua" initials="FH" userId="S::fenghua.hu@intel.com::03c0fdc7-f4c6-498d-bbfb-0925951722e4" providerId="AD"/>
  <p188:author id="{080160F5-DCCC-0DAD-5632-59AE051642BC}" name="Hemantha Raju, Nisha" initials="HRN" userId="S::nisha.hemantha.raju@intel.com::4683ae20-d7d2-4d6b-a00e-bebf6dac590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857EFE-0E2D-4F7F-9C12-78CF30436CAE}" v="10" dt="2025-11-12T11:17:39.748"/>
    <p1510:client id="{C05B0319-1315-4DD9-A3BE-673E3E490517}" v="3" dt="2025-11-12T11:12:17.55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7" d="100"/>
          <a:sy n="87" d="100"/>
        </p:scale>
        <p:origin x="422"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eng, Jun1" userId="4677239c-c893-487b-b6e0-1aaf8c4da7ca" providerId="ADAL" clId="{54D10F68-472A-47B4-9BF6-87D70BD9DFE1}"/>
    <pc:docChg chg="custSel addSld modSld">
      <pc:chgData name="Zeng, Jun1" userId="4677239c-c893-487b-b6e0-1aaf8c4da7ca" providerId="ADAL" clId="{54D10F68-472A-47B4-9BF6-87D70BD9DFE1}" dt="2025-10-17T00:33:16.928" v="15" actId="1076"/>
      <pc:docMkLst>
        <pc:docMk/>
      </pc:docMkLst>
      <pc:sldChg chg="addSp delSp modSp new mod">
        <pc:chgData name="Zeng, Jun1" userId="4677239c-c893-487b-b6e0-1aaf8c4da7ca" providerId="ADAL" clId="{54D10F68-472A-47B4-9BF6-87D70BD9DFE1}" dt="2025-10-17T00:33:16.928" v="15" actId="1076"/>
        <pc:sldMkLst>
          <pc:docMk/>
          <pc:sldMk cId="2923089105" sldId="2147476036"/>
        </pc:sldMkLst>
      </pc:sldChg>
    </pc:docChg>
  </pc:docChgLst>
  <pc:docChgLst>
    <pc:chgData name="Liu, Guanguan" userId="2fe5c851-e1da-47a0-8e03-2df59519c110" providerId="ADAL" clId="{C9617DDD-D4AB-4C2A-9CF2-E7CDFB2388ED}"/>
    <pc:docChg chg="modSld">
      <pc:chgData name="Liu, Guanguan" userId="2fe5c851-e1da-47a0-8e03-2df59519c110" providerId="ADAL" clId="{C9617DDD-D4AB-4C2A-9CF2-E7CDFB2388ED}" dt="2025-11-12T11:17:39.748" v="9"/>
      <pc:docMkLst>
        <pc:docMk/>
      </pc:docMkLst>
      <pc:sldChg chg="addSp modSp">
        <pc:chgData name="Liu, Guanguan" userId="2fe5c851-e1da-47a0-8e03-2df59519c110" providerId="ADAL" clId="{C9617DDD-D4AB-4C2A-9CF2-E7CDFB2388ED}" dt="2025-11-12T11:17:32.794" v="6"/>
        <pc:sldMkLst>
          <pc:docMk/>
          <pc:sldMk cId="3581465606" sldId="2147476005"/>
        </pc:sldMkLst>
        <pc:spChg chg="add mod">
          <ac:chgData name="Liu, Guanguan" userId="2fe5c851-e1da-47a0-8e03-2df59519c110" providerId="ADAL" clId="{C9617DDD-D4AB-4C2A-9CF2-E7CDFB2388ED}" dt="2025-11-12T11:17:32.794" v="6"/>
          <ac:spMkLst>
            <pc:docMk/>
            <pc:sldMk cId="3581465606" sldId="2147476005"/>
            <ac:spMk id="6" creationId="{16FEE3D0-0C96-9528-0462-68E26CCEF121}"/>
          </ac:spMkLst>
        </pc:spChg>
      </pc:sldChg>
      <pc:sldChg chg="addSp modSp">
        <pc:chgData name="Liu, Guanguan" userId="2fe5c851-e1da-47a0-8e03-2df59519c110" providerId="ADAL" clId="{C9617DDD-D4AB-4C2A-9CF2-E7CDFB2388ED}" dt="2025-11-12T11:17:31.032" v="5"/>
        <pc:sldMkLst>
          <pc:docMk/>
          <pc:sldMk cId="3765648230" sldId="2147476006"/>
        </pc:sldMkLst>
        <pc:spChg chg="add mod">
          <ac:chgData name="Liu, Guanguan" userId="2fe5c851-e1da-47a0-8e03-2df59519c110" providerId="ADAL" clId="{C9617DDD-D4AB-4C2A-9CF2-E7CDFB2388ED}" dt="2025-11-12T11:17:31.032" v="5"/>
          <ac:spMkLst>
            <pc:docMk/>
            <pc:sldMk cId="3765648230" sldId="2147476006"/>
            <ac:spMk id="2" creationId="{552F9410-A3E6-2646-D9AB-D63006D5B705}"/>
          </ac:spMkLst>
        </pc:spChg>
      </pc:sldChg>
      <pc:sldChg chg="addSp modSp">
        <pc:chgData name="Liu, Guanguan" userId="2fe5c851-e1da-47a0-8e03-2df59519c110" providerId="ADAL" clId="{C9617DDD-D4AB-4C2A-9CF2-E7CDFB2388ED}" dt="2025-11-12T11:17:23.935" v="3"/>
        <pc:sldMkLst>
          <pc:docMk/>
          <pc:sldMk cId="4072134154" sldId="2147476009"/>
        </pc:sldMkLst>
        <pc:spChg chg="add mod">
          <ac:chgData name="Liu, Guanguan" userId="2fe5c851-e1da-47a0-8e03-2df59519c110" providerId="ADAL" clId="{C9617DDD-D4AB-4C2A-9CF2-E7CDFB2388ED}" dt="2025-11-12T11:17:23.935" v="3"/>
          <ac:spMkLst>
            <pc:docMk/>
            <pc:sldMk cId="4072134154" sldId="2147476009"/>
            <ac:spMk id="2" creationId="{AE824F26-10A5-BFFC-3993-6274157D6BC6}"/>
          </ac:spMkLst>
        </pc:spChg>
      </pc:sldChg>
      <pc:sldChg chg="addSp modSp">
        <pc:chgData name="Liu, Guanguan" userId="2fe5c851-e1da-47a0-8e03-2df59519c110" providerId="ADAL" clId="{C9617DDD-D4AB-4C2A-9CF2-E7CDFB2388ED}" dt="2025-11-12T11:17:37.835" v="8"/>
        <pc:sldMkLst>
          <pc:docMk/>
          <pc:sldMk cId="3043616261" sldId="2147476012"/>
        </pc:sldMkLst>
        <pc:spChg chg="add mod">
          <ac:chgData name="Liu, Guanguan" userId="2fe5c851-e1da-47a0-8e03-2df59519c110" providerId="ADAL" clId="{C9617DDD-D4AB-4C2A-9CF2-E7CDFB2388ED}" dt="2025-11-12T11:17:37.835" v="8"/>
          <ac:spMkLst>
            <pc:docMk/>
            <pc:sldMk cId="3043616261" sldId="2147476012"/>
            <ac:spMk id="2" creationId="{C1A2D242-9791-4EB2-30C2-D1EC9CA13A6A}"/>
          </ac:spMkLst>
        </pc:spChg>
      </pc:sldChg>
      <pc:sldChg chg="addSp modSp">
        <pc:chgData name="Liu, Guanguan" userId="2fe5c851-e1da-47a0-8e03-2df59519c110" providerId="ADAL" clId="{C9617DDD-D4AB-4C2A-9CF2-E7CDFB2388ED}" dt="2025-11-12T11:17:34.637" v="7"/>
        <pc:sldMkLst>
          <pc:docMk/>
          <pc:sldMk cId="1853257416" sldId="2147476029"/>
        </pc:sldMkLst>
        <pc:spChg chg="add mod">
          <ac:chgData name="Liu, Guanguan" userId="2fe5c851-e1da-47a0-8e03-2df59519c110" providerId="ADAL" clId="{C9617DDD-D4AB-4C2A-9CF2-E7CDFB2388ED}" dt="2025-11-12T11:17:34.637" v="7"/>
          <ac:spMkLst>
            <pc:docMk/>
            <pc:sldMk cId="1853257416" sldId="2147476029"/>
            <ac:spMk id="6" creationId="{4AF56413-2929-38FB-6653-13C48725DED5}"/>
          </ac:spMkLst>
        </pc:spChg>
      </pc:sldChg>
      <pc:sldChg chg="addSp modSp">
        <pc:chgData name="Liu, Guanguan" userId="2fe5c851-e1da-47a0-8e03-2df59519c110" providerId="ADAL" clId="{C9617DDD-D4AB-4C2A-9CF2-E7CDFB2388ED}" dt="2025-11-12T11:17:26.203" v="4"/>
        <pc:sldMkLst>
          <pc:docMk/>
          <pc:sldMk cId="759632344" sldId="2147476032"/>
        </pc:sldMkLst>
        <pc:spChg chg="add mod">
          <ac:chgData name="Liu, Guanguan" userId="2fe5c851-e1da-47a0-8e03-2df59519c110" providerId="ADAL" clId="{C9617DDD-D4AB-4C2A-9CF2-E7CDFB2388ED}" dt="2025-11-12T11:17:26.203" v="4"/>
          <ac:spMkLst>
            <pc:docMk/>
            <pc:sldMk cId="759632344" sldId="2147476032"/>
            <ac:spMk id="3" creationId="{FF4039FF-DBB6-BCF6-8F1E-43C44C931CBF}"/>
          </ac:spMkLst>
        </pc:spChg>
      </pc:sldChg>
      <pc:sldChg chg="addSp modSp">
        <pc:chgData name="Liu, Guanguan" userId="2fe5c851-e1da-47a0-8e03-2df59519c110" providerId="ADAL" clId="{C9617DDD-D4AB-4C2A-9CF2-E7CDFB2388ED}" dt="2025-11-12T11:17:19.946" v="1"/>
        <pc:sldMkLst>
          <pc:docMk/>
          <pc:sldMk cId="331037518" sldId="2147476033"/>
        </pc:sldMkLst>
        <pc:spChg chg="add mod">
          <ac:chgData name="Liu, Guanguan" userId="2fe5c851-e1da-47a0-8e03-2df59519c110" providerId="ADAL" clId="{C9617DDD-D4AB-4C2A-9CF2-E7CDFB2388ED}" dt="2025-11-12T11:17:19.946" v="1"/>
          <ac:spMkLst>
            <pc:docMk/>
            <pc:sldMk cId="331037518" sldId="2147476033"/>
            <ac:spMk id="2" creationId="{E4FF3EFE-9570-674D-5B27-DD1A432AC41C}"/>
          </ac:spMkLst>
        </pc:spChg>
      </pc:sldChg>
      <pc:sldChg chg="addSp modSp">
        <pc:chgData name="Liu, Guanguan" userId="2fe5c851-e1da-47a0-8e03-2df59519c110" providerId="ADAL" clId="{C9617DDD-D4AB-4C2A-9CF2-E7CDFB2388ED}" dt="2025-11-12T11:17:39.748" v="9"/>
        <pc:sldMkLst>
          <pc:docMk/>
          <pc:sldMk cId="2638020343" sldId="2147476034"/>
        </pc:sldMkLst>
        <pc:spChg chg="add mod">
          <ac:chgData name="Liu, Guanguan" userId="2fe5c851-e1da-47a0-8e03-2df59519c110" providerId="ADAL" clId="{C9617DDD-D4AB-4C2A-9CF2-E7CDFB2388ED}" dt="2025-11-12T11:17:39.748" v="9"/>
          <ac:spMkLst>
            <pc:docMk/>
            <pc:sldMk cId="2638020343" sldId="2147476034"/>
            <ac:spMk id="4" creationId="{EC23D981-DAA0-D394-EA05-1C6B1860DA65}"/>
          </ac:spMkLst>
        </pc:spChg>
      </pc:sldChg>
      <pc:sldChg chg="addSp modSp">
        <pc:chgData name="Liu, Guanguan" userId="2fe5c851-e1da-47a0-8e03-2df59519c110" providerId="ADAL" clId="{C9617DDD-D4AB-4C2A-9CF2-E7CDFB2388ED}" dt="2025-11-12T11:17:21.853" v="2"/>
        <pc:sldMkLst>
          <pc:docMk/>
          <pc:sldMk cId="4044331611" sldId="2147476035"/>
        </pc:sldMkLst>
        <pc:spChg chg="add mod">
          <ac:chgData name="Liu, Guanguan" userId="2fe5c851-e1da-47a0-8e03-2df59519c110" providerId="ADAL" clId="{C9617DDD-D4AB-4C2A-9CF2-E7CDFB2388ED}" dt="2025-11-12T11:17:21.853" v="2"/>
          <ac:spMkLst>
            <pc:docMk/>
            <pc:sldMk cId="4044331611" sldId="2147476035"/>
            <ac:spMk id="8" creationId="{BEB9FAF0-44CE-4998-A11C-7B916FDCE482}"/>
          </ac:spMkLst>
        </pc:spChg>
      </pc:sldChg>
      <pc:sldChg chg="addSp modSp">
        <pc:chgData name="Liu, Guanguan" userId="2fe5c851-e1da-47a0-8e03-2df59519c110" providerId="ADAL" clId="{C9617DDD-D4AB-4C2A-9CF2-E7CDFB2388ED}" dt="2025-11-12T11:17:17.693" v="0"/>
        <pc:sldMkLst>
          <pc:docMk/>
          <pc:sldMk cId="3491628403" sldId="2147476036"/>
        </pc:sldMkLst>
        <pc:spChg chg="add mod">
          <ac:chgData name="Liu, Guanguan" userId="2fe5c851-e1da-47a0-8e03-2df59519c110" providerId="ADAL" clId="{C9617DDD-D4AB-4C2A-9CF2-E7CDFB2388ED}" dt="2025-11-12T11:17:17.693" v="0"/>
          <ac:spMkLst>
            <pc:docMk/>
            <pc:sldMk cId="3491628403" sldId="2147476036"/>
            <ac:spMk id="2" creationId="{4F10145A-30A5-EC09-D2AB-0BBC1D920BAF}"/>
          </ac:spMkLst>
        </pc:spChg>
      </pc:sldChg>
    </pc:docChg>
  </pc:docChgLst>
  <pc:docChgLst>
    <pc:chgData name="Zeng, Jun1" userId="4677239c-c893-487b-b6e0-1aaf8c4da7ca" providerId="ADAL" clId="{5ABD6698-5FB6-46DA-8E30-48DA5B7E4A3F}"/>
    <pc:docChg chg="custSel addSld delSld modSld">
      <pc:chgData name="Zeng, Jun1" userId="4677239c-c893-487b-b6e0-1aaf8c4da7ca" providerId="ADAL" clId="{5ABD6698-5FB6-46DA-8E30-48DA5B7E4A3F}" dt="2025-11-12T11:13:01.854" v="221" actId="5793"/>
      <pc:docMkLst>
        <pc:docMk/>
      </pc:docMkLst>
      <pc:sldChg chg="modSp mod">
        <pc:chgData name="Zeng, Jun1" userId="4677239c-c893-487b-b6e0-1aaf8c4da7ca" providerId="ADAL" clId="{5ABD6698-5FB6-46DA-8E30-48DA5B7E4A3F}" dt="2025-11-06T08:22:45.896" v="165" actId="20577"/>
        <pc:sldMkLst>
          <pc:docMk/>
          <pc:sldMk cId="331037518" sldId="2147476033"/>
        </pc:sldMkLst>
        <pc:spChg chg="mod">
          <ac:chgData name="Zeng, Jun1" userId="4677239c-c893-487b-b6e0-1aaf8c4da7ca" providerId="ADAL" clId="{5ABD6698-5FB6-46DA-8E30-48DA5B7E4A3F}" dt="2025-11-06T08:22:45.896" v="165" actId="20577"/>
          <ac:spMkLst>
            <pc:docMk/>
            <pc:sldMk cId="331037518" sldId="2147476033"/>
            <ac:spMk id="14" creationId="{7FD423DC-F15A-D033-06DF-A5482AA38BEE}"/>
          </ac:spMkLst>
        </pc:spChg>
      </pc:sldChg>
      <pc:sldChg chg="addSp modSp mod">
        <pc:chgData name="Zeng, Jun1" userId="4677239c-c893-487b-b6e0-1aaf8c4da7ca" providerId="ADAL" clId="{5ABD6698-5FB6-46DA-8E30-48DA5B7E4A3F}" dt="2025-11-12T11:12:35.844" v="215" actId="255"/>
        <pc:sldMkLst>
          <pc:docMk/>
          <pc:sldMk cId="4044331611" sldId="2147476035"/>
        </pc:sldMkLst>
        <pc:spChg chg="add mod">
          <ac:chgData name="Zeng, Jun1" userId="4677239c-c893-487b-b6e0-1aaf8c4da7ca" providerId="ADAL" clId="{5ABD6698-5FB6-46DA-8E30-48DA5B7E4A3F}" dt="2025-11-12T11:12:35.844" v="215" actId="255"/>
          <ac:spMkLst>
            <pc:docMk/>
            <pc:sldMk cId="4044331611" sldId="2147476035"/>
            <ac:spMk id="2" creationId="{4E25EEA1-4E17-1195-A1FA-96FA8ECD2884}"/>
          </ac:spMkLst>
        </pc:spChg>
      </pc:sldChg>
      <pc:sldChg chg="delSp del mod">
        <pc:chgData name="Zeng, Jun1" userId="4677239c-c893-487b-b6e0-1aaf8c4da7ca" providerId="ADAL" clId="{5ABD6698-5FB6-46DA-8E30-48DA5B7E4A3F}" dt="2025-11-06T08:14:10.487" v="1" actId="47"/>
        <pc:sldMkLst>
          <pc:docMk/>
          <pc:sldMk cId="2923089105" sldId="2147476036"/>
        </pc:sldMkLst>
      </pc:sldChg>
      <pc:sldChg chg="modSp add mod">
        <pc:chgData name="Zeng, Jun1" userId="4677239c-c893-487b-b6e0-1aaf8c4da7ca" providerId="ADAL" clId="{5ABD6698-5FB6-46DA-8E30-48DA5B7E4A3F}" dt="2025-11-12T11:13:01.854" v="221" actId="5793"/>
        <pc:sldMkLst>
          <pc:docMk/>
          <pc:sldMk cId="3491628403" sldId="2147476036"/>
        </pc:sldMkLst>
        <pc:spChg chg="mod">
          <ac:chgData name="Zeng, Jun1" userId="4677239c-c893-487b-b6e0-1aaf8c4da7ca" providerId="ADAL" clId="{5ABD6698-5FB6-46DA-8E30-48DA5B7E4A3F}" dt="2025-11-06T08:14:48.304" v="17" actId="20577"/>
          <ac:spMkLst>
            <pc:docMk/>
            <pc:sldMk cId="3491628403" sldId="2147476036"/>
            <ac:spMk id="10" creationId="{B35BE315-8B06-811D-8FC4-573386D2A2B2}"/>
          </ac:spMkLst>
        </pc:spChg>
        <pc:spChg chg="mod">
          <ac:chgData name="Zeng, Jun1" userId="4677239c-c893-487b-b6e0-1aaf8c4da7ca" providerId="ADAL" clId="{5ABD6698-5FB6-46DA-8E30-48DA5B7E4A3F}" dt="2025-11-12T11:13:01.854" v="221" actId="5793"/>
          <ac:spMkLst>
            <pc:docMk/>
            <pc:sldMk cId="3491628403" sldId="2147476036"/>
            <ac:spMk id="14" creationId="{A9BCADC9-3C48-C584-3C0A-873B8FDFBD4C}"/>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0000000000000001E-3"/>
          <c:y val="5.0000000000000001E-3"/>
          <c:w val="0.99"/>
          <c:h val="0.85003499999999999"/>
        </c:manualLayout>
      </c:layout>
      <c:pieChart>
        <c:varyColors val="0"/>
        <c:dLbls>
          <c:showLegendKey val="0"/>
          <c:showVal val="0"/>
          <c:showCatName val="0"/>
          <c:showSerName val="0"/>
          <c:showPercent val="0"/>
          <c:showBubbleSize val="0"/>
          <c:showLeaderLines val="0"/>
        </c:dLbls>
        <c:firstSliceAng val="0"/>
      </c:pieChart>
      <c:spPr>
        <a:noFill/>
        <a:ln w="12700" cap="flat">
          <a:noFill/>
          <a:miter lim="400000"/>
        </a:ln>
        <a:effectLst/>
      </c:spPr>
    </c:plotArea>
    <c:legend>
      <c:legendPos val="b"/>
      <c:layout>
        <c:manualLayout>
          <c:xMode val="edge"/>
          <c:yMode val="edge"/>
          <c:x val="4.1227E-2"/>
          <c:y val="0.95121999999999995"/>
          <c:w val="0.91754599999999997"/>
          <c:h val="4.8779599999999999E-2"/>
        </c:manualLayout>
      </c:layout>
      <c:overlay val="1"/>
      <c:spPr>
        <a:noFill/>
        <a:ln w="12700" cap="flat">
          <a:noFill/>
          <a:miter lim="400000"/>
        </a:ln>
        <a:effectLst/>
      </c:spPr>
      <c:txPr>
        <a:bodyPr rot="0"/>
        <a:lstStyle/>
        <a:p>
          <a:pPr>
            <a:defRPr sz="1800" b="0" i="0" u="none" strike="noStrike">
              <a:solidFill>
                <a:srgbClr val="000000"/>
              </a:solidFill>
              <a:latin typeface="Intel Clear"/>
            </a:defRPr>
          </a:pPr>
          <a:endParaRPr lang="en-US"/>
        </a:p>
      </c:txPr>
    </c:legend>
    <c:plotVisOnly val="1"/>
    <c:dispBlanksAs val="gap"/>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84683D-3147-4951-B759-5CF7C29269AC}" type="datetimeFigureOut">
              <a:rPr lang="en-US" smtClean="0"/>
              <a:t>2025-11-12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87E861-80C0-4ED6-A099-E77F1211F38E}" type="slidenum">
              <a:rPr lang="en-US" smtClean="0"/>
              <a:t>‹#›</a:t>
            </a:fld>
            <a:endParaRPr lang="en-US"/>
          </a:p>
        </p:txBody>
      </p:sp>
    </p:spTree>
    <p:extLst>
      <p:ext uri="{BB962C8B-B14F-4D97-AF65-F5344CB8AC3E}">
        <p14:creationId xmlns:p14="http://schemas.microsoft.com/office/powerpoint/2010/main" val="17894360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20000"/>
              </a:spcBef>
              <a:spcAft>
                <a:spcPct val="0"/>
              </a:spcAft>
              <a:buClrTx/>
              <a:buSzPct val="130000"/>
              <a:buFontTx/>
              <a:buNone/>
              <a:tabLst/>
              <a:defRPr/>
            </a:pPr>
            <a:endParaRPr kumimoji="0" lang="en-US" sz="1200" b="0" i="0" u="none" strike="noStrike" cap="none" normalizeH="0" baseline="0">
              <a:ln>
                <a:noFill/>
              </a:ln>
              <a:solidFill>
                <a:srgbClr val="333333"/>
              </a:solidFill>
              <a:effectLst/>
              <a:latin typeface="Verdana" pitchFamily="34" charset="0"/>
            </a:endParaRPr>
          </a:p>
        </p:txBody>
      </p:sp>
      <p:sp>
        <p:nvSpPr>
          <p:cNvPr id="4" name="Slide Number Placeholder 3"/>
          <p:cNvSpPr>
            <a:spLocks noGrp="1"/>
          </p:cNvSpPr>
          <p:nvPr>
            <p:ph type="sldNum" sz="quarter" idx="10"/>
          </p:nvPr>
        </p:nvSpPr>
        <p:spPr/>
        <p:txBody>
          <a:bodyPr/>
          <a:lstStyle/>
          <a:p>
            <a:pPr marL="0" marR="0" lvl="0" indent="0" algn="l" defTabSz="1219169" rtl="0" eaLnBrk="1" fontAlgn="auto" latinLnBrk="0" hangingPunct="0">
              <a:lnSpc>
                <a:spcPct val="90000"/>
              </a:lnSpc>
              <a:spcBef>
                <a:spcPts val="2250"/>
              </a:spcBef>
              <a:spcAft>
                <a:spcPts val="0"/>
              </a:spcAft>
              <a:buClrTx/>
              <a:buSzTx/>
              <a:buFontTx/>
              <a:buNone/>
              <a:tabLst/>
              <a:defRPr/>
            </a:pPr>
            <a:fld id="{D61C8689-8455-3546-ADF9-3B7273760F66}" type="slidenum">
              <a:rPr kumimoji="0" lang="en-US" sz="2400" b="0" i="0" u="none" strike="noStrike" kern="0" cap="none" spc="0" normalizeH="0" baseline="0" noProof="0" smtClean="0">
                <a:ln>
                  <a:noFill/>
                </a:ln>
                <a:solidFill>
                  <a:srgbClr val="000000"/>
                </a:solidFill>
                <a:effectLst/>
                <a:uLnTx/>
                <a:uFillTx/>
                <a:latin typeface="Helvetica Neue"/>
                <a:sym typeface="Helvetica Neue"/>
              </a:rPr>
              <a:pPr marL="0" marR="0" lvl="0" indent="0" algn="l" defTabSz="1219169" rtl="0" eaLnBrk="1" fontAlgn="auto" latinLnBrk="0" hangingPunct="0">
                <a:lnSpc>
                  <a:spcPct val="90000"/>
                </a:lnSpc>
                <a:spcBef>
                  <a:spcPts val="2250"/>
                </a:spcBef>
                <a:spcAft>
                  <a:spcPts val="0"/>
                </a:spcAft>
                <a:buClrTx/>
                <a:buSzTx/>
                <a:buFontTx/>
                <a:buNone/>
                <a:tabLst/>
                <a:defRPr/>
              </a:pPr>
              <a:t>1</a:t>
            </a:fld>
            <a:endParaRPr kumimoji="0" lang="en-US" sz="2400" b="0" i="0" u="none" strike="noStrike" kern="0" cap="none" spc="0" normalizeH="0" baseline="0" noProof="0">
              <a:ln>
                <a:noFill/>
              </a:ln>
              <a:solidFill>
                <a:srgbClr val="000000"/>
              </a:solidFill>
              <a:effectLst/>
              <a:uLnTx/>
              <a:uFillTx/>
              <a:latin typeface="Helvetica Neue"/>
              <a:sym typeface="Helvetica Neue"/>
            </a:endParaRPr>
          </a:p>
        </p:txBody>
      </p:sp>
    </p:spTree>
    <p:extLst>
      <p:ext uri="{BB962C8B-B14F-4D97-AF65-F5344CB8AC3E}">
        <p14:creationId xmlns:p14="http://schemas.microsoft.com/office/powerpoint/2010/main" val="13248366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87E861-80C0-4ED6-A099-E77F1211F38E}" type="slidenum">
              <a:rPr lang="en-US" smtClean="0"/>
              <a:t>9</a:t>
            </a:fld>
            <a:endParaRPr lang="en-US"/>
          </a:p>
        </p:txBody>
      </p:sp>
    </p:spTree>
    <p:extLst>
      <p:ext uri="{BB962C8B-B14F-4D97-AF65-F5344CB8AC3E}">
        <p14:creationId xmlns:p14="http://schemas.microsoft.com/office/powerpoint/2010/main" val="20984294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Blue B">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Text Placeholder 2">
            <a:extLst>
              <a:ext uri="{FF2B5EF4-FFF2-40B4-BE49-F238E27FC236}">
                <a16:creationId xmlns:a16="http://schemas.microsoft.com/office/drawing/2014/main" id="{6E706504-BEDA-1441-8BC1-243269FBBCB8}"/>
              </a:ext>
            </a:extLst>
          </p:cNvPr>
          <p:cNvSpPr>
            <a:spLocks noGrp="1"/>
          </p:cNvSpPr>
          <p:nvPr>
            <p:ph type="body" sz="quarter" idx="25" hasCustomPrompt="1"/>
          </p:nvPr>
        </p:nvSpPr>
        <p:spPr>
          <a:xfrm>
            <a:off x="1895475" y="2789123"/>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192087"/>
            <a:ext cx="10972801" cy="1091827"/>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800">
                <a:solidFill>
                  <a:schemeClr val="bg1"/>
                </a:solidFill>
              </a:defRPr>
            </a:lvl1pPr>
          </a:lstStyle>
          <a:p>
            <a:r>
              <a:rPr lang="en-US"/>
              <a:t>48 </a:t>
            </a:r>
            <a:r>
              <a:rPr lang="en-US" err="1"/>
              <a:t>pt</a:t>
            </a:r>
            <a:r>
              <a:rPr lang="en-US"/>
              <a:t> Intel Clear Light</a:t>
            </a:r>
            <a:endParaRPr/>
          </a:p>
        </p:txBody>
      </p:sp>
      <p:sp>
        <p:nvSpPr>
          <p:cNvPr id="21" name="Text Placeholder 6">
            <a:extLst>
              <a:ext uri="{FF2B5EF4-FFF2-40B4-BE49-F238E27FC236}">
                <a16:creationId xmlns:a16="http://schemas.microsoft.com/office/drawing/2014/main" id="{71E0DDC0-B435-4D0B-837E-0E27121099BC}"/>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sp>
        <p:nvSpPr>
          <p:cNvPr id="10" name="Square">
            <a:extLst>
              <a:ext uri="{FF2B5EF4-FFF2-40B4-BE49-F238E27FC236}">
                <a16:creationId xmlns:a16="http://schemas.microsoft.com/office/drawing/2014/main" id="{5F1BD0FC-D3B7-4D2E-989A-64ED187DAF99}"/>
              </a:ext>
            </a:extLst>
          </p:cNvPr>
          <p:cNvSpPr/>
          <p:nvPr userDrawn="1"/>
        </p:nvSpPr>
        <p:spPr>
          <a:xfrm>
            <a:off x="861107" y="5390896"/>
            <a:ext cx="607299" cy="607299"/>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3D2DE0DF-793A-4E90-BB4C-004CD646F4EF}"/>
              </a:ext>
            </a:extLst>
          </p:cNvPr>
          <p:cNvSpPr/>
          <p:nvPr userDrawn="1"/>
        </p:nvSpPr>
        <p:spPr>
          <a:xfrm>
            <a:off x="576067" y="5108797"/>
            <a:ext cx="286654" cy="282073"/>
          </a:xfrm>
          <a:prstGeom prst="rect">
            <a:avLst/>
          </a:prstGeom>
          <a:solidFill>
            <a:schemeClr val="accent3"/>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C39C59F8-1EBA-44B6-940C-E67247F76722}"/>
              </a:ext>
            </a:extLst>
          </p:cNvPr>
          <p:cNvSpPr/>
          <p:nvPr userDrawn="1"/>
        </p:nvSpPr>
        <p:spPr>
          <a:xfrm>
            <a:off x="861107" y="4952474"/>
            <a:ext cx="157461" cy="157461"/>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grpSp>
        <p:nvGrpSpPr>
          <p:cNvPr id="14" name="Group 13">
            <a:extLst>
              <a:ext uri="{FF2B5EF4-FFF2-40B4-BE49-F238E27FC236}">
                <a16:creationId xmlns:a16="http://schemas.microsoft.com/office/drawing/2014/main" id="{25251DAF-788D-46D0-84B3-34DFEE6262F3}"/>
              </a:ext>
            </a:extLst>
          </p:cNvPr>
          <p:cNvGrpSpPr/>
          <p:nvPr userDrawn="1"/>
        </p:nvGrpSpPr>
        <p:grpSpPr>
          <a:xfrm>
            <a:off x="1468406" y="5995719"/>
            <a:ext cx="1059754" cy="396801"/>
            <a:chOff x="1314450" y="6391094"/>
            <a:chExt cx="1123377" cy="420623"/>
          </a:xfrm>
        </p:grpSpPr>
        <p:sp>
          <p:nvSpPr>
            <p:cNvPr id="15" name="Freeform: Shape 14">
              <a:extLst>
                <a:ext uri="{FF2B5EF4-FFF2-40B4-BE49-F238E27FC236}">
                  <a16:creationId xmlns:a16="http://schemas.microsoft.com/office/drawing/2014/main" id="{A050DF4B-855E-41F4-9B0B-9B0BA01FB4FE}"/>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D5E76890-19E8-4E79-B88A-5E246700E0DB}"/>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1094D935-4B06-467E-ACD3-E78CD1B86EE3}"/>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C3E1BDA4-68F2-4FA3-BD91-CBC85BF15A79}"/>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432229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mp;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313944" y="1301979"/>
            <a:ext cx="11637264" cy="497575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9D485157-62B7-AADE-E4B0-82924637B64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500428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314325" y="304800"/>
            <a:ext cx="11649075" cy="95250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314325" y="1301927"/>
            <a:ext cx="5657850"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308163" y="1301927"/>
            <a:ext cx="5657850"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54418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315338" y="306324"/>
            <a:ext cx="11724262" cy="95249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b="0">
                <a:solidFill>
                  <a:srgbClr val="525252"/>
                </a:solidFill>
              </a:defRPr>
            </a:lvl1pPr>
          </a:lstStyle>
          <a:p>
            <a:r>
              <a:rPr lang="en-US"/>
              <a:t>40pt Intel Clear Light Text Goes Here</a:t>
            </a:r>
          </a:p>
        </p:txBody>
      </p:sp>
    </p:spTree>
    <p:extLst>
      <p:ext uri="{BB962C8B-B14F-4D97-AF65-F5344CB8AC3E}">
        <p14:creationId xmlns:p14="http://schemas.microsoft.com/office/powerpoint/2010/main" val="3167643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758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710966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758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Break White">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56CA39C9-EAE4-4511-9CE8-BB4D4B47FC0C}"/>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b" anchorCtr="0">
            <a:noAutofit/>
          </a:bodyPr>
          <a:lstStyle>
            <a:lvl1pPr>
              <a:defRPr sz="4800">
                <a:solidFill>
                  <a:srgbClr val="525252"/>
                </a:solidFill>
              </a:defRPr>
            </a:lvl1pPr>
          </a:lstStyle>
          <a:p>
            <a:r>
              <a:rPr lang="en-US"/>
              <a:t>Section Break Text Goes Here</a:t>
            </a:r>
          </a:p>
        </p:txBody>
      </p:sp>
      <p:sp>
        <p:nvSpPr>
          <p:cNvPr id="8" name="Text Placeholder 3">
            <a:extLst>
              <a:ext uri="{FF2B5EF4-FFF2-40B4-BE49-F238E27FC236}">
                <a16:creationId xmlns:a16="http://schemas.microsoft.com/office/drawing/2014/main" id="{4B923F7B-306D-4D7E-9DB3-5B163B8D53FC}"/>
              </a:ext>
            </a:extLst>
          </p:cNvPr>
          <p:cNvSpPr>
            <a:spLocks noGrp="1"/>
          </p:cNvSpPr>
          <p:nvPr>
            <p:ph type="body" sz="quarter" idx="29"/>
          </p:nvPr>
        </p:nvSpPr>
        <p:spPr>
          <a:xfrm>
            <a:off x="571500" y="3939750"/>
            <a:ext cx="11022013" cy="438150"/>
          </a:xfrm>
        </p:spPr>
        <p:txBody>
          <a:bodyPr/>
          <a:lstStyle>
            <a:lvl1pPr marL="0" indent="0">
              <a:buNone/>
              <a:defRPr>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256230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mp; Sub White">
    <p:spTree>
      <p:nvGrpSpPr>
        <p:cNvPr id="1" name=""/>
        <p:cNvGrpSpPr/>
        <p:nvPr/>
      </p:nvGrpSpPr>
      <p:grpSpPr>
        <a:xfrm>
          <a:off x="0" y="0"/>
          <a:ext cx="0" cy="0"/>
          <a:chOff x="0" y="0"/>
          <a:chExt cx="0" cy="0"/>
        </a:xfrm>
      </p:grpSpPr>
      <p:graphicFrame>
        <p:nvGraphicFramePr>
          <p:cNvPr id="13" name="Chart 5">
            <a:extLst>
              <a:ext uri="{FF2B5EF4-FFF2-40B4-BE49-F238E27FC236}">
                <a16:creationId xmlns:a16="http://schemas.microsoft.com/office/drawing/2014/main" id="{F0529FEA-BEC4-644C-94EE-601D5BED26F3}"/>
              </a:ext>
            </a:extLst>
          </p:cNvPr>
          <p:cNvGraphicFramePr/>
          <p:nvPr userDrawn="1">
            <p:extLst>
              <p:ext uri="{D42A27DB-BD31-4B8C-83A1-F6EECF244321}">
                <p14:modId xmlns:p14="http://schemas.microsoft.com/office/powerpoint/2010/main" val="680995965"/>
              </p:ext>
            </p:extLst>
          </p:nvPr>
        </p:nvGraphicFramePr>
        <p:xfrm>
          <a:off x="7201593" y="1799047"/>
          <a:ext cx="3472287" cy="4025676"/>
        </p:xfrm>
        <a:graphic>
          <a:graphicData uri="http://schemas.openxmlformats.org/drawingml/2006/chart">
            <c:chart xmlns:c="http://schemas.openxmlformats.org/drawingml/2006/chart" xmlns:r="http://schemas.openxmlformats.org/officeDocument/2006/relationships" r:id="rId2"/>
          </a:graphicData>
        </a:graphic>
      </p:graphicFrame>
      <p:sp>
        <p:nvSpPr>
          <p:cNvPr id="10" name="Title Text">
            <a:extLst>
              <a:ext uri="{FF2B5EF4-FFF2-40B4-BE49-F238E27FC236}">
                <a16:creationId xmlns:a16="http://schemas.microsoft.com/office/drawing/2014/main" id="{0EA1A176-5931-41CA-86D5-15FC4398AA40}"/>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nchorCtr="0">
            <a:noAutofit/>
          </a:bodyPr>
          <a:lstStyle>
            <a:lvl1pPr algn="ctr">
              <a:defRPr sz="4800">
                <a:solidFill>
                  <a:schemeClr val="accent1"/>
                </a:solidFill>
              </a:defRPr>
            </a:lvl1pPr>
          </a:lstStyle>
          <a:p>
            <a:r>
              <a:rPr lang="en-US"/>
              <a:t>48pt Intel Clear Light Body. For content that is not a section, but has a big idea in text only.</a:t>
            </a:r>
          </a:p>
        </p:txBody>
      </p:sp>
      <p:sp>
        <p:nvSpPr>
          <p:cNvPr id="8" name="Rectangle 7">
            <a:extLst>
              <a:ext uri="{FF2B5EF4-FFF2-40B4-BE49-F238E27FC236}">
                <a16:creationId xmlns:a16="http://schemas.microsoft.com/office/drawing/2014/main" id="{597652EB-8B2D-46CC-B147-89A4C26A2D8F}"/>
              </a:ext>
            </a:extLst>
          </p:cNvPr>
          <p:cNvSpPr/>
          <p:nvPr userDrawn="1"/>
        </p:nvSpPr>
        <p:spPr>
          <a:xfrm>
            <a:off x="0" y="0"/>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 name="Rectangle 8">
            <a:extLst>
              <a:ext uri="{FF2B5EF4-FFF2-40B4-BE49-F238E27FC236}">
                <a16:creationId xmlns:a16="http://schemas.microsoft.com/office/drawing/2014/main" id="{571A480A-B7B4-498C-9868-A91E2651D429}"/>
              </a:ext>
            </a:extLst>
          </p:cNvPr>
          <p:cNvSpPr/>
          <p:nvPr userDrawn="1"/>
        </p:nvSpPr>
        <p:spPr>
          <a:xfrm rot="5400000">
            <a:off x="-2978450"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589025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accent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DA94F2D-B7BD-4CE9-A606-F00802F3131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099949" y="2409775"/>
            <a:ext cx="4080108" cy="1521396"/>
          </a:xfrm>
          <a:prstGeom prst="rect">
            <a:avLst/>
          </a:prstGeom>
        </p:spPr>
      </p:pic>
      <p:sp>
        <p:nvSpPr>
          <p:cNvPr id="15" name="TextBox 14">
            <a:extLst>
              <a:ext uri="{FF2B5EF4-FFF2-40B4-BE49-F238E27FC236}">
                <a16:creationId xmlns:a16="http://schemas.microsoft.com/office/drawing/2014/main" id="{3F655609-5439-9C4A-8F0D-9AB5A1AAC9A3}"/>
              </a:ext>
            </a:extLst>
          </p:cNvPr>
          <p:cNvSpPr txBox="1"/>
          <p:nvPr userDrawn="1"/>
        </p:nvSpPr>
        <p:spPr>
          <a:xfrm>
            <a:off x="11881866" y="6266564"/>
            <a:ext cx="260774" cy="4985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110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6" name="Rectangle 5">
            <a:extLst>
              <a:ext uri="{FF2B5EF4-FFF2-40B4-BE49-F238E27FC236}">
                <a16:creationId xmlns:a16="http://schemas.microsoft.com/office/drawing/2014/main" id="{69112354-342E-49CE-8E3C-E078BBE1ADF7}"/>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 name="Rectangle 6">
            <a:extLst>
              <a:ext uri="{FF2B5EF4-FFF2-40B4-BE49-F238E27FC236}">
                <a16:creationId xmlns:a16="http://schemas.microsoft.com/office/drawing/2014/main" id="{CD21D8AD-9194-4DBA-8221-7F294421810B}"/>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077338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userDrawn="1">
  <p:cSld name="Title Slide with Radial Gradient">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607484" y="4674712"/>
            <a:ext cx="8440283" cy="1233813"/>
          </a:xfrm>
        </p:spPr>
        <p:txBody>
          <a:bodyPr lIns="0" rIns="0">
            <a:noAutofit/>
          </a:bodyPr>
          <a:lstStyle>
            <a:lvl1pPr marL="0" indent="0" algn="l">
              <a:buNone/>
              <a:defRPr sz="2133" b="0" i="0" baseline="0">
                <a:solidFill>
                  <a:srgbClr val="F3D54E"/>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16pt Arial Subhead, Date, Etc.</a:t>
            </a:r>
          </a:p>
        </p:txBody>
      </p:sp>
      <p:sp>
        <p:nvSpPr>
          <p:cNvPr id="8" name="Rectangle 7"/>
          <p:cNvSpPr/>
          <p:nvPr userDrawn="1"/>
        </p:nvSpPr>
        <p:spPr>
          <a:xfrm>
            <a:off x="605369" y="6554395"/>
            <a:ext cx="969817" cy="110800"/>
          </a:xfrm>
          <a:prstGeom prst="rect">
            <a:avLst/>
          </a:prstGeom>
        </p:spPr>
        <p:txBody>
          <a:bodyPr wrap="none" lIns="0" tIns="0" rIns="0" bIns="0">
            <a:spAutoFit/>
          </a:bodyPr>
          <a:lstStyle/>
          <a:p>
            <a:pPr algn="l" rtl="0"/>
            <a:r>
              <a:rPr lang="en-US" sz="800" b="0" i="0" u="none" strike="noStrike" kern="1200" baseline="0">
                <a:solidFill>
                  <a:schemeClr val="bg1"/>
                </a:solidFill>
                <a:latin typeface="Arial"/>
                <a:ea typeface="+mn-ea"/>
                <a:cs typeface="Arial"/>
              </a:rPr>
              <a:t>Data Products Group</a:t>
            </a:r>
          </a:p>
        </p:txBody>
      </p:sp>
      <p:pic>
        <p:nvPicPr>
          <p:cNvPr id="7" name="Picture 2"/>
          <p:cNvPicPr>
            <a:picLocks noChangeAspect="1" noChangeArrowheads="1"/>
          </p:cNvPicPr>
          <p:nvPr userDrawn="1"/>
        </p:nvPicPr>
        <p:blipFill>
          <a:blip r:embed="rId3" cstate="print">
            <a:extLst>
              <a:ext uri="{28A0092B-C50C-407E-A947-70E740481C1C}">
                <a14:useLocalDpi xmlns:a14="http://schemas.microsoft.com/office/drawing/2010/main" val="0"/>
              </a:ext>
            </a:extLst>
          </a:blip>
          <a:stretch>
            <a:fillRect/>
          </a:stretch>
        </p:blipFill>
        <p:spPr bwMode="auto">
          <a:xfrm>
            <a:off x="602397" y="510892"/>
            <a:ext cx="1664065" cy="1106467"/>
          </a:xfrm>
          <a:prstGeom prst="rect">
            <a:avLst/>
          </a:prstGeom>
          <a:noFill/>
          <a:extLst>
            <a:ext uri="{909E8E84-426E-40DD-AFC4-6F175D3DCCD1}">
              <a14:hiddenFill xmlns:a14="http://schemas.microsoft.com/office/drawing/2010/main">
                <a:solidFill>
                  <a:srgbClr val="FFFFFF"/>
                </a:solidFill>
              </a14:hiddenFill>
            </a:ext>
          </a:extLst>
        </p:spPr>
      </p:pic>
      <p:sp>
        <p:nvSpPr>
          <p:cNvPr id="12" name="Title 1"/>
          <p:cNvSpPr>
            <a:spLocks noGrp="1"/>
          </p:cNvSpPr>
          <p:nvPr>
            <p:ph type="ctrTitle" hasCustomPrompt="1"/>
          </p:nvPr>
        </p:nvSpPr>
        <p:spPr>
          <a:xfrm>
            <a:off x="584449" y="3372523"/>
            <a:ext cx="10950515" cy="1336387"/>
          </a:xfrm>
        </p:spPr>
        <p:txBody>
          <a:bodyPr lIns="0" rIns="0" anchor="b" anchorCtr="0">
            <a:noAutofit/>
          </a:bodyPr>
          <a:lstStyle>
            <a:lvl1pPr>
              <a:lnSpc>
                <a:spcPts val="7333"/>
              </a:lnSpc>
              <a:spcBef>
                <a:spcPts val="3200"/>
              </a:spcBef>
              <a:defRPr sz="6667" b="0" spc="0" baseline="0">
                <a:solidFill>
                  <a:schemeClr val="bg1"/>
                </a:solidFill>
                <a:latin typeface="Arial"/>
                <a:cs typeface="Arial"/>
              </a:defRPr>
            </a:lvl1pPr>
          </a:lstStyle>
          <a:p>
            <a:r>
              <a:rPr lang="en-US"/>
              <a:t>50pt Arial Title</a:t>
            </a:r>
            <a:br>
              <a:rPr lang="en-US"/>
            </a:br>
            <a:r>
              <a:rPr lang="en-US"/>
              <a:t>with Radial Gradient</a:t>
            </a:r>
          </a:p>
        </p:txBody>
      </p:sp>
      <p:sp>
        <p:nvSpPr>
          <p:cNvPr id="4" name="Slide Number Placeholder 3"/>
          <p:cNvSpPr>
            <a:spLocks noGrp="1"/>
          </p:cNvSpPr>
          <p:nvPr>
            <p:ph type="sldNum" sz="quarter" idx="11"/>
          </p:nvPr>
        </p:nvSpPr>
        <p:spPr/>
        <p:txBody>
          <a:bodyPr/>
          <a:lstStyle/>
          <a:p>
            <a:fld id="{EE2556C5-CE8C-6547-B838-EA80C61A4AF7}" type="slidenum">
              <a:rPr lang="en-US" smtClean="0"/>
              <a:pPr/>
              <a:t>‹#›</a:t>
            </a:fld>
            <a:endParaRPr lang="en-US"/>
          </a:p>
        </p:txBody>
      </p:sp>
    </p:spTree>
    <p:extLst>
      <p:ext uri="{BB962C8B-B14F-4D97-AF65-F5344CB8AC3E}">
        <p14:creationId xmlns:p14="http://schemas.microsoft.com/office/powerpoint/2010/main" val="31092080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2_Title and Bulleted Text">
    <p:spTree>
      <p:nvGrpSpPr>
        <p:cNvPr id="1" name=""/>
        <p:cNvGrpSpPr/>
        <p:nvPr/>
      </p:nvGrpSpPr>
      <p:grpSpPr>
        <a:xfrm>
          <a:off x="0" y="0"/>
          <a:ext cx="0" cy="0"/>
          <a:chOff x="0" y="0"/>
          <a:chExt cx="0" cy="0"/>
        </a:xfrm>
      </p:grpSpPr>
      <p:sp>
        <p:nvSpPr>
          <p:cNvPr id="7" name="Title 6"/>
          <p:cNvSpPr>
            <a:spLocks noGrp="1"/>
          </p:cNvSpPr>
          <p:nvPr>
            <p:ph type="title" hasCustomPrompt="1"/>
          </p:nvPr>
        </p:nvSpPr>
        <p:spPr>
          <a:xfrm>
            <a:off x="355600" y="132395"/>
            <a:ext cx="11633200" cy="1158240"/>
          </a:xfrm>
        </p:spPr>
        <p:txBody>
          <a:bodyPr/>
          <a:lstStyle>
            <a:lvl1pPr>
              <a:defRPr sz="3733" b="0" i="0" baseline="0">
                <a:solidFill>
                  <a:schemeClr val="tx2"/>
                </a:solidFill>
                <a:latin typeface="Arial" panose="020B0604020202020204" pitchFamily="34" charset="0"/>
                <a:ea typeface="Intel Clear Pro" panose="020B0804020202060201" pitchFamily="34" charset="0"/>
                <a:cs typeface="Arial" panose="020B0604020202020204" pitchFamily="34" charset="0"/>
              </a:defRPr>
            </a:lvl1pPr>
          </a:lstStyle>
          <a:p>
            <a:r>
              <a:rPr lang="en-US"/>
              <a:t>28pt Intel Clear Headline</a:t>
            </a:r>
          </a:p>
        </p:txBody>
      </p:sp>
    </p:spTree>
    <p:extLst>
      <p:ext uri="{BB962C8B-B14F-4D97-AF65-F5344CB8AC3E}">
        <p14:creationId xmlns:p14="http://schemas.microsoft.com/office/powerpoint/2010/main" val="3518411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60">
          <p15:clr>
            <a:srgbClr val="FBAE40"/>
          </p15:clr>
        </p15:guide>
        <p15:guide id="2" orient="horz" pos="636">
          <p15:clr>
            <a:srgbClr val="FBAE40"/>
          </p15:clr>
        </p15:guide>
        <p15:guide id="3" pos="5664">
          <p15:clr>
            <a:srgbClr val="FBAE40"/>
          </p15:clr>
        </p15:guide>
        <p15:guide id="4" orient="horz" pos="2916">
          <p15:clr>
            <a:srgbClr val="FBAE40"/>
          </p15:clr>
        </p15:guide>
        <p15:guide id="5" pos="16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5_Title Only">
    <p:spTree>
      <p:nvGrpSpPr>
        <p:cNvPr id="1" name=""/>
        <p:cNvGrpSpPr/>
        <p:nvPr/>
      </p:nvGrpSpPr>
      <p:grpSpPr>
        <a:xfrm>
          <a:off x="0" y="0"/>
          <a:ext cx="0" cy="0"/>
          <a:chOff x="0" y="0"/>
          <a:chExt cx="0" cy="0"/>
        </a:xfrm>
      </p:grpSpPr>
      <p:sp>
        <p:nvSpPr>
          <p:cNvPr id="6" name="Title 6"/>
          <p:cNvSpPr>
            <a:spLocks noGrp="1"/>
          </p:cNvSpPr>
          <p:nvPr>
            <p:ph type="title" hasCustomPrompt="1"/>
          </p:nvPr>
        </p:nvSpPr>
        <p:spPr>
          <a:xfrm>
            <a:off x="316089" y="228600"/>
            <a:ext cx="11875911" cy="1158240"/>
          </a:xfrm>
        </p:spPr>
        <p:txBody>
          <a:bodyPr/>
          <a:lstStyle>
            <a:lvl1pPr>
              <a:defRPr b="0" i="0" baseline="0">
                <a:solidFill>
                  <a:schemeClr val="tx2"/>
                </a:solidFill>
                <a:latin typeface="+mj-lt"/>
                <a:cs typeface="Arial" panose="020B0604020202020204" pitchFamily="34" charset="0"/>
              </a:defRPr>
            </a:lvl1pPr>
          </a:lstStyle>
          <a:p>
            <a:r>
              <a:rPr lang="en-US"/>
              <a:t>28pt Arial Headline</a:t>
            </a:r>
          </a:p>
        </p:txBody>
      </p:sp>
    </p:spTree>
    <p:extLst>
      <p:ext uri="{BB962C8B-B14F-4D97-AF65-F5344CB8AC3E}">
        <p14:creationId xmlns:p14="http://schemas.microsoft.com/office/powerpoint/2010/main" val="2630070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08">
          <p15:clr>
            <a:srgbClr val="FBAE40"/>
          </p15:clr>
        </p15:guide>
        <p15:guide id="2" pos="14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White Section Brea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7484" y="2810749"/>
            <a:ext cx="10363200" cy="1362075"/>
          </a:xfrm>
        </p:spPr>
        <p:txBody>
          <a:bodyPr anchor="b" anchorCtr="0">
            <a:noAutofit/>
          </a:bodyPr>
          <a:lstStyle>
            <a:lvl1pPr algn="l">
              <a:lnSpc>
                <a:spcPct val="100000"/>
              </a:lnSpc>
              <a:defRPr sz="5333" b="0" cap="none" spc="0" baseline="0">
                <a:solidFill>
                  <a:schemeClr val="tx2">
                    <a:alpha val="90000"/>
                  </a:schemeClr>
                </a:solidFill>
                <a:latin typeface="+mj-lt"/>
                <a:cs typeface="Arial" panose="020B0604020202020204" pitchFamily="34" charset="0"/>
              </a:defRPr>
            </a:lvl1pPr>
          </a:lstStyle>
          <a:p>
            <a:r>
              <a:rPr lang="en-US"/>
              <a:t>40pt Arial </a:t>
            </a:r>
            <a:br>
              <a:rPr lang="en-US"/>
            </a:br>
            <a:r>
              <a:rPr lang="en-US"/>
              <a:t>white section break</a:t>
            </a:r>
          </a:p>
        </p:txBody>
      </p:sp>
      <p:sp>
        <p:nvSpPr>
          <p:cNvPr id="3" name="Text Placeholder 2"/>
          <p:cNvSpPr>
            <a:spLocks noGrp="1"/>
          </p:cNvSpPr>
          <p:nvPr>
            <p:ph type="body" idx="1" hasCustomPrompt="1"/>
          </p:nvPr>
        </p:nvSpPr>
        <p:spPr>
          <a:xfrm>
            <a:off x="607484" y="4321533"/>
            <a:ext cx="10363200" cy="1500187"/>
          </a:xfrm>
        </p:spPr>
        <p:txBody>
          <a:bodyPr anchor="t" anchorCtr="0">
            <a:noAutofit/>
          </a:bodyPr>
          <a:lstStyle>
            <a:lvl1pPr marL="0" indent="0">
              <a:buNone/>
              <a:defRPr sz="2133" b="0" baseline="0">
                <a:solidFill>
                  <a:schemeClr val="accent2"/>
                </a:solidFill>
                <a:latin typeface="+mn-lt"/>
                <a:cs typeface="Arial" panose="020B0604020202020204" pitchFamily="34" charset="0"/>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r>
              <a:rPr lang="en-US"/>
              <a:t>16pt Arial Subhead</a:t>
            </a:r>
          </a:p>
        </p:txBody>
      </p:sp>
    </p:spTree>
    <p:extLst>
      <p:ext uri="{BB962C8B-B14F-4D97-AF65-F5344CB8AC3E}">
        <p14:creationId xmlns:p14="http://schemas.microsoft.com/office/powerpoint/2010/main" val="4145774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Sub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2139953"/>
            <a:ext cx="11010900" cy="41084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3">
            <a:extLst>
              <a:ext uri="{FF2B5EF4-FFF2-40B4-BE49-F238E27FC236}">
                <a16:creationId xmlns:a16="http://schemas.microsoft.com/office/drawing/2014/main" id="{D980C114-FE9A-4B63-B509-F59F1A2C55A5}"/>
              </a:ext>
            </a:extLst>
          </p:cNvPr>
          <p:cNvSpPr>
            <a:spLocks noGrp="1"/>
          </p:cNvSpPr>
          <p:nvPr>
            <p:ph type="body" sz="quarter" idx="29"/>
          </p:nvPr>
        </p:nvSpPr>
        <p:spPr>
          <a:xfrm>
            <a:off x="57137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907801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6_Title Only">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0BD236-A5FE-B377-4D89-6CC4416BEC5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92779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sv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Body Level One…"/>
          <p:cNvSpPr txBox="1">
            <a:spLocks noGrp="1"/>
          </p:cNvSpPr>
          <p:nvPr>
            <p:ph type="body" idx="1"/>
          </p:nvPr>
        </p:nvSpPr>
        <p:spPr>
          <a:xfrm>
            <a:off x="318975" y="1304925"/>
            <a:ext cx="11653950" cy="472440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rmAutofit/>
          </a:bodyPr>
          <a:lstStyle/>
          <a:p>
            <a:r>
              <a:rPr lang="en-US"/>
              <a:t>Body copy Intel clear light 28 point</a:t>
            </a:r>
          </a:p>
          <a:p>
            <a:pPr lvl="1"/>
            <a:r>
              <a:rPr lang="en-US"/>
              <a:t>Sub Bullet one 24 point</a:t>
            </a:r>
          </a:p>
          <a:p>
            <a:pPr lvl="2"/>
            <a:r>
              <a:rPr lang="en-US"/>
              <a:t>Sub Bullet two 20 point</a:t>
            </a:r>
          </a:p>
          <a:p>
            <a:pPr lvl="3"/>
            <a:r>
              <a:rPr lang="en-US"/>
              <a:t>Sub Bullet three 18 point</a:t>
            </a:r>
          </a:p>
          <a:p>
            <a:pPr lvl="4"/>
            <a:r>
              <a:rPr lang="en-US"/>
              <a:t>Sub Bullet four 16 point</a:t>
            </a:r>
            <a:br>
              <a:rPr lang="en-US"/>
            </a:br>
            <a:endParaRPr lang="en-US"/>
          </a:p>
          <a:p>
            <a:pPr lvl="2"/>
            <a:endParaRPr/>
          </a:p>
        </p:txBody>
      </p:sp>
      <p:sp>
        <p:nvSpPr>
          <p:cNvPr id="4" name="Title Text"/>
          <p:cNvSpPr txBox="1">
            <a:spLocks noGrp="1"/>
          </p:cNvSpPr>
          <p:nvPr>
            <p:ph type="title"/>
          </p:nvPr>
        </p:nvSpPr>
        <p:spPr>
          <a:xfrm>
            <a:off x="318976" y="306324"/>
            <a:ext cx="11653950" cy="883673"/>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p>
            <a:r>
              <a:rPr lang="en-US"/>
              <a:t>40pt Intel Clear Light Text Goes Here</a:t>
            </a:r>
            <a:endParaRPr/>
          </a:p>
        </p:txBody>
      </p:sp>
      <p:grpSp>
        <p:nvGrpSpPr>
          <p:cNvPr id="8" name="Group 7">
            <a:extLst>
              <a:ext uri="{FF2B5EF4-FFF2-40B4-BE49-F238E27FC236}">
                <a16:creationId xmlns:a16="http://schemas.microsoft.com/office/drawing/2014/main" id="{AB4A7428-982B-4467-ABC1-ABB1CC58A3F4}"/>
              </a:ext>
            </a:extLst>
          </p:cNvPr>
          <p:cNvGrpSpPr/>
          <p:nvPr userDrawn="1"/>
        </p:nvGrpSpPr>
        <p:grpSpPr>
          <a:xfrm>
            <a:off x="0" y="6586827"/>
            <a:ext cx="12187537" cy="287258"/>
            <a:chOff x="0" y="6586827"/>
            <a:chExt cx="12187537" cy="287258"/>
          </a:xfrm>
        </p:grpSpPr>
        <p:sp>
          <p:nvSpPr>
            <p:cNvPr id="11" name="Rectangle 10">
              <a:extLst>
                <a:ext uri="{FF2B5EF4-FFF2-40B4-BE49-F238E27FC236}">
                  <a16:creationId xmlns:a16="http://schemas.microsoft.com/office/drawing/2014/main" id="{1C80E488-8534-4743-924A-62CA17A7A192}"/>
                </a:ext>
              </a:extLst>
            </p:cNvPr>
            <p:cNvSpPr/>
            <p:nvPr userDrawn="1"/>
          </p:nvSpPr>
          <p:spPr>
            <a:xfrm>
              <a:off x="0" y="6586827"/>
              <a:ext cx="12187537" cy="287258"/>
            </a:xfrm>
            <a:prstGeom prst="rect">
              <a:avLst/>
            </a:prstGeom>
            <a:solidFill>
              <a:schemeClr val="accent3">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173038" marR="0" lvl="0" indent="0" algn="l" defTabSz="825500" rtl="0" eaLnBrk="1" fontAlgn="auto" latinLnBrk="0" hangingPunct="0">
                <a:lnSpc>
                  <a:spcPct val="100000"/>
                </a:lnSpc>
                <a:spcBef>
                  <a:spcPts val="0"/>
                </a:spcBef>
                <a:spcAft>
                  <a:spcPts val="0"/>
                </a:spcAft>
                <a:buClrTx/>
                <a:buSzTx/>
                <a:buFontTx/>
                <a:buNone/>
                <a:tabLst/>
                <a:defRPr/>
              </a:pPr>
              <a:r>
                <a:rPr lang="en-US" sz="1200" b="1" dirty="0">
                  <a:solidFill>
                    <a:schemeClr val="tx1"/>
                  </a:solidFill>
                </a:rPr>
                <a:t>DCAI China	</a:t>
              </a:r>
              <a:r>
                <a:rPr lang="en-US" sz="1100" dirty="0">
                  <a:solidFill>
                    <a:schemeClr val="tx1"/>
                  </a:solidFill>
                </a:rPr>
                <a:t> 				</a:t>
              </a:r>
              <a:endParaRPr lang="en-US" sz="1100" b="1" dirty="0">
                <a:solidFill>
                  <a:schemeClr val="tx1"/>
                </a:solidFill>
              </a:endParaRPr>
            </a:p>
          </p:txBody>
        </p:sp>
        <p:pic>
          <p:nvPicPr>
            <p:cNvPr id="6" name="Graphic 5">
              <a:extLst>
                <a:ext uri="{FF2B5EF4-FFF2-40B4-BE49-F238E27FC236}">
                  <a16:creationId xmlns:a16="http://schemas.microsoft.com/office/drawing/2014/main" id="{DCACDBB0-BD96-446C-8F63-C56E4AA10FBD}"/>
                </a:ext>
              </a:extLst>
            </p:cNvPr>
            <p:cNvPicPr>
              <a:picLocks noChangeAspect="1"/>
            </p:cNvPicPr>
            <p:nvPr userDrawn="1"/>
          </p:nvPicPr>
          <p:blipFill>
            <a:blip r:embed="rId16">
              <a:extLst>
                <a:ext uri="{96DAC541-7B7A-43D3-8B79-37D633B846F1}">
                  <asvg:svgBlip xmlns:asvg="http://schemas.microsoft.com/office/drawing/2016/SVG/main" r:embed="rId17"/>
                </a:ext>
              </a:extLst>
            </a:blip>
            <a:stretch>
              <a:fillRect/>
            </a:stretch>
          </p:blipFill>
          <p:spPr>
            <a:xfrm>
              <a:off x="11276003" y="6641693"/>
              <a:ext cx="476084" cy="177524"/>
            </a:xfrm>
            <a:prstGeom prst="rect">
              <a:avLst/>
            </a:prstGeom>
          </p:spPr>
        </p:pic>
      </p:grpSp>
      <p:sp>
        <p:nvSpPr>
          <p:cNvPr id="2" name="TextBox 1">
            <a:extLst>
              <a:ext uri="{FF2B5EF4-FFF2-40B4-BE49-F238E27FC236}">
                <a16:creationId xmlns:a16="http://schemas.microsoft.com/office/drawing/2014/main" id="{EAED2E11-BAF5-4555-BB1D-DF41C5DC38F7}"/>
              </a:ext>
            </a:extLst>
          </p:cNvPr>
          <p:cNvSpPr txBox="1"/>
          <p:nvPr userDrawn="1"/>
        </p:nvSpPr>
        <p:spPr>
          <a:xfrm>
            <a:off x="11883250" y="6645817"/>
            <a:ext cx="173124" cy="1692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l" defTabSz="2438338" rtl="0" fontAlgn="auto" latinLnBrk="0" hangingPunct="0">
              <a:lnSpc>
                <a:spcPct val="100000"/>
              </a:lnSpc>
              <a:spcBef>
                <a:spcPts val="0"/>
              </a:spcBef>
              <a:spcAft>
                <a:spcPts val="0"/>
              </a:spcAft>
              <a:buClrTx/>
              <a:buSzTx/>
              <a:buFontTx/>
              <a:buNone/>
              <a:tabLst/>
            </a:pPr>
            <a:fld id="{39F00120-2BCC-4E75-886F-31F4D6B4FB61}" type="slidenum">
              <a:rPr kumimoji="0" lang="en-US" sz="1100" b="0" i="0" u="none" strike="noStrike" cap="none" spc="0" normalizeH="0" baseline="0" smtClean="0">
                <a:ln>
                  <a:noFill/>
                </a:ln>
                <a:solidFill>
                  <a:schemeClr val="tx1"/>
                </a:solidFill>
                <a:effectLst/>
                <a:uFillTx/>
                <a:latin typeface="+mn-lt"/>
                <a:ea typeface="+mn-ea"/>
                <a:cs typeface="+mn-cs"/>
                <a:sym typeface="Helvetica Neue"/>
              </a:rPr>
              <a:t>‹#›</a:t>
            </a:fld>
            <a:endParaRPr kumimoji="0" lang="en-US" sz="1100" b="0" i="0" u="none" strike="noStrike" cap="none" spc="0" normalizeH="0" baseline="0" err="1">
              <a:ln>
                <a:noFill/>
              </a:ln>
              <a:solidFill>
                <a:schemeClr val="tx1"/>
              </a:solidFill>
              <a:effectLst/>
              <a:uFillTx/>
              <a:latin typeface="+mn-lt"/>
              <a:ea typeface="+mn-ea"/>
              <a:cs typeface="+mn-cs"/>
              <a:sym typeface="Helvetica Neue"/>
            </a:endParaRPr>
          </a:p>
        </p:txBody>
      </p:sp>
    </p:spTree>
    <p:extLst>
      <p:ext uri="{BB962C8B-B14F-4D97-AF65-F5344CB8AC3E}">
        <p14:creationId xmlns:p14="http://schemas.microsoft.com/office/powerpoint/2010/main" val="169824089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1" r:id="rId10"/>
    <p:sldLayoutId id="2147483673" r:id="rId11"/>
    <p:sldLayoutId id="2147483676" r:id="rId12"/>
    <p:sldLayoutId id="2147483682" r:id="rId13"/>
    <p:sldLayoutId id="2147483683" r:id="rId1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marL="0" marR="0" indent="0" algn="l" defTabSz="609600" eaLnBrk="1" latinLnBrk="0" hangingPunct="1">
        <a:lnSpc>
          <a:spcPct val="90000"/>
        </a:lnSpc>
        <a:spcBef>
          <a:spcPts val="0"/>
        </a:spcBef>
        <a:spcAft>
          <a:spcPts val="0"/>
        </a:spcAft>
        <a:buClrTx/>
        <a:buSzTx/>
        <a:buFontTx/>
        <a:buNone/>
        <a:tabLst/>
        <a:defRPr sz="3200" b="0" i="0" u="none" strike="noStrike" cap="none" spc="0" baseline="0">
          <a:solidFill>
            <a:schemeClr val="bg2"/>
          </a:solidFill>
          <a:uFillTx/>
          <a:latin typeface="Intel Clear" panose="020B0604020203020204" pitchFamily="34" charset="0"/>
          <a:ea typeface="Intel Clear" panose="020B0604020203020204" pitchFamily="34" charset="0"/>
          <a:cs typeface="Intel Clear" panose="020B0604020203020204" pitchFamily="34" charset="0"/>
          <a:sym typeface="Helvetica"/>
        </a:defRPr>
      </a:lvl1pPr>
      <a:lvl2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2pPr>
      <a:lvl3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3pPr>
      <a:lvl4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4pPr>
      <a:lvl5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5pPr>
      <a:lvl6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6pPr>
      <a:lvl7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7pPr>
      <a:lvl8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8pPr>
      <a:lvl9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9pPr>
    </p:titleStyle>
    <p:bodyStyle>
      <a:lvl1pPr marL="228600" marR="0" indent="-228600" algn="l" defTabSz="609600" eaLnBrk="1" latinLnBrk="0" hangingPunct="1">
        <a:lnSpc>
          <a:spcPct val="100000"/>
        </a:lnSpc>
        <a:spcBef>
          <a:spcPts val="600"/>
        </a:spcBef>
        <a:spcAft>
          <a:spcPts val="0"/>
        </a:spcAft>
        <a:buClrTx/>
        <a:buSzTx/>
        <a:buFont typeface="Wingdings" pitchFamily="2" charset="2"/>
        <a:buChar char="§"/>
        <a:tabLst/>
        <a:defRPr sz="24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1pPr>
      <a:lvl2pPr marL="431800" marR="0" indent="-203200" algn="l" defTabSz="609600" eaLnBrk="1" latinLnBrk="0" hangingPunct="1">
        <a:lnSpc>
          <a:spcPct val="100000"/>
        </a:lnSpc>
        <a:spcBef>
          <a:spcPts val="600"/>
        </a:spcBef>
        <a:spcAft>
          <a:spcPts val="0"/>
        </a:spcAft>
        <a:buClrTx/>
        <a:buSzTx/>
        <a:buFont typeface="Arial" panose="020B0604020202020204" pitchFamily="34" charset="0"/>
        <a:buChar char="•"/>
        <a:tabLst/>
        <a:defRPr sz="20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2pPr>
      <a:lvl3pPr marL="686594" marR="0" indent="-197644" algn="l" defTabSz="609600" eaLnBrk="1" latinLnBrk="0" hangingPunct="1">
        <a:lnSpc>
          <a:spcPct val="100000"/>
        </a:lnSpc>
        <a:spcBef>
          <a:spcPts val="600"/>
        </a:spcBef>
        <a:spcAft>
          <a:spcPts val="0"/>
        </a:spcAft>
        <a:buClrTx/>
        <a:buSzTx/>
        <a:buFont typeface="Arial" panose="020B0604020202020204" pitchFamily="34" charset="0"/>
        <a:buChar char="•"/>
        <a:tabLst/>
        <a:defRPr sz="14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3pPr>
      <a:lvl4pPr marL="919957" marR="0" indent="-228600" algn="l" defTabSz="609600" eaLnBrk="1" latinLnBrk="0" hangingPunct="1">
        <a:lnSpc>
          <a:spcPct val="100000"/>
        </a:lnSpc>
        <a:spcBef>
          <a:spcPts val="600"/>
        </a:spcBef>
        <a:spcAft>
          <a:spcPts val="0"/>
        </a:spcAft>
        <a:buClrTx/>
        <a:buSzTx/>
        <a:buFont typeface="Arial" panose="020B0604020202020204" pitchFamily="34" charset="0"/>
        <a:buChar char="•"/>
        <a:tabLst/>
        <a:defRPr sz="14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4pPr>
      <a:lvl5pPr marL="1148557" marR="0" indent="-228600" algn="l" defTabSz="609600" eaLnBrk="1" latinLnBrk="0" hangingPunct="1">
        <a:lnSpc>
          <a:spcPct val="100000"/>
        </a:lnSpc>
        <a:spcBef>
          <a:spcPts val="600"/>
        </a:spcBef>
        <a:spcAft>
          <a:spcPts val="0"/>
        </a:spcAft>
        <a:buClrTx/>
        <a:buSzTx/>
        <a:buFont typeface="Arial" panose="020B0604020202020204" pitchFamily="34" charset="0"/>
        <a:buChar char="•"/>
        <a:tabLst/>
        <a:defRPr sz="12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5pPr>
      <a:lvl6pPr marL="0" marR="0" indent="571500" algn="l" defTabSz="609600" eaLnBrk="1" latinLnBrk="0" hangingPunct="1">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6pPr>
      <a:lvl7pPr marL="0" marR="0" indent="685800" algn="l" defTabSz="609600" eaLnBrk="1" latinLnBrk="0" hangingPunct="1">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7pPr>
      <a:lvl8pPr marL="0" marR="0" indent="800100" algn="l" defTabSz="609600" eaLnBrk="1" latinLnBrk="0" hangingPunct="1">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8pPr>
      <a:lvl9pPr marL="0" marR="0" indent="914400" algn="l" defTabSz="609600" eaLnBrk="1" latinLnBrk="0" hangingPunct="1">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9pPr>
    </p:bodyStyle>
    <p:otherStyle>
      <a:lvl1pPr marL="0" marR="0" indent="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1pPr>
      <a:lvl2pPr marL="0" marR="0" indent="2286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2pPr>
      <a:lvl3pPr marL="0" marR="0" indent="4572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3pPr>
      <a:lvl4pPr marL="0" marR="0" indent="6858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4pPr>
      <a:lvl5pPr marL="0" marR="0" indent="9144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5pPr>
      <a:lvl6pPr marL="0" marR="0" indent="11430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6pPr>
      <a:lvl7pPr marL="0" marR="0" indent="13716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7pPr>
      <a:lvl8pPr marL="0" marR="0" indent="16002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8pPr>
      <a:lvl9pPr marL="0" marR="0" indent="18288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9pPr>
    </p:otherStyle>
  </p:txStyles>
  <p:extLst>
    <p:ext uri="{27BBF7A9-308A-43DC-89C8-2F10F3537804}">
      <p15:sldGuideLst xmlns:p15="http://schemas.microsoft.com/office/powerpoint/2012/main">
        <p15:guide id="1" orient="horz" pos="192">
          <p15:clr>
            <a:srgbClr val="F26B43"/>
          </p15:clr>
        </p15:guide>
        <p15:guide id="2" pos="3840">
          <p15:clr>
            <a:srgbClr val="F26B43"/>
          </p15:clr>
        </p15:guide>
        <p15:guide id="3" orient="horz" pos="2160">
          <p15:clr>
            <a:srgbClr val="F26B43"/>
          </p15:clr>
        </p15:guide>
        <p15:guide id="4" orient="horz" pos="816">
          <p15:clr>
            <a:srgbClr val="F26B43"/>
          </p15:clr>
        </p15:guide>
        <p15:guide id="5" pos="192">
          <p15:clr>
            <a:srgbClr val="F26B43"/>
          </p15:clr>
        </p15:guide>
        <p15:guide id="6" pos="753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lwn.net/Articles/951186/" TargetMode="Externa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hyperlink" Target="https://lwn.net/Articles/951186/" TargetMode="Externa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492518" y="1039013"/>
            <a:ext cx="10378839" cy="1780162"/>
          </a:xfrm>
        </p:spPr>
        <p:txBody>
          <a:bodyPr lIns="0" tIns="0" rIns="0" bIns="0" anchor="t">
            <a:noAutofit/>
          </a:bodyPr>
          <a:lstStyle/>
          <a:p>
            <a:br>
              <a:rPr lang="en-US" sz="4250" dirty="0">
                <a:latin typeface="IntelOne Display AR Regular" panose="020B0503020203020204" pitchFamily="34" charset="-78"/>
                <a:cs typeface="IntelOne Display AR Regular" panose="020B0503020203020204" pitchFamily="34" charset="-78"/>
              </a:rPr>
            </a:br>
            <a:r>
              <a:rPr lang="en-US" sz="4250" dirty="0">
                <a:latin typeface="IntelOne Display AR Regular"/>
                <a:ea typeface="Intel Clear"/>
                <a:cs typeface="IntelOne Display AR Regular"/>
              </a:rPr>
              <a:t>Adaptive interrupt coalescing patch for </a:t>
            </a:r>
            <a:r>
              <a:rPr lang="en-US" sz="4250" dirty="0" err="1">
                <a:latin typeface="IntelOne Display AR Regular"/>
                <a:ea typeface="Intel Clear"/>
                <a:cs typeface="IntelOne Display AR Regular"/>
              </a:rPr>
              <a:t>NVM</a:t>
            </a:r>
            <a:r>
              <a:rPr lang="en-US" altLang="zh-CN" sz="4250" dirty="0" err="1">
                <a:latin typeface="IntelOne Display AR Regular"/>
                <a:ea typeface="Intel Clear"/>
                <a:cs typeface="IntelOne Display AR Regular"/>
              </a:rPr>
              <a:t>e</a:t>
            </a:r>
            <a:r>
              <a:rPr lang="en-US" sz="4250" dirty="0">
                <a:latin typeface="IntelOne Display AR Regular"/>
                <a:ea typeface="Intel Clear"/>
                <a:cs typeface="IntelOne Display AR Regular"/>
              </a:rPr>
              <a:t> SSD</a:t>
            </a:r>
            <a:br>
              <a:rPr lang="en-US" sz="4250" dirty="0">
                <a:latin typeface="IntelOne Display AR Regular" panose="020B0503020203020204" pitchFamily="34" charset="-78"/>
                <a:cs typeface="IntelOne Display AR Regular" panose="020B0503020203020204" pitchFamily="34" charset="-78"/>
              </a:rPr>
            </a:br>
            <a:br>
              <a:rPr lang="en-US" sz="4250" dirty="0">
                <a:latin typeface="IntelOne Display AR Regular" panose="020B0503020203020204" pitchFamily="34" charset="-78"/>
                <a:cs typeface="IntelOne Display AR Regular" panose="020B0503020203020204" pitchFamily="34" charset="-78"/>
              </a:rPr>
            </a:br>
            <a:br>
              <a:rPr lang="en-US" sz="4250" dirty="0">
                <a:latin typeface="IntelOne Display AR Regular" panose="020B0503020203020204" pitchFamily="34" charset="-78"/>
                <a:cs typeface="IntelOne Display AR Regular" panose="020B0503020203020204" pitchFamily="34" charset="-78"/>
              </a:rPr>
            </a:br>
            <a:r>
              <a:rPr lang="en-US" sz="2000" dirty="0">
                <a:latin typeface="IntelOne Display AR Regular"/>
                <a:ea typeface="Intel Clear"/>
                <a:cs typeface="IntelOne Display AR Regular"/>
              </a:rPr>
              <a:t>DCAI PRC Xeon SW Customer Engineering, Oct’25</a:t>
            </a:r>
            <a:br>
              <a:rPr lang="en-US" sz="2000" dirty="0">
                <a:latin typeface="IntelOne Display AR Regular" panose="020B0503020203020204" pitchFamily="34" charset="-78"/>
                <a:cs typeface="IntelOne Display AR Regular" panose="020B0503020203020204" pitchFamily="34" charset="-78"/>
              </a:rPr>
            </a:br>
            <a:r>
              <a:rPr lang="en-US" sz="2000" dirty="0">
                <a:latin typeface="IntelOne Display AR Regular"/>
                <a:ea typeface="Intel Clear"/>
                <a:cs typeface="IntelOne Display AR Regular"/>
              </a:rPr>
              <a:t>Zeng Jun; Fang Liang</a:t>
            </a:r>
            <a:br>
              <a:rPr lang="en-US" sz="4250" dirty="0">
                <a:latin typeface="IntelOne Display AR Regular" panose="020B0503020203020204" pitchFamily="34" charset="-78"/>
                <a:cs typeface="IntelOne Display AR Regular" panose="020B0503020203020204" pitchFamily="34" charset="-78"/>
              </a:rPr>
            </a:br>
            <a:br>
              <a:rPr lang="en-US" sz="4250" dirty="0">
                <a:latin typeface="IntelOne Display AR Regular" panose="020B0503020203020204" pitchFamily="34" charset="-78"/>
                <a:cs typeface="IntelOne Display AR Regular" panose="020B0503020203020204" pitchFamily="34" charset="-78"/>
              </a:rPr>
            </a:br>
            <a:endParaRPr lang="en-US" sz="3600" dirty="0">
              <a:solidFill>
                <a:srgbClr val="FFFFFF"/>
              </a:solidFill>
              <a:latin typeface="IntelOne Display AR Regular" panose="020B0503020203020204" pitchFamily="34" charset="-78"/>
              <a:cs typeface="IntelOne Display AR Regular" panose="020B0503020203020204" pitchFamily="34" charset="-78"/>
            </a:endParaRPr>
          </a:p>
        </p:txBody>
      </p:sp>
    </p:spTree>
    <p:extLst>
      <p:ext uri="{BB962C8B-B14F-4D97-AF65-F5344CB8AC3E}">
        <p14:creationId xmlns:p14="http://schemas.microsoft.com/office/powerpoint/2010/main" val="1341448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3C29A-E7A5-5420-BD39-8D8C5BEEFEB8}"/>
            </a:ext>
          </a:extLst>
        </p:cNvPr>
        <p:cNvGrpSpPr/>
        <p:nvPr/>
      </p:nvGrpSpPr>
      <p:grpSpPr>
        <a:xfrm>
          <a:off x="0" y="0"/>
          <a:ext cx="0" cy="0"/>
          <a:chOff x="0" y="0"/>
          <a:chExt cx="0" cy="0"/>
        </a:xfrm>
      </p:grpSpPr>
      <p:sp>
        <p:nvSpPr>
          <p:cNvPr id="47" name="TextBox 46">
            <a:extLst>
              <a:ext uri="{FF2B5EF4-FFF2-40B4-BE49-F238E27FC236}">
                <a16:creationId xmlns:a16="http://schemas.microsoft.com/office/drawing/2014/main" id="{89200912-E7C0-3F5B-BE28-63A7EA918987}"/>
              </a:ext>
            </a:extLst>
          </p:cNvPr>
          <p:cNvSpPr txBox="1"/>
          <p:nvPr/>
        </p:nvSpPr>
        <p:spPr>
          <a:xfrm>
            <a:off x="313944" y="1301979"/>
            <a:ext cx="11637264" cy="497575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style>
          <a:lnRef idx="0">
            <a:scrgbClr r="0" g="0" b="0"/>
          </a:lnRef>
          <a:fillRef idx="0">
            <a:scrgbClr r="0" g="0" b="0"/>
          </a:fillRef>
          <a:effectRef idx="0">
            <a:scrgbClr r="0" g="0" b="0"/>
          </a:effectRef>
          <a:fontRef idx="none"/>
        </p:style>
        <p:txBody>
          <a:bodyPr lIns="0" tIns="0" rIns="0" bIns="0" anchor="t">
            <a:normAutofit/>
          </a:bodyPr>
          <a:lstStyle/>
          <a:p>
            <a:pPr marL="228600" indent="-228600" defTabSz="609600" rtl="0" fontAlgn="auto">
              <a:spcBef>
                <a:spcPts val="600"/>
              </a:spcBef>
              <a:buFont typeface="Wingdings" pitchFamily="2" charset="2"/>
              <a:buChar char="§"/>
            </a:pPr>
            <a:r>
              <a:rPr kumimoji="0" lang="en-US" altLang="zh-CN" sz="2400" normalizeH="0" dirty="0">
                <a:ln>
                  <a:noFill/>
                </a:ln>
                <a:solidFill>
                  <a:schemeClr val="bg2"/>
                </a:solidFill>
                <a:effectLst/>
                <a:latin typeface="Intel Clear Light" panose="020B0404020203020204" pitchFamily="34" charset="0"/>
                <a:sym typeface="Helvetica"/>
              </a:rPr>
              <a:t>Heavy small I/O stress on multiple </a:t>
            </a:r>
            <a:r>
              <a:rPr kumimoji="0" lang="en-US" altLang="zh-CN" sz="2400" normalizeH="0" dirty="0" err="1">
                <a:ln>
                  <a:noFill/>
                </a:ln>
                <a:solidFill>
                  <a:schemeClr val="bg2"/>
                </a:solidFill>
                <a:effectLst/>
                <a:latin typeface="Intel Clear Light" panose="020B0404020203020204" pitchFamily="34" charset="0"/>
                <a:sym typeface="Helvetica"/>
              </a:rPr>
              <a:t>NVMe</a:t>
            </a:r>
            <a:r>
              <a:rPr kumimoji="0" lang="en-US" altLang="zh-CN" sz="2400" normalizeH="0" dirty="0">
                <a:ln>
                  <a:noFill/>
                </a:ln>
                <a:solidFill>
                  <a:schemeClr val="bg2"/>
                </a:solidFill>
                <a:effectLst/>
                <a:latin typeface="Intel Clear Light" panose="020B0404020203020204" pitchFamily="34" charset="0"/>
                <a:sym typeface="Helvetica"/>
              </a:rPr>
              <a:t> SSDs can trigger interrupt bursts, possibly up bounding IOPS of those </a:t>
            </a:r>
            <a:r>
              <a:rPr kumimoji="0" lang="en-US" altLang="zh-CN" sz="2400" normalizeH="0" dirty="0" err="1">
                <a:ln>
                  <a:noFill/>
                </a:ln>
                <a:solidFill>
                  <a:schemeClr val="bg2"/>
                </a:solidFill>
                <a:effectLst/>
                <a:latin typeface="Intel Clear Light" panose="020B0404020203020204" pitchFamily="34" charset="0"/>
                <a:sym typeface="Helvetica"/>
              </a:rPr>
              <a:t>NVMe</a:t>
            </a:r>
            <a:r>
              <a:rPr kumimoji="0" lang="en-US" altLang="zh-CN" sz="2400" normalizeH="0" dirty="0">
                <a:ln>
                  <a:noFill/>
                </a:ln>
                <a:solidFill>
                  <a:schemeClr val="bg2"/>
                </a:solidFill>
                <a:effectLst/>
                <a:latin typeface="Intel Clear Light" panose="020B0404020203020204" pitchFamily="34" charset="0"/>
                <a:sym typeface="Helvetica"/>
              </a:rPr>
              <a:t> SSDs with high level of HW spec.</a:t>
            </a:r>
          </a:p>
          <a:p>
            <a:pPr marL="228600" indent="-228600" defTabSz="609600" rtl="0" fontAlgn="auto">
              <a:spcBef>
                <a:spcPts val="600"/>
              </a:spcBef>
              <a:buFont typeface="Wingdings" pitchFamily="2" charset="2"/>
              <a:buChar char="§"/>
            </a:pPr>
            <a:endParaRPr lang="en-US" sz="2400" dirty="0">
              <a:solidFill>
                <a:schemeClr val="bg2"/>
              </a:solidFill>
              <a:latin typeface="Intel Clear Light" panose="020B0404020203020204" pitchFamily="34" charset="0"/>
              <a:sym typeface="Helvetica"/>
            </a:endParaRPr>
          </a:p>
          <a:p>
            <a:pPr marL="228600" indent="-228600" defTabSz="609600" rtl="0" fontAlgn="auto">
              <a:spcBef>
                <a:spcPts val="600"/>
              </a:spcBef>
              <a:buFont typeface="Wingdings" pitchFamily="2" charset="2"/>
              <a:buChar char="§"/>
            </a:pPr>
            <a:r>
              <a:rPr kumimoji="0" lang="en-US" sz="2400" normalizeH="0" dirty="0">
                <a:ln>
                  <a:noFill/>
                </a:ln>
                <a:solidFill>
                  <a:schemeClr val="bg2"/>
                </a:solidFill>
                <a:effectLst/>
                <a:latin typeface="Intel Clear Light" panose="020B0404020203020204" pitchFamily="34" charset="0"/>
                <a:sym typeface="Helvetica"/>
              </a:rPr>
              <a:t>To solve interrupt burst:</a:t>
            </a:r>
          </a:p>
          <a:p>
            <a:pPr marL="800100" lvl="1" indent="-342900" defTabSz="609600">
              <a:spcBef>
                <a:spcPts val="600"/>
              </a:spcBef>
              <a:buFont typeface="Wingdings" panose="05000000000000000000" pitchFamily="2" charset="2"/>
              <a:buChar char="Ø"/>
            </a:pPr>
            <a:r>
              <a:rPr kumimoji="0" lang="en-US" sz="2400" normalizeH="0" dirty="0">
                <a:ln>
                  <a:noFill/>
                </a:ln>
                <a:solidFill>
                  <a:schemeClr val="bg2"/>
                </a:solidFill>
                <a:effectLst/>
                <a:latin typeface="Intel Clear Light"/>
                <a:sym typeface="Helvetica"/>
              </a:rPr>
              <a:t>If </a:t>
            </a:r>
            <a:r>
              <a:rPr lang="en-US" sz="2400" dirty="0">
                <a:solidFill>
                  <a:schemeClr val="bg2"/>
                </a:solidFill>
                <a:latin typeface="Intel Clear Light"/>
                <a:sym typeface="Helvetica"/>
              </a:rPr>
              <a:t>io size &lt;= 32k, queue</a:t>
            </a:r>
            <a:r>
              <a:rPr kumimoji="0" lang="en-US" sz="2400" normalizeH="0" dirty="0">
                <a:ln>
                  <a:noFill/>
                </a:ln>
                <a:solidFill>
                  <a:schemeClr val="bg2"/>
                </a:solidFill>
                <a:effectLst/>
                <a:latin typeface="Intel Clear Light"/>
                <a:sym typeface="Helvetica"/>
              </a:rPr>
              <a:t> is </a:t>
            </a:r>
            <a:r>
              <a:rPr lang="en-US" sz="2400" dirty="0">
                <a:solidFill>
                  <a:schemeClr val="bg2"/>
                </a:solidFill>
                <a:latin typeface="Intel Clear Light"/>
                <a:sym typeface="Helvetica"/>
              </a:rPr>
              <a:t>busy and busy queues number </a:t>
            </a:r>
            <a:r>
              <a:rPr lang="en-US" sz="2400" dirty="0">
                <a:solidFill>
                  <a:schemeClr val="bg2"/>
                </a:solidFill>
                <a:latin typeface="Intel Clear Light"/>
                <a:ea typeface="Intel Clear Light"/>
                <a:cs typeface="Intel Clear Light"/>
                <a:sym typeface="Helvetica"/>
              </a:rPr>
              <a:t>at the same time </a:t>
            </a:r>
            <a:r>
              <a:rPr lang="en-US" sz="2400" dirty="0">
                <a:solidFill>
                  <a:schemeClr val="bg2"/>
                </a:solidFill>
                <a:latin typeface="Intel Clear Light"/>
                <a:sym typeface="Helvetica"/>
              </a:rPr>
              <a:t>larger than threshold(default is 2, can be modified during runtime),</a:t>
            </a:r>
            <a:r>
              <a:rPr kumimoji="0" lang="en-US" sz="2400" normalizeH="0" dirty="0">
                <a:ln>
                  <a:noFill/>
                </a:ln>
                <a:solidFill>
                  <a:schemeClr val="bg2"/>
                </a:solidFill>
                <a:effectLst/>
                <a:latin typeface="Intel Clear Light"/>
                <a:sym typeface="Helvetica"/>
              </a:rPr>
              <a:t> automatically enable coalescing interrupt.</a:t>
            </a:r>
            <a:endParaRPr lang="en-US" sz="2400" normalizeH="0" dirty="0">
              <a:ln>
                <a:noFill/>
              </a:ln>
              <a:solidFill>
                <a:schemeClr val="bg2"/>
              </a:solidFill>
              <a:effectLst/>
              <a:latin typeface="Intel Clear Light"/>
            </a:endParaRPr>
          </a:p>
          <a:p>
            <a:pPr marL="800100" lvl="1" indent="-342900" defTabSz="609600">
              <a:spcBef>
                <a:spcPts val="600"/>
              </a:spcBef>
              <a:buFont typeface="Wingdings" panose="05000000000000000000" pitchFamily="2" charset="2"/>
              <a:buChar char="Ø"/>
            </a:pPr>
            <a:r>
              <a:rPr kumimoji="0" lang="en-US" sz="2400" normalizeH="0" dirty="0">
                <a:ln>
                  <a:noFill/>
                </a:ln>
                <a:solidFill>
                  <a:schemeClr val="bg2"/>
                </a:solidFill>
                <a:effectLst/>
                <a:latin typeface="Intel Clear Light"/>
                <a:sym typeface="Helvetica"/>
              </a:rPr>
              <a:t>If </a:t>
            </a:r>
            <a:r>
              <a:rPr lang="en-US" sz="2400" dirty="0">
                <a:solidFill>
                  <a:schemeClr val="bg2"/>
                </a:solidFill>
                <a:latin typeface="Intel Clear Light"/>
                <a:sym typeface="Helvetica"/>
              </a:rPr>
              <a:t>io size &lt;=32k, queue</a:t>
            </a:r>
            <a:r>
              <a:rPr kumimoji="0" lang="en-US" sz="2400" normalizeH="0" dirty="0">
                <a:ln>
                  <a:noFill/>
                </a:ln>
                <a:solidFill>
                  <a:schemeClr val="bg2"/>
                </a:solidFill>
                <a:effectLst/>
                <a:latin typeface="Intel Clear Light"/>
                <a:sym typeface="Helvetica"/>
              </a:rPr>
              <a:t> is </a:t>
            </a:r>
            <a:r>
              <a:rPr lang="en-US" sz="2400" dirty="0">
                <a:solidFill>
                  <a:schemeClr val="bg2"/>
                </a:solidFill>
                <a:latin typeface="Intel Clear Light"/>
                <a:sym typeface="Helvetica"/>
              </a:rPr>
              <a:t>not busy</a:t>
            </a:r>
            <a:r>
              <a:rPr kumimoji="0" lang="en-US" sz="2400" normalizeH="0" dirty="0">
                <a:ln>
                  <a:noFill/>
                </a:ln>
                <a:solidFill>
                  <a:schemeClr val="bg2"/>
                </a:solidFill>
                <a:effectLst/>
                <a:latin typeface="Intel Clear Light"/>
                <a:sym typeface="Helvetica"/>
              </a:rPr>
              <a:t>, </a:t>
            </a:r>
            <a:r>
              <a:rPr lang="en-US" sz="2400" dirty="0">
                <a:solidFill>
                  <a:schemeClr val="bg2"/>
                </a:solidFill>
                <a:latin typeface="Intel Clear Light"/>
                <a:sym typeface="Helvetica"/>
              </a:rPr>
              <a:t>and busy queues number at the same time less or equal than threshold(default is 2, can be modified during runtime), automatically</a:t>
            </a:r>
            <a:r>
              <a:rPr kumimoji="0" lang="en-US" sz="2400" normalizeH="0" dirty="0">
                <a:ln>
                  <a:noFill/>
                </a:ln>
                <a:solidFill>
                  <a:schemeClr val="bg2"/>
                </a:solidFill>
                <a:effectLst/>
                <a:latin typeface="Intel Clear Light"/>
                <a:sym typeface="Helvetica"/>
              </a:rPr>
              <a:t> disable coalescing interrupt.</a:t>
            </a:r>
          </a:p>
          <a:p>
            <a:pPr marL="800100" lvl="1" indent="-342900" defTabSz="609600">
              <a:spcBef>
                <a:spcPts val="600"/>
              </a:spcBef>
              <a:buFont typeface="Wingdings" panose="05000000000000000000" pitchFamily="2" charset="2"/>
              <a:buChar char="Ø"/>
            </a:pPr>
            <a:endParaRPr lang="en-US" sz="2400" dirty="0">
              <a:solidFill>
                <a:schemeClr val="bg2"/>
              </a:solidFill>
              <a:latin typeface="Intel Clear Light"/>
            </a:endParaRPr>
          </a:p>
          <a:p>
            <a:pPr lvl="1" defTabSz="609600">
              <a:spcBef>
                <a:spcPts val="600"/>
              </a:spcBef>
            </a:pPr>
            <a:r>
              <a:rPr lang="en-US" sz="2400" dirty="0">
                <a:solidFill>
                  <a:schemeClr val="bg2"/>
                </a:solidFill>
                <a:latin typeface="Intel Clear Light"/>
              </a:rPr>
              <a:t>Note: no interrupt coalescing setting for io size larger than 32k</a:t>
            </a:r>
          </a:p>
        </p:txBody>
      </p:sp>
      <p:sp>
        <p:nvSpPr>
          <p:cNvPr id="5" name="Title 4">
            <a:extLst>
              <a:ext uri="{FF2B5EF4-FFF2-40B4-BE49-F238E27FC236}">
                <a16:creationId xmlns:a16="http://schemas.microsoft.com/office/drawing/2014/main" id="{9DDC5F1C-20B5-B235-B359-31C3CCA0E6C9}"/>
              </a:ext>
            </a:extLst>
          </p:cNvPr>
          <p:cNvSpPr>
            <a:spLocks noGrp="1"/>
          </p:cNvSpPr>
          <p:nvPr>
            <p:ph type="title"/>
          </p:nvPr>
        </p:nvSpPr>
        <p:spPr>
          <a:xfrm>
            <a:off x="318976" y="306324"/>
            <a:ext cx="11653950" cy="883673"/>
          </a:xfrm>
        </p:spPr>
        <p:txBody>
          <a:bodyPr lIns="0" tIns="0" rIns="0" bIns="0">
            <a:normAutofit/>
          </a:bodyPr>
          <a:lstStyle/>
          <a:p>
            <a:r>
              <a:rPr lang="en-US" b="0" i="0" u="none" strike="noStrike" cap="none" spc="0" baseline="0">
                <a:uFillTx/>
                <a:latin typeface="Intel Clear" panose="020B0604020203020204" pitchFamily="34" charset="0"/>
                <a:ea typeface="Intel Clear" panose="020B0604020203020204" pitchFamily="34" charset="0"/>
                <a:cs typeface="Intel Clear" panose="020B0604020203020204" pitchFamily="34" charset="0"/>
                <a:sym typeface="Helvetica"/>
              </a:rPr>
              <a:t>What is Adaptive Interrupt Coalescing</a:t>
            </a:r>
          </a:p>
        </p:txBody>
      </p:sp>
      <p:sp>
        <p:nvSpPr>
          <p:cNvPr id="4" name="TextBox 3">
            <a:extLst>
              <a:ext uri="{FF2B5EF4-FFF2-40B4-BE49-F238E27FC236}">
                <a16:creationId xmlns:a16="http://schemas.microsoft.com/office/drawing/2014/main" id="{FB285DB7-B8A4-AA0A-35EF-580981891357}"/>
              </a:ext>
            </a:extLst>
          </p:cNvPr>
          <p:cNvSpPr txBox="1"/>
          <p:nvPr/>
        </p:nvSpPr>
        <p:spPr>
          <a:xfrm>
            <a:off x="741054" y="1334764"/>
            <a:ext cx="65"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l" defTabSz="2438338" rtl="0" fontAlgn="auto" latinLnBrk="0" hangingPunct="0">
              <a:lnSpc>
                <a:spcPct val="100000"/>
              </a:lnSpc>
              <a:spcBef>
                <a:spcPts val="0"/>
              </a:spcBef>
              <a:spcAft>
                <a:spcPts val="0"/>
              </a:spcAft>
              <a:buClrTx/>
              <a:buSzTx/>
              <a:buFontTx/>
              <a:buNone/>
              <a:tabLst/>
            </a:pPr>
            <a:endParaRPr kumimoji="0" lang="en-US" b="0" i="0" u="none" strike="noStrike" cap="none" spc="0" normalizeH="0" baseline="0" err="1">
              <a:ln>
                <a:noFill/>
              </a:ln>
              <a:solidFill>
                <a:schemeClr val="tx2"/>
              </a:solidFill>
              <a:effectLst/>
              <a:uFillTx/>
              <a:latin typeface="+mn-lt"/>
              <a:ea typeface="+mn-ea"/>
              <a:cs typeface="+mn-cs"/>
              <a:sym typeface="Helvetica Neue"/>
            </a:endParaRPr>
          </a:p>
        </p:txBody>
      </p:sp>
      <p:sp>
        <p:nvSpPr>
          <p:cNvPr id="2" name="TextBox 1">
            <a:extLst>
              <a:ext uri="{FF2B5EF4-FFF2-40B4-BE49-F238E27FC236}">
                <a16:creationId xmlns:a16="http://schemas.microsoft.com/office/drawing/2014/main" id="{552F9410-A3E6-2646-D9AB-D63006D5B705}"/>
              </a:ext>
            </a:extLst>
          </p:cNvPr>
          <p:cNvSpPr txBox="1"/>
          <p:nvPr/>
        </p:nvSpPr>
        <p:spPr>
          <a:xfrm rot="19948762">
            <a:off x="736241" y="2809169"/>
            <a:ext cx="10810652" cy="630365"/>
          </a:xfrm>
          <a:prstGeom prst="rect">
            <a:avLst/>
          </a:prstGeom>
          <a:noFill/>
        </p:spPr>
        <p:txBody>
          <a:bodyPr vert="horz" wrap="none" lIns="0" tIns="0" rIns="0" bIns="0" rtlCol="0">
            <a:spAutoFit/>
          </a:bodyPr>
          <a:lstStyle/>
          <a:p>
            <a:pPr marL="0" marR="0" lvl="0" indent="0" algn="l" defTabSz="1219169" rtl="0" eaLnBrk="1" fontAlgn="auto" latinLnBrk="0" hangingPunct="0">
              <a:lnSpc>
                <a:spcPct val="90000"/>
              </a:lnSpc>
              <a:spcBef>
                <a:spcPts val="2250"/>
              </a:spcBef>
              <a:spcAft>
                <a:spcPts val="0"/>
              </a:spcAft>
              <a:buClrTx/>
              <a:buSzTx/>
              <a:buFontTx/>
              <a:buNone/>
              <a:tabLst/>
              <a:defRPr/>
            </a:pPr>
            <a:r>
              <a:rPr kumimoji="0" lang="en-US" sz="4533" b="1" i="0" u="none" strike="noStrike" kern="0" cap="none" spc="0" normalizeH="0" baseline="0" noProof="0" dirty="0">
                <a:ln w="3175">
                  <a:solidFill>
                    <a:srgbClr val="FF0000"/>
                  </a:solidFill>
                  <a:prstDash val="sysDot"/>
                </a:ln>
                <a:noFill/>
                <a:effectLst>
                  <a:outerShdw blurRad="38100" dist="22860" dir="5400000" algn="tl" rotWithShape="0">
                    <a:srgbClr val="000000">
                      <a:alpha val="30000"/>
                    </a:srgbClr>
                  </a:outerShdw>
                </a:effectLst>
                <a:uLnTx/>
                <a:uFillTx/>
                <a:latin typeface="Intel Clear"/>
                <a:sym typeface="Helvetica Neue"/>
              </a:rPr>
              <a:t>For use under CNDA024859 : Bytedance</a:t>
            </a:r>
          </a:p>
        </p:txBody>
      </p:sp>
    </p:spTree>
    <p:extLst>
      <p:ext uri="{BB962C8B-B14F-4D97-AF65-F5344CB8AC3E}">
        <p14:creationId xmlns:p14="http://schemas.microsoft.com/office/powerpoint/2010/main" val="3765648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2B770-CE79-7748-FAF3-0F154BC7A53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7C85ED9-4792-705C-5188-6861B2796862}"/>
              </a:ext>
            </a:extLst>
          </p:cNvPr>
          <p:cNvSpPr>
            <a:spLocks noGrp="1"/>
          </p:cNvSpPr>
          <p:nvPr>
            <p:ph type="title"/>
          </p:nvPr>
        </p:nvSpPr>
        <p:spPr>
          <a:xfrm>
            <a:off x="381000" y="276841"/>
            <a:ext cx="10972800" cy="640080"/>
          </a:xfrm>
        </p:spPr>
        <p:txBody>
          <a:bodyPr/>
          <a:lstStyle/>
          <a:p>
            <a:r>
              <a:rPr lang="en-US" dirty="0"/>
              <a:t>How the patch works in Heavy WL</a:t>
            </a:r>
          </a:p>
        </p:txBody>
      </p:sp>
      <p:grpSp>
        <p:nvGrpSpPr>
          <p:cNvPr id="125" name="Group 124">
            <a:extLst>
              <a:ext uri="{FF2B5EF4-FFF2-40B4-BE49-F238E27FC236}">
                <a16:creationId xmlns:a16="http://schemas.microsoft.com/office/drawing/2014/main" id="{6F25457A-D7AA-4BD7-7112-61E72D8D5CBF}"/>
              </a:ext>
            </a:extLst>
          </p:cNvPr>
          <p:cNvGrpSpPr/>
          <p:nvPr/>
        </p:nvGrpSpPr>
        <p:grpSpPr>
          <a:xfrm>
            <a:off x="721892" y="2451339"/>
            <a:ext cx="4009188" cy="2763887"/>
            <a:chOff x="721892" y="2451339"/>
            <a:chExt cx="4009188" cy="2763887"/>
          </a:xfrm>
        </p:grpSpPr>
        <p:sp>
          <p:nvSpPr>
            <p:cNvPr id="12" name="Rectangle 11">
              <a:extLst>
                <a:ext uri="{FF2B5EF4-FFF2-40B4-BE49-F238E27FC236}">
                  <a16:creationId xmlns:a16="http://schemas.microsoft.com/office/drawing/2014/main" id="{59088827-A2E8-DF7D-CB8D-6C0B71D402AD}"/>
                </a:ext>
              </a:extLst>
            </p:cNvPr>
            <p:cNvSpPr/>
            <p:nvPr/>
          </p:nvSpPr>
          <p:spPr>
            <a:xfrm>
              <a:off x="721892" y="3567207"/>
              <a:ext cx="3990026" cy="471924"/>
            </a:xfrm>
            <a:prstGeom prst="rect">
              <a:avLst/>
            </a:prstGeom>
            <a:solidFill>
              <a:srgbClr val="C00000"/>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altLang="zh-CN" sz="1200" b="0" i="0" u="none" strike="noStrike" cap="none" spc="0" normalizeH="0" baseline="0" dirty="0">
                  <a:ln>
                    <a:noFill/>
                  </a:ln>
                  <a:solidFill>
                    <a:schemeClr val="bg1"/>
                  </a:solidFill>
                  <a:effectLst/>
                  <a:uFillTx/>
                  <a:latin typeface="Helvetica Neue Medium"/>
                  <a:ea typeface="Helvetica Neue Medium"/>
                  <a:cs typeface="Helvetica Neue Medium"/>
                  <a:sym typeface="Helvetica Neue Medium"/>
                </a:rPr>
                <a:t>S</a:t>
              </a:r>
              <a:r>
                <a:rPr kumimoji="0" lang="en-US" sz="1200" b="0" i="0" u="none" strike="noStrike" cap="none" spc="0" normalizeH="0" baseline="0" dirty="0">
                  <a:ln>
                    <a:noFill/>
                  </a:ln>
                  <a:solidFill>
                    <a:schemeClr val="bg1"/>
                  </a:solidFill>
                  <a:effectLst/>
                  <a:uFillTx/>
                  <a:latin typeface="Helvetica Neue Medium"/>
                  <a:ea typeface="Helvetica Neue Medium"/>
                  <a:cs typeface="Helvetica Neue Medium"/>
                  <a:sym typeface="Helvetica Neue Medium"/>
                </a:rPr>
                <a:t>ystem Agent</a:t>
              </a:r>
            </a:p>
            <a:p>
              <a:pPr marL="0" marR="0" indent="0" algn="ctr" defTabSz="8255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chemeClr val="bg1"/>
                  </a:solidFill>
                  <a:effectLst/>
                  <a:uFillTx/>
                  <a:latin typeface="Helvetica Neue Medium"/>
                  <a:ea typeface="Helvetica Neue Medium"/>
                  <a:cs typeface="Helvetica Neue Medium"/>
                  <a:sym typeface="Helvetica Neue Medium"/>
                </a:rPr>
                <a:t>(</a:t>
              </a:r>
              <a:r>
                <a:rPr kumimoji="0" lang="en-US" sz="1200" b="1" u="none" strike="noStrike" cap="none" spc="0" normalizeH="0" baseline="0" dirty="0">
                  <a:ln>
                    <a:noFill/>
                  </a:ln>
                  <a:solidFill>
                    <a:schemeClr val="bg1"/>
                  </a:solidFill>
                  <a:uFillTx/>
                  <a:latin typeface="Inter"/>
                  <a:ea typeface="Helvetica Neue Medium"/>
                  <a:cs typeface="Helvetica Neue Medium"/>
                  <a:sym typeface="Helvetica Neue Medium"/>
                </a:rPr>
                <a:t>R</a:t>
              </a:r>
              <a:r>
                <a:rPr lang="en-US" sz="1200" b="1" i="0" dirty="0">
                  <a:solidFill>
                    <a:schemeClr val="bg1"/>
                  </a:solidFill>
                  <a:effectLst/>
                  <a:latin typeface="Inter"/>
                </a:rPr>
                <a:t>emaps Translates IRQ </a:t>
              </a:r>
              <a:r>
                <a:rPr lang="en-US" sz="1200" b="1" dirty="0">
                  <a:solidFill>
                    <a:schemeClr val="bg1"/>
                  </a:solidFill>
                  <a:latin typeface="Inter"/>
                </a:rPr>
                <a:t>/ Notifies CPU</a:t>
              </a:r>
              <a:r>
                <a:rPr kumimoji="0" lang="en-US" sz="1200" b="0" i="0" u="none" strike="noStrike" cap="none" spc="0" normalizeH="0" baseline="0" dirty="0">
                  <a:ln>
                    <a:noFill/>
                  </a:ln>
                  <a:solidFill>
                    <a:schemeClr val="bg1"/>
                  </a:solidFill>
                  <a:effectLst/>
                  <a:uFillTx/>
                  <a:latin typeface="Helvetica Neue Medium"/>
                  <a:ea typeface="Helvetica Neue Medium"/>
                  <a:cs typeface="Helvetica Neue Medium"/>
                  <a:sym typeface="Helvetica Neue Medium"/>
                </a:rPr>
                <a:t>)</a:t>
              </a:r>
            </a:p>
          </p:txBody>
        </p:sp>
        <p:grpSp>
          <p:nvGrpSpPr>
            <p:cNvPr id="15" name="Group 14">
              <a:extLst>
                <a:ext uri="{FF2B5EF4-FFF2-40B4-BE49-F238E27FC236}">
                  <a16:creationId xmlns:a16="http://schemas.microsoft.com/office/drawing/2014/main" id="{E05F823B-4C8B-D679-5F1E-2BB5820F3503}"/>
                </a:ext>
              </a:extLst>
            </p:cNvPr>
            <p:cNvGrpSpPr/>
            <p:nvPr/>
          </p:nvGrpSpPr>
          <p:grpSpPr>
            <a:xfrm>
              <a:off x="1215185" y="2451339"/>
              <a:ext cx="1121613" cy="851031"/>
              <a:chOff x="872176" y="1441320"/>
              <a:chExt cx="1121613" cy="851031"/>
            </a:xfrm>
          </p:grpSpPr>
          <p:sp>
            <p:nvSpPr>
              <p:cNvPr id="13" name="Flowchart: Connector 12">
                <a:extLst>
                  <a:ext uri="{FF2B5EF4-FFF2-40B4-BE49-F238E27FC236}">
                    <a16:creationId xmlns:a16="http://schemas.microsoft.com/office/drawing/2014/main" id="{ACD4122B-CB17-3DCD-4988-DF9CBF25A0FC}"/>
                  </a:ext>
                </a:extLst>
              </p:cNvPr>
              <p:cNvSpPr/>
              <p:nvPr/>
            </p:nvSpPr>
            <p:spPr>
              <a:xfrm>
                <a:off x="1104941" y="1441320"/>
                <a:ext cx="656081" cy="533777"/>
              </a:xfrm>
              <a:prstGeom prst="flowChartConnector">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9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CPU Core</a:t>
                </a:r>
              </a:p>
            </p:txBody>
          </p:sp>
          <p:sp>
            <p:nvSpPr>
              <p:cNvPr id="14" name="Rectangle 13">
                <a:extLst>
                  <a:ext uri="{FF2B5EF4-FFF2-40B4-BE49-F238E27FC236}">
                    <a16:creationId xmlns:a16="http://schemas.microsoft.com/office/drawing/2014/main" id="{E66551FF-FB72-A5AE-8AA6-0AAFC0EF1A02}"/>
                  </a:ext>
                </a:extLst>
              </p:cNvPr>
              <p:cNvSpPr/>
              <p:nvPr/>
            </p:nvSpPr>
            <p:spPr>
              <a:xfrm>
                <a:off x="872176" y="2005093"/>
                <a:ext cx="1121613" cy="287258"/>
              </a:xfrm>
              <a:prstGeom prst="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Local-APIC</a:t>
                </a:r>
              </a:p>
            </p:txBody>
          </p:sp>
        </p:grpSp>
        <p:grpSp>
          <p:nvGrpSpPr>
            <p:cNvPr id="16" name="Group 15">
              <a:extLst>
                <a:ext uri="{FF2B5EF4-FFF2-40B4-BE49-F238E27FC236}">
                  <a16:creationId xmlns:a16="http://schemas.microsoft.com/office/drawing/2014/main" id="{98ABDBD1-872C-A242-C7F1-2F8F4576EC16}"/>
                </a:ext>
              </a:extLst>
            </p:cNvPr>
            <p:cNvGrpSpPr/>
            <p:nvPr/>
          </p:nvGrpSpPr>
          <p:grpSpPr>
            <a:xfrm>
              <a:off x="3042265" y="2451339"/>
              <a:ext cx="1121613" cy="851031"/>
              <a:chOff x="872176" y="1441320"/>
              <a:chExt cx="1121613" cy="851031"/>
            </a:xfrm>
          </p:grpSpPr>
          <p:sp>
            <p:nvSpPr>
              <p:cNvPr id="17" name="Flowchart: Connector 16">
                <a:extLst>
                  <a:ext uri="{FF2B5EF4-FFF2-40B4-BE49-F238E27FC236}">
                    <a16:creationId xmlns:a16="http://schemas.microsoft.com/office/drawing/2014/main" id="{D5AFF694-B44B-EEE0-0A7F-FECDE52B986B}"/>
                  </a:ext>
                </a:extLst>
              </p:cNvPr>
              <p:cNvSpPr/>
              <p:nvPr/>
            </p:nvSpPr>
            <p:spPr>
              <a:xfrm>
                <a:off x="1104941" y="1441320"/>
                <a:ext cx="656081" cy="533777"/>
              </a:xfrm>
              <a:prstGeom prst="flowChartConnector">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9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CPU Core</a:t>
                </a:r>
              </a:p>
            </p:txBody>
          </p:sp>
          <p:sp>
            <p:nvSpPr>
              <p:cNvPr id="18" name="Rectangle 17">
                <a:extLst>
                  <a:ext uri="{FF2B5EF4-FFF2-40B4-BE49-F238E27FC236}">
                    <a16:creationId xmlns:a16="http://schemas.microsoft.com/office/drawing/2014/main" id="{7E4FE0E0-C0F6-A47D-4364-2C03AA311ABC}"/>
                  </a:ext>
                </a:extLst>
              </p:cNvPr>
              <p:cNvSpPr/>
              <p:nvPr/>
            </p:nvSpPr>
            <p:spPr>
              <a:xfrm>
                <a:off x="872176" y="2005093"/>
                <a:ext cx="1121613" cy="287258"/>
              </a:xfrm>
              <a:prstGeom prst="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Local-APIC</a:t>
                </a:r>
              </a:p>
            </p:txBody>
          </p:sp>
        </p:grpSp>
        <p:grpSp>
          <p:nvGrpSpPr>
            <p:cNvPr id="39" name="Group 38">
              <a:extLst>
                <a:ext uri="{FF2B5EF4-FFF2-40B4-BE49-F238E27FC236}">
                  <a16:creationId xmlns:a16="http://schemas.microsoft.com/office/drawing/2014/main" id="{CD41FAE6-0993-296E-B7B1-8398C62BD42D}"/>
                </a:ext>
              </a:extLst>
            </p:cNvPr>
            <p:cNvGrpSpPr/>
            <p:nvPr/>
          </p:nvGrpSpPr>
          <p:grpSpPr>
            <a:xfrm>
              <a:off x="721892" y="4356385"/>
              <a:ext cx="1159934" cy="858841"/>
              <a:chOff x="721892" y="4356385"/>
              <a:chExt cx="1159934" cy="858841"/>
            </a:xfrm>
          </p:grpSpPr>
          <p:sp>
            <p:nvSpPr>
              <p:cNvPr id="3" name="Cylinder 2">
                <a:extLst>
                  <a:ext uri="{FF2B5EF4-FFF2-40B4-BE49-F238E27FC236}">
                    <a16:creationId xmlns:a16="http://schemas.microsoft.com/office/drawing/2014/main" id="{2723C925-8E1B-2603-0D20-B43FC8982078}"/>
                  </a:ext>
                </a:extLst>
              </p:cNvPr>
              <p:cNvSpPr/>
              <p:nvPr/>
            </p:nvSpPr>
            <p:spPr>
              <a:xfrm>
                <a:off x="721892" y="4758502"/>
                <a:ext cx="1159934" cy="456724"/>
              </a:xfrm>
              <a:prstGeom prst="can">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SSD1</a:t>
                </a:r>
              </a:p>
            </p:txBody>
          </p:sp>
          <p:grpSp>
            <p:nvGrpSpPr>
              <p:cNvPr id="38" name="Group 37">
                <a:extLst>
                  <a:ext uri="{FF2B5EF4-FFF2-40B4-BE49-F238E27FC236}">
                    <a16:creationId xmlns:a16="http://schemas.microsoft.com/office/drawing/2014/main" id="{ABAF0D25-8AF7-5174-D764-F9C64ECD70D1}"/>
                  </a:ext>
                </a:extLst>
              </p:cNvPr>
              <p:cNvGrpSpPr/>
              <p:nvPr/>
            </p:nvGrpSpPr>
            <p:grpSpPr>
              <a:xfrm>
                <a:off x="768459" y="4356385"/>
                <a:ext cx="1066800" cy="288000"/>
                <a:chOff x="973819" y="3945467"/>
                <a:chExt cx="1066800" cy="288000"/>
              </a:xfrm>
            </p:grpSpPr>
            <p:cxnSp>
              <p:nvCxnSpPr>
                <p:cNvPr id="30" name="Straight Arrow Connector 29">
                  <a:extLst>
                    <a:ext uri="{FF2B5EF4-FFF2-40B4-BE49-F238E27FC236}">
                      <a16:creationId xmlns:a16="http://schemas.microsoft.com/office/drawing/2014/main" id="{0098BFA0-68F5-9E48-F57A-FD14577499DC}"/>
                    </a:ext>
                  </a:extLst>
                </p:cNvPr>
                <p:cNvCxnSpPr>
                  <a:cxnSpLocks/>
                </p:cNvCxnSpPr>
                <p:nvPr/>
              </p:nvCxnSpPr>
              <p:spPr>
                <a:xfrm flipV="1">
                  <a:off x="9738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1" name="Straight Arrow Connector 30">
                  <a:extLst>
                    <a:ext uri="{FF2B5EF4-FFF2-40B4-BE49-F238E27FC236}">
                      <a16:creationId xmlns:a16="http://schemas.microsoft.com/office/drawing/2014/main" id="{0D2F2CB7-C5C7-46BC-DB9D-495EFC9E0513}"/>
                    </a:ext>
                  </a:extLst>
                </p:cNvPr>
                <p:cNvCxnSpPr>
                  <a:cxnSpLocks/>
                </p:cNvCxnSpPr>
                <p:nvPr/>
              </p:nvCxnSpPr>
              <p:spPr>
                <a:xfrm flipV="1">
                  <a:off x="11262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2" name="Straight Arrow Connector 31">
                  <a:extLst>
                    <a:ext uri="{FF2B5EF4-FFF2-40B4-BE49-F238E27FC236}">
                      <a16:creationId xmlns:a16="http://schemas.microsoft.com/office/drawing/2014/main" id="{1B03D4B2-F596-89C2-442B-F604E4134997}"/>
                    </a:ext>
                  </a:extLst>
                </p:cNvPr>
                <p:cNvCxnSpPr>
                  <a:cxnSpLocks/>
                </p:cNvCxnSpPr>
                <p:nvPr/>
              </p:nvCxnSpPr>
              <p:spPr>
                <a:xfrm flipV="1">
                  <a:off x="12786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3" name="Straight Arrow Connector 32">
                  <a:extLst>
                    <a:ext uri="{FF2B5EF4-FFF2-40B4-BE49-F238E27FC236}">
                      <a16:creationId xmlns:a16="http://schemas.microsoft.com/office/drawing/2014/main" id="{F91A8F72-B4A8-CBA0-16D3-01ACD621ADFE}"/>
                    </a:ext>
                  </a:extLst>
                </p:cNvPr>
                <p:cNvCxnSpPr>
                  <a:cxnSpLocks/>
                </p:cNvCxnSpPr>
                <p:nvPr/>
              </p:nvCxnSpPr>
              <p:spPr>
                <a:xfrm flipV="1">
                  <a:off x="14310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4" name="Straight Arrow Connector 33">
                  <a:extLst>
                    <a:ext uri="{FF2B5EF4-FFF2-40B4-BE49-F238E27FC236}">
                      <a16:creationId xmlns:a16="http://schemas.microsoft.com/office/drawing/2014/main" id="{11924B07-0AFE-EDB0-9DF8-AB84F0283B26}"/>
                    </a:ext>
                  </a:extLst>
                </p:cNvPr>
                <p:cNvCxnSpPr>
                  <a:cxnSpLocks/>
                </p:cNvCxnSpPr>
                <p:nvPr/>
              </p:nvCxnSpPr>
              <p:spPr>
                <a:xfrm flipV="1">
                  <a:off x="15834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5" name="Straight Arrow Connector 34">
                  <a:extLst>
                    <a:ext uri="{FF2B5EF4-FFF2-40B4-BE49-F238E27FC236}">
                      <a16:creationId xmlns:a16="http://schemas.microsoft.com/office/drawing/2014/main" id="{FC487ABF-AC48-9CB7-B0CF-5449C99F2EED}"/>
                    </a:ext>
                  </a:extLst>
                </p:cNvPr>
                <p:cNvCxnSpPr>
                  <a:cxnSpLocks/>
                </p:cNvCxnSpPr>
                <p:nvPr/>
              </p:nvCxnSpPr>
              <p:spPr>
                <a:xfrm flipV="1">
                  <a:off x="17358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6" name="Straight Arrow Connector 35">
                  <a:extLst>
                    <a:ext uri="{FF2B5EF4-FFF2-40B4-BE49-F238E27FC236}">
                      <a16:creationId xmlns:a16="http://schemas.microsoft.com/office/drawing/2014/main" id="{95D944CC-37D3-0B46-C9A9-E073868C2380}"/>
                    </a:ext>
                  </a:extLst>
                </p:cNvPr>
                <p:cNvCxnSpPr>
                  <a:cxnSpLocks/>
                </p:cNvCxnSpPr>
                <p:nvPr/>
              </p:nvCxnSpPr>
              <p:spPr>
                <a:xfrm flipV="1">
                  <a:off x="18882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7" name="Straight Arrow Connector 36">
                  <a:extLst>
                    <a:ext uri="{FF2B5EF4-FFF2-40B4-BE49-F238E27FC236}">
                      <a16:creationId xmlns:a16="http://schemas.microsoft.com/office/drawing/2014/main" id="{A7D2DDED-5770-203C-61F4-233E89479EDA}"/>
                    </a:ext>
                  </a:extLst>
                </p:cNvPr>
                <p:cNvCxnSpPr>
                  <a:cxnSpLocks/>
                </p:cNvCxnSpPr>
                <p:nvPr/>
              </p:nvCxnSpPr>
              <p:spPr>
                <a:xfrm flipV="1">
                  <a:off x="20406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grpSp>
        </p:grpSp>
        <p:grpSp>
          <p:nvGrpSpPr>
            <p:cNvPr id="40" name="Group 39">
              <a:extLst>
                <a:ext uri="{FF2B5EF4-FFF2-40B4-BE49-F238E27FC236}">
                  <a16:creationId xmlns:a16="http://schemas.microsoft.com/office/drawing/2014/main" id="{0159D26A-E9F5-FBBC-928F-4B96482695A4}"/>
                </a:ext>
              </a:extLst>
            </p:cNvPr>
            <p:cNvGrpSpPr/>
            <p:nvPr/>
          </p:nvGrpSpPr>
          <p:grpSpPr>
            <a:xfrm>
              <a:off x="2146519" y="4356385"/>
              <a:ext cx="1159934" cy="858841"/>
              <a:chOff x="721892" y="4356385"/>
              <a:chExt cx="1159934" cy="858841"/>
            </a:xfrm>
          </p:grpSpPr>
          <p:sp>
            <p:nvSpPr>
              <p:cNvPr id="41" name="Cylinder 40">
                <a:extLst>
                  <a:ext uri="{FF2B5EF4-FFF2-40B4-BE49-F238E27FC236}">
                    <a16:creationId xmlns:a16="http://schemas.microsoft.com/office/drawing/2014/main" id="{36797EC6-BF7E-AF42-77B5-BFB03FAC041D}"/>
                  </a:ext>
                </a:extLst>
              </p:cNvPr>
              <p:cNvSpPr/>
              <p:nvPr/>
            </p:nvSpPr>
            <p:spPr>
              <a:xfrm>
                <a:off x="721892" y="4758502"/>
                <a:ext cx="1159934" cy="456724"/>
              </a:xfrm>
              <a:prstGeom prst="can">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SSD2</a:t>
                </a:r>
              </a:p>
            </p:txBody>
          </p:sp>
          <p:grpSp>
            <p:nvGrpSpPr>
              <p:cNvPr id="42" name="Group 41">
                <a:extLst>
                  <a:ext uri="{FF2B5EF4-FFF2-40B4-BE49-F238E27FC236}">
                    <a16:creationId xmlns:a16="http://schemas.microsoft.com/office/drawing/2014/main" id="{017FFE09-B437-293E-DFB0-54DD13F7B317}"/>
                  </a:ext>
                </a:extLst>
              </p:cNvPr>
              <p:cNvGrpSpPr/>
              <p:nvPr/>
            </p:nvGrpSpPr>
            <p:grpSpPr>
              <a:xfrm>
                <a:off x="768459" y="4356385"/>
                <a:ext cx="1066800" cy="288000"/>
                <a:chOff x="973819" y="3945467"/>
                <a:chExt cx="1066800" cy="288000"/>
              </a:xfrm>
            </p:grpSpPr>
            <p:cxnSp>
              <p:nvCxnSpPr>
                <p:cNvPr id="43" name="Straight Arrow Connector 42">
                  <a:extLst>
                    <a:ext uri="{FF2B5EF4-FFF2-40B4-BE49-F238E27FC236}">
                      <a16:creationId xmlns:a16="http://schemas.microsoft.com/office/drawing/2014/main" id="{A9C2C429-728E-EC6F-8C2A-D6049F97252E}"/>
                    </a:ext>
                  </a:extLst>
                </p:cNvPr>
                <p:cNvCxnSpPr>
                  <a:cxnSpLocks/>
                </p:cNvCxnSpPr>
                <p:nvPr/>
              </p:nvCxnSpPr>
              <p:spPr>
                <a:xfrm flipV="1">
                  <a:off x="9738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44" name="Straight Arrow Connector 43">
                  <a:extLst>
                    <a:ext uri="{FF2B5EF4-FFF2-40B4-BE49-F238E27FC236}">
                      <a16:creationId xmlns:a16="http://schemas.microsoft.com/office/drawing/2014/main" id="{8C354CF6-CDFC-B36B-AFBD-3242BEAA6E21}"/>
                    </a:ext>
                  </a:extLst>
                </p:cNvPr>
                <p:cNvCxnSpPr>
                  <a:cxnSpLocks/>
                </p:cNvCxnSpPr>
                <p:nvPr/>
              </p:nvCxnSpPr>
              <p:spPr>
                <a:xfrm flipV="1">
                  <a:off x="11262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45" name="Straight Arrow Connector 44">
                  <a:extLst>
                    <a:ext uri="{FF2B5EF4-FFF2-40B4-BE49-F238E27FC236}">
                      <a16:creationId xmlns:a16="http://schemas.microsoft.com/office/drawing/2014/main" id="{17D39DDB-814D-1D67-3E04-ABBCF6C97FE0}"/>
                    </a:ext>
                  </a:extLst>
                </p:cNvPr>
                <p:cNvCxnSpPr>
                  <a:cxnSpLocks/>
                </p:cNvCxnSpPr>
                <p:nvPr/>
              </p:nvCxnSpPr>
              <p:spPr>
                <a:xfrm flipV="1">
                  <a:off x="12786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46" name="Straight Arrow Connector 45">
                  <a:extLst>
                    <a:ext uri="{FF2B5EF4-FFF2-40B4-BE49-F238E27FC236}">
                      <a16:creationId xmlns:a16="http://schemas.microsoft.com/office/drawing/2014/main" id="{72C4AAB7-62B8-7409-6554-74FD664A155D}"/>
                    </a:ext>
                  </a:extLst>
                </p:cNvPr>
                <p:cNvCxnSpPr>
                  <a:cxnSpLocks/>
                </p:cNvCxnSpPr>
                <p:nvPr/>
              </p:nvCxnSpPr>
              <p:spPr>
                <a:xfrm flipV="1">
                  <a:off x="14310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47" name="Straight Arrow Connector 46">
                  <a:extLst>
                    <a:ext uri="{FF2B5EF4-FFF2-40B4-BE49-F238E27FC236}">
                      <a16:creationId xmlns:a16="http://schemas.microsoft.com/office/drawing/2014/main" id="{14B2A7A6-22AF-F94D-DEC9-428120930A7E}"/>
                    </a:ext>
                  </a:extLst>
                </p:cNvPr>
                <p:cNvCxnSpPr>
                  <a:cxnSpLocks/>
                </p:cNvCxnSpPr>
                <p:nvPr/>
              </p:nvCxnSpPr>
              <p:spPr>
                <a:xfrm flipV="1">
                  <a:off x="15834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48" name="Straight Arrow Connector 47">
                  <a:extLst>
                    <a:ext uri="{FF2B5EF4-FFF2-40B4-BE49-F238E27FC236}">
                      <a16:creationId xmlns:a16="http://schemas.microsoft.com/office/drawing/2014/main" id="{8E1D3F72-A3FF-8FFC-BE7D-88A09B5D9826}"/>
                    </a:ext>
                  </a:extLst>
                </p:cNvPr>
                <p:cNvCxnSpPr>
                  <a:cxnSpLocks/>
                </p:cNvCxnSpPr>
                <p:nvPr/>
              </p:nvCxnSpPr>
              <p:spPr>
                <a:xfrm flipV="1">
                  <a:off x="17358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49" name="Straight Arrow Connector 48">
                  <a:extLst>
                    <a:ext uri="{FF2B5EF4-FFF2-40B4-BE49-F238E27FC236}">
                      <a16:creationId xmlns:a16="http://schemas.microsoft.com/office/drawing/2014/main" id="{385EC7E3-F106-5AE0-1360-27178A4174A2}"/>
                    </a:ext>
                  </a:extLst>
                </p:cNvPr>
                <p:cNvCxnSpPr>
                  <a:cxnSpLocks/>
                </p:cNvCxnSpPr>
                <p:nvPr/>
              </p:nvCxnSpPr>
              <p:spPr>
                <a:xfrm flipV="1">
                  <a:off x="18882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50" name="Straight Arrow Connector 49">
                  <a:extLst>
                    <a:ext uri="{FF2B5EF4-FFF2-40B4-BE49-F238E27FC236}">
                      <a16:creationId xmlns:a16="http://schemas.microsoft.com/office/drawing/2014/main" id="{7069C37C-D38D-7042-AA51-B2AB13A4A592}"/>
                    </a:ext>
                  </a:extLst>
                </p:cNvPr>
                <p:cNvCxnSpPr>
                  <a:cxnSpLocks/>
                </p:cNvCxnSpPr>
                <p:nvPr/>
              </p:nvCxnSpPr>
              <p:spPr>
                <a:xfrm flipV="1">
                  <a:off x="20406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grpSp>
        </p:grpSp>
        <p:grpSp>
          <p:nvGrpSpPr>
            <p:cNvPr id="51" name="Group 50">
              <a:extLst>
                <a:ext uri="{FF2B5EF4-FFF2-40B4-BE49-F238E27FC236}">
                  <a16:creationId xmlns:a16="http://schemas.microsoft.com/office/drawing/2014/main" id="{474A5E3D-8DC7-692D-8AC0-62300F0D9E6F}"/>
                </a:ext>
              </a:extLst>
            </p:cNvPr>
            <p:cNvGrpSpPr/>
            <p:nvPr/>
          </p:nvGrpSpPr>
          <p:grpSpPr>
            <a:xfrm>
              <a:off x="3571146" y="4356385"/>
              <a:ext cx="1159934" cy="858841"/>
              <a:chOff x="721892" y="4356385"/>
              <a:chExt cx="1159934" cy="858841"/>
            </a:xfrm>
          </p:grpSpPr>
          <p:sp>
            <p:nvSpPr>
              <p:cNvPr id="52" name="Cylinder 51">
                <a:extLst>
                  <a:ext uri="{FF2B5EF4-FFF2-40B4-BE49-F238E27FC236}">
                    <a16:creationId xmlns:a16="http://schemas.microsoft.com/office/drawing/2014/main" id="{1A2DE6FF-76A0-54A7-D27F-D4610C3F4C3B}"/>
                  </a:ext>
                </a:extLst>
              </p:cNvPr>
              <p:cNvSpPr/>
              <p:nvPr/>
            </p:nvSpPr>
            <p:spPr>
              <a:xfrm>
                <a:off x="721892" y="4758502"/>
                <a:ext cx="1159934" cy="456724"/>
              </a:xfrm>
              <a:prstGeom prst="can">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SSD3</a:t>
                </a:r>
              </a:p>
            </p:txBody>
          </p:sp>
          <p:grpSp>
            <p:nvGrpSpPr>
              <p:cNvPr id="53" name="Group 52">
                <a:extLst>
                  <a:ext uri="{FF2B5EF4-FFF2-40B4-BE49-F238E27FC236}">
                    <a16:creationId xmlns:a16="http://schemas.microsoft.com/office/drawing/2014/main" id="{22C7B200-D6EE-5325-5C6E-0FC9F7576579}"/>
                  </a:ext>
                </a:extLst>
              </p:cNvPr>
              <p:cNvGrpSpPr/>
              <p:nvPr/>
            </p:nvGrpSpPr>
            <p:grpSpPr>
              <a:xfrm>
                <a:off x="768459" y="4356385"/>
                <a:ext cx="1066800" cy="288000"/>
                <a:chOff x="973819" y="3945467"/>
                <a:chExt cx="1066800" cy="288000"/>
              </a:xfrm>
            </p:grpSpPr>
            <p:cxnSp>
              <p:nvCxnSpPr>
                <p:cNvPr id="54" name="Straight Arrow Connector 53">
                  <a:extLst>
                    <a:ext uri="{FF2B5EF4-FFF2-40B4-BE49-F238E27FC236}">
                      <a16:creationId xmlns:a16="http://schemas.microsoft.com/office/drawing/2014/main" id="{8AA2FB52-7791-6166-497B-9348C80B086F}"/>
                    </a:ext>
                  </a:extLst>
                </p:cNvPr>
                <p:cNvCxnSpPr>
                  <a:cxnSpLocks/>
                </p:cNvCxnSpPr>
                <p:nvPr/>
              </p:nvCxnSpPr>
              <p:spPr>
                <a:xfrm flipV="1">
                  <a:off x="9738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55" name="Straight Arrow Connector 54">
                  <a:extLst>
                    <a:ext uri="{FF2B5EF4-FFF2-40B4-BE49-F238E27FC236}">
                      <a16:creationId xmlns:a16="http://schemas.microsoft.com/office/drawing/2014/main" id="{AFB0906C-B711-CD06-357D-02378FD8A6AD}"/>
                    </a:ext>
                  </a:extLst>
                </p:cNvPr>
                <p:cNvCxnSpPr>
                  <a:cxnSpLocks/>
                </p:cNvCxnSpPr>
                <p:nvPr/>
              </p:nvCxnSpPr>
              <p:spPr>
                <a:xfrm flipV="1">
                  <a:off x="11262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56" name="Straight Arrow Connector 55">
                  <a:extLst>
                    <a:ext uri="{FF2B5EF4-FFF2-40B4-BE49-F238E27FC236}">
                      <a16:creationId xmlns:a16="http://schemas.microsoft.com/office/drawing/2014/main" id="{3315179F-6DFC-591A-CA69-74D3C7D9458D}"/>
                    </a:ext>
                  </a:extLst>
                </p:cNvPr>
                <p:cNvCxnSpPr>
                  <a:cxnSpLocks/>
                </p:cNvCxnSpPr>
                <p:nvPr/>
              </p:nvCxnSpPr>
              <p:spPr>
                <a:xfrm flipV="1">
                  <a:off x="12786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57" name="Straight Arrow Connector 56">
                  <a:extLst>
                    <a:ext uri="{FF2B5EF4-FFF2-40B4-BE49-F238E27FC236}">
                      <a16:creationId xmlns:a16="http://schemas.microsoft.com/office/drawing/2014/main" id="{4DFDA6B9-9032-3DD0-0AF7-89D6BBAE13C4}"/>
                    </a:ext>
                  </a:extLst>
                </p:cNvPr>
                <p:cNvCxnSpPr>
                  <a:cxnSpLocks/>
                </p:cNvCxnSpPr>
                <p:nvPr/>
              </p:nvCxnSpPr>
              <p:spPr>
                <a:xfrm flipV="1">
                  <a:off x="14310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58" name="Straight Arrow Connector 57">
                  <a:extLst>
                    <a:ext uri="{FF2B5EF4-FFF2-40B4-BE49-F238E27FC236}">
                      <a16:creationId xmlns:a16="http://schemas.microsoft.com/office/drawing/2014/main" id="{5830DE53-1BAA-2E8D-7073-B38D5E300684}"/>
                    </a:ext>
                  </a:extLst>
                </p:cNvPr>
                <p:cNvCxnSpPr>
                  <a:cxnSpLocks/>
                </p:cNvCxnSpPr>
                <p:nvPr/>
              </p:nvCxnSpPr>
              <p:spPr>
                <a:xfrm flipV="1">
                  <a:off x="15834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59" name="Straight Arrow Connector 58">
                  <a:extLst>
                    <a:ext uri="{FF2B5EF4-FFF2-40B4-BE49-F238E27FC236}">
                      <a16:creationId xmlns:a16="http://schemas.microsoft.com/office/drawing/2014/main" id="{1632608A-1DF8-0E9C-E711-712CA5CFEC26}"/>
                    </a:ext>
                  </a:extLst>
                </p:cNvPr>
                <p:cNvCxnSpPr>
                  <a:cxnSpLocks/>
                </p:cNvCxnSpPr>
                <p:nvPr/>
              </p:nvCxnSpPr>
              <p:spPr>
                <a:xfrm flipV="1">
                  <a:off x="17358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60" name="Straight Arrow Connector 59">
                  <a:extLst>
                    <a:ext uri="{FF2B5EF4-FFF2-40B4-BE49-F238E27FC236}">
                      <a16:creationId xmlns:a16="http://schemas.microsoft.com/office/drawing/2014/main" id="{094AF228-0B82-4DF6-4923-CC4F160B6EB5}"/>
                    </a:ext>
                  </a:extLst>
                </p:cNvPr>
                <p:cNvCxnSpPr>
                  <a:cxnSpLocks/>
                </p:cNvCxnSpPr>
                <p:nvPr/>
              </p:nvCxnSpPr>
              <p:spPr>
                <a:xfrm flipV="1">
                  <a:off x="18882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61" name="Straight Arrow Connector 60">
                  <a:extLst>
                    <a:ext uri="{FF2B5EF4-FFF2-40B4-BE49-F238E27FC236}">
                      <a16:creationId xmlns:a16="http://schemas.microsoft.com/office/drawing/2014/main" id="{97CA4CE4-ED6C-5B67-2534-A0156C3FF16D}"/>
                    </a:ext>
                  </a:extLst>
                </p:cNvPr>
                <p:cNvCxnSpPr>
                  <a:cxnSpLocks/>
                </p:cNvCxnSpPr>
                <p:nvPr/>
              </p:nvCxnSpPr>
              <p:spPr>
                <a:xfrm flipV="1">
                  <a:off x="20406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grpSp>
        </p:grpSp>
      </p:grpSp>
      <p:grpSp>
        <p:nvGrpSpPr>
          <p:cNvPr id="126" name="Group 125">
            <a:extLst>
              <a:ext uri="{FF2B5EF4-FFF2-40B4-BE49-F238E27FC236}">
                <a16:creationId xmlns:a16="http://schemas.microsoft.com/office/drawing/2014/main" id="{23BC4348-79E3-EC16-CBE7-8A5EE818B41C}"/>
              </a:ext>
            </a:extLst>
          </p:cNvPr>
          <p:cNvGrpSpPr/>
          <p:nvPr/>
        </p:nvGrpSpPr>
        <p:grpSpPr>
          <a:xfrm>
            <a:off x="7261953" y="2451339"/>
            <a:ext cx="4008383" cy="2763887"/>
            <a:chOff x="7261953" y="2451339"/>
            <a:chExt cx="4008383" cy="2763887"/>
          </a:xfrm>
        </p:grpSpPr>
        <p:sp>
          <p:nvSpPr>
            <p:cNvPr id="62" name="Rectangle 61">
              <a:extLst>
                <a:ext uri="{FF2B5EF4-FFF2-40B4-BE49-F238E27FC236}">
                  <a16:creationId xmlns:a16="http://schemas.microsoft.com/office/drawing/2014/main" id="{BCE64826-25EB-F6B9-C7C6-08E94458D038}"/>
                </a:ext>
              </a:extLst>
            </p:cNvPr>
            <p:cNvSpPr/>
            <p:nvPr/>
          </p:nvSpPr>
          <p:spPr>
            <a:xfrm>
              <a:off x="7261953" y="3567207"/>
              <a:ext cx="3990026" cy="471924"/>
            </a:xfrm>
            <a:prstGeom prst="rect">
              <a:avLst/>
            </a:prstGeom>
            <a:solidFill>
              <a:schemeClr val="accent6"/>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altLang="zh-CN" sz="1200" b="0" i="0" u="none" strike="noStrike" cap="none" spc="0" normalizeH="0" baseline="0" dirty="0">
                  <a:ln>
                    <a:noFill/>
                  </a:ln>
                  <a:solidFill>
                    <a:schemeClr val="bg1"/>
                  </a:solidFill>
                  <a:effectLst/>
                  <a:uFillTx/>
                  <a:latin typeface="Helvetica Neue Medium"/>
                  <a:ea typeface="Helvetica Neue Medium"/>
                  <a:cs typeface="Helvetica Neue Medium"/>
                  <a:sym typeface="Helvetica Neue Medium"/>
                </a:rPr>
                <a:t>S</a:t>
              </a:r>
              <a:r>
                <a:rPr kumimoji="0" lang="en-US" sz="1200" b="0" i="0" u="none" strike="noStrike" cap="none" spc="0" normalizeH="0" baseline="0" dirty="0">
                  <a:ln>
                    <a:noFill/>
                  </a:ln>
                  <a:solidFill>
                    <a:schemeClr val="bg1"/>
                  </a:solidFill>
                  <a:effectLst/>
                  <a:uFillTx/>
                  <a:latin typeface="Helvetica Neue Medium"/>
                  <a:ea typeface="Helvetica Neue Medium"/>
                  <a:cs typeface="Helvetica Neue Medium"/>
                  <a:sym typeface="Helvetica Neue Medium"/>
                </a:rPr>
                <a:t>ystem Agent</a:t>
              </a:r>
            </a:p>
            <a:p>
              <a:pPr marL="0" marR="0" indent="0" algn="ctr" defTabSz="8255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chemeClr val="bg1"/>
                  </a:solidFill>
                  <a:effectLst/>
                  <a:uFillTx/>
                  <a:latin typeface="Helvetica Neue Medium"/>
                  <a:ea typeface="Helvetica Neue Medium"/>
                  <a:cs typeface="Helvetica Neue Medium"/>
                  <a:sym typeface="Helvetica Neue Medium"/>
                </a:rPr>
                <a:t>(</a:t>
              </a:r>
              <a:r>
                <a:rPr kumimoji="0" lang="en-US" sz="1200" b="1" u="none" strike="noStrike" cap="none" spc="0" normalizeH="0" baseline="0" dirty="0">
                  <a:ln>
                    <a:noFill/>
                  </a:ln>
                  <a:solidFill>
                    <a:schemeClr val="bg1"/>
                  </a:solidFill>
                  <a:uFillTx/>
                  <a:latin typeface="Inter"/>
                  <a:ea typeface="Helvetica Neue Medium"/>
                  <a:cs typeface="Helvetica Neue Medium"/>
                  <a:sym typeface="Helvetica Neue Medium"/>
                </a:rPr>
                <a:t>R</a:t>
              </a:r>
              <a:r>
                <a:rPr lang="en-US" sz="1200" b="1" i="0" dirty="0">
                  <a:solidFill>
                    <a:schemeClr val="bg1"/>
                  </a:solidFill>
                  <a:effectLst/>
                  <a:latin typeface="Inter"/>
                </a:rPr>
                <a:t>emaps Translates IRQ / Notifies CPU</a:t>
              </a:r>
              <a:r>
                <a:rPr kumimoji="0" lang="en-US" sz="1200" b="0" i="0" u="none" strike="noStrike" cap="none" spc="0" normalizeH="0" baseline="0" dirty="0">
                  <a:ln>
                    <a:noFill/>
                  </a:ln>
                  <a:solidFill>
                    <a:schemeClr val="bg1"/>
                  </a:solidFill>
                  <a:effectLst/>
                  <a:uFillTx/>
                  <a:latin typeface="Helvetica Neue Medium"/>
                  <a:ea typeface="Helvetica Neue Medium"/>
                  <a:cs typeface="Helvetica Neue Medium"/>
                  <a:sym typeface="Helvetica Neue Medium"/>
                </a:rPr>
                <a:t>)</a:t>
              </a:r>
            </a:p>
          </p:txBody>
        </p:sp>
        <p:grpSp>
          <p:nvGrpSpPr>
            <p:cNvPr id="63" name="Group 62">
              <a:extLst>
                <a:ext uri="{FF2B5EF4-FFF2-40B4-BE49-F238E27FC236}">
                  <a16:creationId xmlns:a16="http://schemas.microsoft.com/office/drawing/2014/main" id="{0A430752-6007-7DDC-8447-26FFF118DF0B}"/>
                </a:ext>
              </a:extLst>
            </p:cNvPr>
            <p:cNvGrpSpPr/>
            <p:nvPr/>
          </p:nvGrpSpPr>
          <p:grpSpPr>
            <a:xfrm>
              <a:off x="7755246" y="2451339"/>
              <a:ext cx="1121613" cy="851031"/>
              <a:chOff x="872176" y="1441320"/>
              <a:chExt cx="1121613" cy="851031"/>
            </a:xfrm>
          </p:grpSpPr>
          <p:sp>
            <p:nvSpPr>
              <p:cNvPr id="64" name="Flowchart: Connector 63">
                <a:extLst>
                  <a:ext uri="{FF2B5EF4-FFF2-40B4-BE49-F238E27FC236}">
                    <a16:creationId xmlns:a16="http://schemas.microsoft.com/office/drawing/2014/main" id="{F474A52C-2483-FB0D-8855-A87CB6033FCF}"/>
                  </a:ext>
                </a:extLst>
              </p:cNvPr>
              <p:cNvSpPr/>
              <p:nvPr/>
            </p:nvSpPr>
            <p:spPr>
              <a:xfrm>
                <a:off x="1104941" y="1441320"/>
                <a:ext cx="656081" cy="533777"/>
              </a:xfrm>
              <a:prstGeom prst="flowChartConnector">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9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CPU Core</a:t>
                </a:r>
              </a:p>
            </p:txBody>
          </p:sp>
          <p:sp>
            <p:nvSpPr>
              <p:cNvPr id="65" name="Rectangle 64">
                <a:extLst>
                  <a:ext uri="{FF2B5EF4-FFF2-40B4-BE49-F238E27FC236}">
                    <a16:creationId xmlns:a16="http://schemas.microsoft.com/office/drawing/2014/main" id="{5AA77155-C8BD-ADC3-3CE5-48E0B5DFFD2A}"/>
                  </a:ext>
                </a:extLst>
              </p:cNvPr>
              <p:cNvSpPr/>
              <p:nvPr/>
            </p:nvSpPr>
            <p:spPr>
              <a:xfrm>
                <a:off x="872176" y="2005093"/>
                <a:ext cx="1121613" cy="287258"/>
              </a:xfrm>
              <a:prstGeom prst="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Local-APIC</a:t>
                </a:r>
              </a:p>
            </p:txBody>
          </p:sp>
        </p:grpSp>
        <p:grpSp>
          <p:nvGrpSpPr>
            <p:cNvPr id="66" name="Group 65">
              <a:extLst>
                <a:ext uri="{FF2B5EF4-FFF2-40B4-BE49-F238E27FC236}">
                  <a16:creationId xmlns:a16="http://schemas.microsoft.com/office/drawing/2014/main" id="{CB1B4C16-6277-0194-F18B-1F449664D53A}"/>
                </a:ext>
              </a:extLst>
            </p:cNvPr>
            <p:cNvGrpSpPr/>
            <p:nvPr/>
          </p:nvGrpSpPr>
          <p:grpSpPr>
            <a:xfrm>
              <a:off x="9582326" y="2451339"/>
              <a:ext cx="1121613" cy="851031"/>
              <a:chOff x="872176" y="1441320"/>
              <a:chExt cx="1121613" cy="851031"/>
            </a:xfrm>
          </p:grpSpPr>
          <p:sp>
            <p:nvSpPr>
              <p:cNvPr id="67" name="Flowchart: Connector 66">
                <a:extLst>
                  <a:ext uri="{FF2B5EF4-FFF2-40B4-BE49-F238E27FC236}">
                    <a16:creationId xmlns:a16="http://schemas.microsoft.com/office/drawing/2014/main" id="{B9C19AAB-4343-090D-5820-8CFF5E361B12}"/>
                  </a:ext>
                </a:extLst>
              </p:cNvPr>
              <p:cNvSpPr/>
              <p:nvPr/>
            </p:nvSpPr>
            <p:spPr>
              <a:xfrm>
                <a:off x="1104941" y="1441320"/>
                <a:ext cx="656081" cy="533777"/>
              </a:xfrm>
              <a:prstGeom prst="flowChartConnector">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9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CPU Core</a:t>
                </a:r>
              </a:p>
            </p:txBody>
          </p:sp>
          <p:sp>
            <p:nvSpPr>
              <p:cNvPr id="68" name="Rectangle 67">
                <a:extLst>
                  <a:ext uri="{FF2B5EF4-FFF2-40B4-BE49-F238E27FC236}">
                    <a16:creationId xmlns:a16="http://schemas.microsoft.com/office/drawing/2014/main" id="{6EC1C993-2B0A-5927-AEEA-39B39D825D6E}"/>
                  </a:ext>
                </a:extLst>
              </p:cNvPr>
              <p:cNvSpPr/>
              <p:nvPr/>
            </p:nvSpPr>
            <p:spPr>
              <a:xfrm>
                <a:off x="872176" y="2005093"/>
                <a:ext cx="1121613" cy="287258"/>
              </a:xfrm>
              <a:prstGeom prst="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Local-APIC</a:t>
                </a:r>
              </a:p>
            </p:txBody>
          </p:sp>
        </p:grpSp>
        <p:grpSp>
          <p:nvGrpSpPr>
            <p:cNvPr id="69" name="Group 68">
              <a:extLst>
                <a:ext uri="{FF2B5EF4-FFF2-40B4-BE49-F238E27FC236}">
                  <a16:creationId xmlns:a16="http://schemas.microsoft.com/office/drawing/2014/main" id="{F34A0142-23AF-0E4E-A881-6A87CD7AE768}"/>
                </a:ext>
              </a:extLst>
            </p:cNvPr>
            <p:cNvGrpSpPr/>
            <p:nvPr/>
          </p:nvGrpSpPr>
          <p:grpSpPr>
            <a:xfrm>
              <a:off x="7261953" y="4356385"/>
              <a:ext cx="1159934" cy="858841"/>
              <a:chOff x="721892" y="4356385"/>
              <a:chExt cx="1159934" cy="858841"/>
            </a:xfrm>
          </p:grpSpPr>
          <p:sp>
            <p:nvSpPr>
              <p:cNvPr id="70" name="Cylinder 69">
                <a:extLst>
                  <a:ext uri="{FF2B5EF4-FFF2-40B4-BE49-F238E27FC236}">
                    <a16:creationId xmlns:a16="http://schemas.microsoft.com/office/drawing/2014/main" id="{CA12DE06-2CC2-C335-6C48-19B025B52567}"/>
                  </a:ext>
                </a:extLst>
              </p:cNvPr>
              <p:cNvSpPr/>
              <p:nvPr/>
            </p:nvSpPr>
            <p:spPr>
              <a:xfrm>
                <a:off x="721892" y="4758502"/>
                <a:ext cx="1159934" cy="456724"/>
              </a:xfrm>
              <a:prstGeom prst="can">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SSD1</a:t>
                </a:r>
              </a:p>
            </p:txBody>
          </p:sp>
          <p:grpSp>
            <p:nvGrpSpPr>
              <p:cNvPr id="71" name="Group 70">
                <a:extLst>
                  <a:ext uri="{FF2B5EF4-FFF2-40B4-BE49-F238E27FC236}">
                    <a16:creationId xmlns:a16="http://schemas.microsoft.com/office/drawing/2014/main" id="{40DBA9CC-CF30-F0C0-EEA9-F0C9019B9F56}"/>
                  </a:ext>
                </a:extLst>
              </p:cNvPr>
              <p:cNvGrpSpPr/>
              <p:nvPr/>
            </p:nvGrpSpPr>
            <p:grpSpPr>
              <a:xfrm>
                <a:off x="768459" y="4356385"/>
                <a:ext cx="1066800" cy="288000"/>
                <a:chOff x="973819" y="3945467"/>
                <a:chExt cx="1066800" cy="288000"/>
              </a:xfrm>
            </p:grpSpPr>
            <p:cxnSp>
              <p:nvCxnSpPr>
                <p:cNvPr id="72" name="Straight Arrow Connector 71">
                  <a:extLst>
                    <a:ext uri="{FF2B5EF4-FFF2-40B4-BE49-F238E27FC236}">
                      <a16:creationId xmlns:a16="http://schemas.microsoft.com/office/drawing/2014/main" id="{584223D3-15F3-2D29-D412-B0AA21635B27}"/>
                    </a:ext>
                  </a:extLst>
                </p:cNvPr>
                <p:cNvCxnSpPr>
                  <a:cxnSpLocks/>
                </p:cNvCxnSpPr>
                <p:nvPr/>
              </p:nvCxnSpPr>
              <p:spPr>
                <a:xfrm flipV="1">
                  <a:off x="973819" y="3945467"/>
                  <a:ext cx="0" cy="288000"/>
                </a:xfrm>
                <a:prstGeom prst="straightConnector1">
                  <a:avLst/>
                </a:prstGeom>
                <a:noFill/>
                <a:ln w="508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73" name="Straight Arrow Connector 72">
                  <a:extLst>
                    <a:ext uri="{FF2B5EF4-FFF2-40B4-BE49-F238E27FC236}">
                      <a16:creationId xmlns:a16="http://schemas.microsoft.com/office/drawing/2014/main" id="{5BB5CD30-55D4-B29F-3FE1-BCB54E7A9A5B}"/>
                    </a:ext>
                  </a:extLst>
                </p:cNvPr>
                <p:cNvCxnSpPr>
                  <a:cxnSpLocks/>
                </p:cNvCxnSpPr>
                <p:nvPr/>
              </p:nvCxnSpPr>
              <p:spPr>
                <a:xfrm flipV="1">
                  <a:off x="1126219" y="3945467"/>
                  <a:ext cx="0" cy="288000"/>
                </a:xfrm>
                <a:prstGeom prst="straightConnector1">
                  <a:avLst/>
                </a:prstGeom>
                <a:noFill/>
                <a:ln w="25400" cap="flat">
                  <a:solidFill>
                    <a:schemeClr val="bg1">
                      <a:lumMod val="65000"/>
                    </a:schemeClr>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74" name="Straight Arrow Connector 73">
                  <a:extLst>
                    <a:ext uri="{FF2B5EF4-FFF2-40B4-BE49-F238E27FC236}">
                      <a16:creationId xmlns:a16="http://schemas.microsoft.com/office/drawing/2014/main" id="{9E11B09F-D548-9216-7612-D148CCF6E242}"/>
                    </a:ext>
                  </a:extLst>
                </p:cNvPr>
                <p:cNvCxnSpPr>
                  <a:cxnSpLocks/>
                </p:cNvCxnSpPr>
                <p:nvPr/>
              </p:nvCxnSpPr>
              <p:spPr>
                <a:xfrm flipV="1">
                  <a:off x="1278619" y="3945467"/>
                  <a:ext cx="0" cy="288000"/>
                </a:xfrm>
                <a:prstGeom prst="straightConnector1">
                  <a:avLst/>
                </a:prstGeom>
                <a:noFill/>
                <a:ln w="25400" cap="flat">
                  <a:solidFill>
                    <a:schemeClr val="bg1">
                      <a:lumMod val="65000"/>
                    </a:schemeClr>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75" name="Straight Arrow Connector 74">
                  <a:extLst>
                    <a:ext uri="{FF2B5EF4-FFF2-40B4-BE49-F238E27FC236}">
                      <a16:creationId xmlns:a16="http://schemas.microsoft.com/office/drawing/2014/main" id="{EF4BB805-55A4-FB3B-AEC2-BE76F64D3A3D}"/>
                    </a:ext>
                  </a:extLst>
                </p:cNvPr>
                <p:cNvCxnSpPr>
                  <a:cxnSpLocks/>
                </p:cNvCxnSpPr>
                <p:nvPr/>
              </p:nvCxnSpPr>
              <p:spPr>
                <a:xfrm flipV="1">
                  <a:off x="1431019" y="3945467"/>
                  <a:ext cx="0" cy="288000"/>
                </a:xfrm>
                <a:prstGeom prst="straightConnector1">
                  <a:avLst/>
                </a:prstGeom>
                <a:noFill/>
                <a:ln w="25400" cap="flat">
                  <a:solidFill>
                    <a:schemeClr val="bg1">
                      <a:lumMod val="65000"/>
                    </a:schemeClr>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76" name="Straight Arrow Connector 75">
                  <a:extLst>
                    <a:ext uri="{FF2B5EF4-FFF2-40B4-BE49-F238E27FC236}">
                      <a16:creationId xmlns:a16="http://schemas.microsoft.com/office/drawing/2014/main" id="{F887D7A8-2E95-B74A-92DA-AE38B783A03D}"/>
                    </a:ext>
                  </a:extLst>
                </p:cNvPr>
                <p:cNvCxnSpPr>
                  <a:cxnSpLocks/>
                </p:cNvCxnSpPr>
                <p:nvPr/>
              </p:nvCxnSpPr>
              <p:spPr>
                <a:xfrm flipV="1">
                  <a:off x="1583419" y="3945467"/>
                  <a:ext cx="0" cy="288000"/>
                </a:xfrm>
                <a:prstGeom prst="straightConnector1">
                  <a:avLst/>
                </a:prstGeom>
                <a:noFill/>
                <a:ln w="508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77" name="Straight Arrow Connector 76">
                  <a:extLst>
                    <a:ext uri="{FF2B5EF4-FFF2-40B4-BE49-F238E27FC236}">
                      <a16:creationId xmlns:a16="http://schemas.microsoft.com/office/drawing/2014/main" id="{CEC94FC0-026C-B2CD-173D-8F3FFFC21BE1}"/>
                    </a:ext>
                  </a:extLst>
                </p:cNvPr>
                <p:cNvCxnSpPr>
                  <a:cxnSpLocks/>
                </p:cNvCxnSpPr>
                <p:nvPr/>
              </p:nvCxnSpPr>
              <p:spPr>
                <a:xfrm flipV="1">
                  <a:off x="1735819" y="3945467"/>
                  <a:ext cx="0" cy="288000"/>
                </a:xfrm>
                <a:prstGeom prst="straightConnector1">
                  <a:avLst/>
                </a:prstGeom>
                <a:noFill/>
                <a:ln w="25400" cap="flat">
                  <a:solidFill>
                    <a:schemeClr val="bg1">
                      <a:lumMod val="65000"/>
                    </a:schemeClr>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78" name="Straight Arrow Connector 77">
                  <a:extLst>
                    <a:ext uri="{FF2B5EF4-FFF2-40B4-BE49-F238E27FC236}">
                      <a16:creationId xmlns:a16="http://schemas.microsoft.com/office/drawing/2014/main" id="{CC0D218E-1086-D220-2BB7-D7619E615614}"/>
                    </a:ext>
                  </a:extLst>
                </p:cNvPr>
                <p:cNvCxnSpPr>
                  <a:cxnSpLocks/>
                </p:cNvCxnSpPr>
                <p:nvPr/>
              </p:nvCxnSpPr>
              <p:spPr>
                <a:xfrm flipV="1">
                  <a:off x="1888219" y="3945467"/>
                  <a:ext cx="0" cy="288000"/>
                </a:xfrm>
                <a:prstGeom prst="straightConnector1">
                  <a:avLst/>
                </a:prstGeom>
                <a:noFill/>
                <a:ln w="25400" cap="flat">
                  <a:solidFill>
                    <a:schemeClr val="bg1">
                      <a:lumMod val="65000"/>
                    </a:schemeClr>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79" name="Straight Arrow Connector 78">
                  <a:extLst>
                    <a:ext uri="{FF2B5EF4-FFF2-40B4-BE49-F238E27FC236}">
                      <a16:creationId xmlns:a16="http://schemas.microsoft.com/office/drawing/2014/main" id="{B989F658-6D8A-D745-2EF4-966DC83B53CD}"/>
                    </a:ext>
                  </a:extLst>
                </p:cNvPr>
                <p:cNvCxnSpPr>
                  <a:cxnSpLocks/>
                </p:cNvCxnSpPr>
                <p:nvPr/>
              </p:nvCxnSpPr>
              <p:spPr>
                <a:xfrm flipV="1">
                  <a:off x="2040619" y="3945467"/>
                  <a:ext cx="0" cy="288000"/>
                </a:xfrm>
                <a:prstGeom prst="straightConnector1">
                  <a:avLst/>
                </a:prstGeom>
                <a:noFill/>
                <a:ln w="25400" cap="flat">
                  <a:solidFill>
                    <a:schemeClr val="bg1">
                      <a:lumMod val="65000"/>
                    </a:schemeClr>
                  </a:solidFill>
                  <a:prstDash val="sysDash"/>
                  <a:miter lim="400000"/>
                  <a:tailEnd type="triangle"/>
                </a:ln>
                <a:effectLst/>
                <a:sp3d/>
              </p:spPr>
              <p:style>
                <a:lnRef idx="0">
                  <a:scrgbClr r="0" g="0" b="0"/>
                </a:lnRef>
                <a:fillRef idx="0">
                  <a:scrgbClr r="0" g="0" b="0"/>
                </a:fillRef>
                <a:effectRef idx="0">
                  <a:scrgbClr r="0" g="0" b="0"/>
                </a:effectRef>
                <a:fontRef idx="none"/>
              </p:style>
            </p:cxnSp>
          </p:grpSp>
        </p:grpSp>
        <p:grpSp>
          <p:nvGrpSpPr>
            <p:cNvPr id="103" name="Group 102">
              <a:extLst>
                <a:ext uri="{FF2B5EF4-FFF2-40B4-BE49-F238E27FC236}">
                  <a16:creationId xmlns:a16="http://schemas.microsoft.com/office/drawing/2014/main" id="{A4EAB04B-5B1F-CAAE-5CAC-7F6306615091}"/>
                </a:ext>
              </a:extLst>
            </p:cNvPr>
            <p:cNvGrpSpPr/>
            <p:nvPr/>
          </p:nvGrpSpPr>
          <p:grpSpPr>
            <a:xfrm>
              <a:off x="8724932" y="4356385"/>
              <a:ext cx="1159934" cy="858841"/>
              <a:chOff x="721892" y="4356385"/>
              <a:chExt cx="1159934" cy="858841"/>
            </a:xfrm>
          </p:grpSpPr>
          <p:sp>
            <p:nvSpPr>
              <p:cNvPr id="104" name="Cylinder 103">
                <a:extLst>
                  <a:ext uri="{FF2B5EF4-FFF2-40B4-BE49-F238E27FC236}">
                    <a16:creationId xmlns:a16="http://schemas.microsoft.com/office/drawing/2014/main" id="{1F52D660-13B5-3B30-9566-85CEA4B10D43}"/>
                  </a:ext>
                </a:extLst>
              </p:cNvPr>
              <p:cNvSpPr/>
              <p:nvPr/>
            </p:nvSpPr>
            <p:spPr>
              <a:xfrm>
                <a:off x="721892" y="4758502"/>
                <a:ext cx="1159934" cy="456724"/>
              </a:xfrm>
              <a:prstGeom prst="can">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SSD2</a:t>
                </a:r>
              </a:p>
            </p:txBody>
          </p:sp>
          <p:grpSp>
            <p:nvGrpSpPr>
              <p:cNvPr id="105" name="Group 104">
                <a:extLst>
                  <a:ext uri="{FF2B5EF4-FFF2-40B4-BE49-F238E27FC236}">
                    <a16:creationId xmlns:a16="http://schemas.microsoft.com/office/drawing/2014/main" id="{A79053F7-3B9C-45C7-F901-E33930A447FA}"/>
                  </a:ext>
                </a:extLst>
              </p:cNvPr>
              <p:cNvGrpSpPr/>
              <p:nvPr/>
            </p:nvGrpSpPr>
            <p:grpSpPr>
              <a:xfrm>
                <a:off x="768459" y="4356385"/>
                <a:ext cx="1066800" cy="288000"/>
                <a:chOff x="973819" y="3945467"/>
                <a:chExt cx="1066800" cy="288000"/>
              </a:xfrm>
            </p:grpSpPr>
            <p:cxnSp>
              <p:nvCxnSpPr>
                <p:cNvPr id="106" name="Straight Arrow Connector 105">
                  <a:extLst>
                    <a:ext uri="{FF2B5EF4-FFF2-40B4-BE49-F238E27FC236}">
                      <a16:creationId xmlns:a16="http://schemas.microsoft.com/office/drawing/2014/main" id="{5958445A-A8EA-CB75-C624-CC15E1ADFE96}"/>
                    </a:ext>
                  </a:extLst>
                </p:cNvPr>
                <p:cNvCxnSpPr>
                  <a:cxnSpLocks/>
                </p:cNvCxnSpPr>
                <p:nvPr/>
              </p:nvCxnSpPr>
              <p:spPr>
                <a:xfrm flipV="1">
                  <a:off x="973819" y="3945467"/>
                  <a:ext cx="0" cy="288000"/>
                </a:xfrm>
                <a:prstGeom prst="straightConnector1">
                  <a:avLst/>
                </a:prstGeom>
                <a:noFill/>
                <a:ln w="508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07" name="Straight Arrow Connector 106">
                  <a:extLst>
                    <a:ext uri="{FF2B5EF4-FFF2-40B4-BE49-F238E27FC236}">
                      <a16:creationId xmlns:a16="http://schemas.microsoft.com/office/drawing/2014/main" id="{71F9E3F1-D746-697C-654A-7B10C77EDA8C}"/>
                    </a:ext>
                  </a:extLst>
                </p:cNvPr>
                <p:cNvCxnSpPr>
                  <a:cxnSpLocks/>
                </p:cNvCxnSpPr>
                <p:nvPr/>
              </p:nvCxnSpPr>
              <p:spPr>
                <a:xfrm flipV="1">
                  <a:off x="1126219" y="3945467"/>
                  <a:ext cx="0" cy="288000"/>
                </a:xfrm>
                <a:prstGeom prst="straightConnector1">
                  <a:avLst/>
                </a:prstGeom>
                <a:noFill/>
                <a:ln w="25400" cap="flat">
                  <a:solidFill>
                    <a:schemeClr val="bg1">
                      <a:lumMod val="65000"/>
                    </a:schemeClr>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108" name="Straight Arrow Connector 107">
                  <a:extLst>
                    <a:ext uri="{FF2B5EF4-FFF2-40B4-BE49-F238E27FC236}">
                      <a16:creationId xmlns:a16="http://schemas.microsoft.com/office/drawing/2014/main" id="{7A7A7883-B7BA-9D3E-8FC0-876CED0EDE8D}"/>
                    </a:ext>
                  </a:extLst>
                </p:cNvPr>
                <p:cNvCxnSpPr>
                  <a:cxnSpLocks/>
                </p:cNvCxnSpPr>
                <p:nvPr/>
              </p:nvCxnSpPr>
              <p:spPr>
                <a:xfrm flipV="1">
                  <a:off x="1278619" y="3945467"/>
                  <a:ext cx="0" cy="288000"/>
                </a:xfrm>
                <a:prstGeom prst="straightConnector1">
                  <a:avLst/>
                </a:prstGeom>
                <a:noFill/>
                <a:ln w="25400" cap="flat">
                  <a:solidFill>
                    <a:schemeClr val="bg1">
                      <a:lumMod val="65000"/>
                    </a:schemeClr>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109" name="Straight Arrow Connector 108">
                  <a:extLst>
                    <a:ext uri="{FF2B5EF4-FFF2-40B4-BE49-F238E27FC236}">
                      <a16:creationId xmlns:a16="http://schemas.microsoft.com/office/drawing/2014/main" id="{2960EEBC-43C1-A495-5F78-56C56A50726C}"/>
                    </a:ext>
                  </a:extLst>
                </p:cNvPr>
                <p:cNvCxnSpPr>
                  <a:cxnSpLocks/>
                </p:cNvCxnSpPr>
                <p:nvPr/>
              </p:nvCxnSpPr>
              <p:spPr>
                <a:xfrm flipV="1">
                  <a:off x="1431019" y="3945467"/>
                  <a:ext cx="0" cy="288000"/>
                </a:xfrm>
                <a:prstGeom prst="straightConnector1">
                  <a:avLst/>
                </a:prstGeom>
                <a:noFill/>
                <a:ln w="25400" cap="flat">
                  <a:solidFill>
                    <a:schemeClr val="bg1">
                      <a:lumMod val="65000"/>
                    </a:schemeClr>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110" name="Straight Arrow Connector 109">
                  <a:extLst>
                    <a:ext uri="{FF2B5EF4-FFF2-40B4-BE49-F238E27FC236}">
                      <a16:creationId xmlns:a16="http://schemas.microsoft.com/office/drawing/2014/main" id="{5FF1546A-F9E1-AB03-0FB2-628EB034622E}"/>
                    </a:ext>
                  </a:extLst>
                </p:cNvPr>
                <p:cNvCxnSpPr>
                  <a:cxnSpLocks/>
                </p:cNvCxnSpPr>
                <p:nvPr/>
              </p:nvCxnSpPr>
              <p:spPr>
                <a:xfrm flipV="1">
                  <a:off x="1583419" y="3945467"/>
                  <a:ext cx="0" cy="288000"/>
                </a:xfrm>
                <a:prstGeom prst="straightConnector1">
                  <a:avLst/>
                </a:prstGeom>
                <a:noFill/>
                <a:ln w="508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11" name="Straight Arrow Connector 110">
                  <a:extLst>
                    <a:ext uri="{FF2B5EF4-FFF2-40B4-BE49-F238E27FC236}">
                      <a16:creationId xmlns:a16="http://schemas.microsoft.com/office/drawing/2014/main" id="{6643A8D5-3C55-829C-26F8-EE2A5AC5544B}"/>
                    </a:ext>
                  </a:extLst>
                </p:cNvPr>
                <p:cNvCxnSpPr>
                  <a:cxnSpLocks/>
                </p:cNvCxnSpPr>
                <p:nvPr/>
              </p:nvCxnSpPr>
              <p:spPr>
                <a:xfrm flipV="1">
                  <a:off x="1735819" y="3945467"/>
                  <a:ext cx="0" cy="288000"/>
                </a:xfrm>
                <a:prstGeom prst="straightConnector1">
                  <a:avLst/>
                </a:prstGeom>
                <a:noFill/>
                <a:ln w="25400" cap="flat">
                  <a:solidFill>
                    <a:schemeClr val="bg1">
                      <a:lumMod val="65000"/>
                    </a:schemeClr>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112" name="Straight Arrow Connector 111">
                  <a:extLst>
                    <a:ext uri="{FF2B5EF4-FFF2-40B4-BE49-F238E27FC236}">
                      <a16:creationId xmlns:a16="http://schemas.microsoft.com/office/drawing/2014/main" id="{B68FDE37-0C4C-45B5-3E6F-9DAA1CB21A77}"/>
                    </a:ext>
                  </a:extLst>
                </p:cNvPr>
                <p:cNvCxnSpPr>
                  <a:cxnSpLocks/>
                </p:cNvCxnSpPr>
                <p:nvPr/>
              </p:nvCxnSpPr>
              <p:spPr>
                <a:xfrm flipV="1">
                  <a:off x="1888219" y="3945467"/>
                  <a:ext cx="0" cy="288000"/>
                </a:xfrm>
                <a:prstGeom prst="straightConnector1">
                  <a:avLst/>
                </a:prstGeom>
                <a:noFill/>
                <a:ln w="25400" cap="flat">
                  <a:solidFill>
                    <a:schemeClr val="bg1">
                      <a:lumMod val="65000"/>
                    </a:schemeClr>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113" name="Straight Arrow Connector 112">
                  <a:extLst>
                    <a:ext uri="{FF2B5EF4-FFF2-40B4-BE49-F238E27FC236}">
                      <a16:creationId xmlns:a16="http://schemas.microsoft.com/office/drawing/2014/main" id="{F61EEF22-0955-EB43-EFC8-915F12191C78}"/>
                    </a:ext>
                  </a:extLst>
                </p:cNvPr>
                <p:cNvCxnSpPr>
                  <a:cxnSpLocks/>
                </p:cNvCxnSpPr>
                <p:nvPr/>
              </p:nvCxnSpPr>
              <p:spPr>
                <a:xfrm flipV="1">
                  <a:off x="2040619" y="3945467"/>
                  <a:ext cx="0" cy="288000"/>
                </a:xfrm>
                <a:prstGeom prst="straightConnector1">
                  <a:avLst/>
                </a:prstGeom>
                <a:noFill/>
                <a:ln w="25400" cap="flat">
                  <a:solidFill>
                    <a:schemeClr val="bg1">
                      <a:lumMod val="65000"/>
                    </a:schemeClr>
                  </a:solidFill>
                  <a:prstDash val="sysDash"/>
                  <a:miter lim="400000"/>
                  <a:tailEnd type="triangle"/>
                </a:ln>
                <a:effectLst/>
                <a:sp3d/>
              </p:spPr>
              <p:style>
                <a:lnRef idx="0">
                  <a:scrgbClr r="0" g="0" b="0"/>
                </a:lnRef>
                <a:fillRef idx="0">
                  <a:scrgbClr r="0" g="0" b="0"/>
                </a:fillRef>
                <a:effectRef idx="0">
                  <a:scrgbClr r="0" g="0" b="0"/>
                </a:effectRef>
                <a:fontRef idx="none"/>
              </p:style>
            </p:cxnSp>
          </p:grpSp>
        </p:grpSp>
        <p:grpSp>
          <p:nvGrpSpPr>
            <p:cNvPr id="114" name="Group 113">
              <a:extLst>
                <a:ext uri="{FF2B5EF4-FFF2-40B4-BE49-F238E27FC236}">
                  <a16:creationId xmlns:a16="http://schemas.microsoft.com/office/drawing/2014/main" id="{B0B899B0-FAAF-639C-3CC7-1312A584B0F3}"/>
                </a:ext>
              </a:extLst>
            </p:cNvPr>
            <p:cNvGrpSpPr/>
            <p:nvPr/>
          </p:nvGrpSpPr>
          <p:grpSpPr>
            <a:xfrm>
              <a:off x="10110402" y="4356385"/>
              <a:ext cx="1159934" cy="858841"/>
              <a:chOff x="721892" y="4356385"/>
              <a:chExt cx="1159934" cy="858841"/>
            </a:xfrm>
          </p:grpSpPr>
          <p:sp>
            <p:nvSpPr>
              <p:cNvPr id="115" name="Cylinder 114">
                <a:extLst>
                  <a:ext uri="{FF2B5EF4-FFF2-40B4-BE49-F238E27FC236}">
                    <a16:creationId xmlns:a16="http://schemas.microsoft.com/office/drawing/2014/main" id="{8645FBCB-CA36-39D1-E741-F7F17E32D19E}"/>
                  </a:ext>
                </a:extLst>
              </p:cNvPr>
              <p:cNvSpPr/>
              <p:nvPr/>
            </p:nvSpPr>
            <p:spPr>
              <a:xfrm>
                <a:off x="721892" y="4758502"/>
                <a:ext cx="1159934" cy="456724"/>
              </a:xfrm>
              <a:prstGeom prst="can">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SSD3</a:t>
                </a:r>
              </a:p>
            </p:txBody>
          </p:sp>
          <p:grpSp>
            <p:nvGrpSpPr>
              <p:cNvPr id="116" name="Group 115">
                <a:extLst>
                  <a:ext uri="{FF2B5EF4-FFF2-40B4-BE49-F238E27FC236}">
                    <a16:creationId xmlns:a16="http://schemas.microsoft.com/office/drawing/2014/main" id="{981A5E5D-E8CC-E5C6-B21C-A34852B0191F}"/>
                  </a:ext>
                </a:extLst>
              </p:cNvPr>
              <p:cNvGrpSpPr/>
              <p:nvPr/>
            </p:nvGrpSpPr>
            <p:grpSpPr>
              <a:xfrm>
                <a:off x="768459" y="4356385"/>
                <a:ext cx="1066800" cy="288000"/>
                <a:chOff x="973819" y="3945467"/>
                <a:chExt cx="1066800" cy="288000"/>
              </a:xfrm>
            </p:grpSpPr>
            <p:cxnSp>
              <p:nvCxnSpPr>
                <p:cNvPr id="117" name="Straight Arrow Connector 116">
                  <a:extLst>
                    <a:ext uri="{FF2B5EF4-FFF2-40B4-BE49-F238E27FC236}">
                      <a16:creationId xmlns:a16="http://schemas.microsoft.com/office/drawing/2014/main" id="{C2658DB8-D3AF-01F7-B126-380327BC09E9}"/>
                    </a:ext>
                  </a:extLst>
                </p:cNvPr>
                <p:cNvCxnSpPr>
                  <a:cxnSpLocks/>
                </p:cNvCxnSpPr>
                <p:nvPr/>
              </p:nvCxnSpPr>
              <p:spPr>
                <a:xfrm flipV="1">
                  <a:off x="973819" y="3945467"/>
                  <a:ext cx="0" cy="288000"/>
                </a:xfrm>
                <a:prstGeom prst="straightConnector1">
                  <a:avLst/>
                </a:prstGeom>
                <a:noFill/>
                <a:ln w="508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18" name="Straight Arrow Connector 117">
                  <a:extLst>
                    <a:ext uri="{FF2B5EF4-FFF2-40B4-BE49-F238E27FC236}">
                      <a16:creationId xmlns:a16="http://schemas.microsoft.com/office/drawing/2014/main" id="{8116BE8A-F52C-9810-5CD1-7F11EF21C47E}"/>
                    </a:ext>
                  </a:extLst>
                </p:cNvPr>
                <p:cNvCxnSpPr>
                  <a:cxnSpLocks/>
                </p:cNvCxnSpPr>
                <p:nvPr/>
              </p:nvCxnSpPr>
              <p:spPr>
                <a:xfrm flipV="1">
                  <a:off x="1126219" y="3945467"/>
                  <a:ext cx="0" cy="288000"/>
                </a:xfrm>
                <a:prstGeom prst="straightConnector1">
                  <a:avLst/>
                </a:prstGeom>
                <a:noFill/>
                <a:ln w="25400" cap="flat">
                  <a:solidFill>
                    <a:schemeClr val="bg1">
                      <a:lumMod val="65000"/>
                    </a:schemeClr>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119" name="Straight Arrow Connector 118">
                  <a:extLst>
                    <a:ext uri="{FF2B5EF4-FFF2-40B4-BE49-F238E27FC236}">
                      <a16:creationId xmlns:a16="http://schemas.microsoft.com/office/drawing/2014/main" id="{CFE4749D-455B-B318-8391-63CA2E578D83}"/>
                    </a:ext>
                  </a:extLst>
                </p:cNvPr>
                <p:cNvCxnSpPr>
                  <a:cxnSpLocks/>
                </p:cNvCxnSpPr>
                <p:nvPr/>
              </p:nvCxnSpPr>
              <p:spPr>
                <a:xfrm flipV="1">
                  <a:off x="1278619" y="3945467"/>
                  <a:ext cx="0" cy="288000"/>
                </a:xfrm>
                <a:prstGeom prst="straightConnector1">
                  <a:avLst/>
                </a:prstGeom>
                <a:noFill/>
                <a:ln w="25400" cap="flat">
                  <a:solidFill>
                    <a:schemeClr val="bg1">
                      <a:lumMod val="65000"/>
                    </a:schemeClr>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120" name="Straight Arrow Connector 119">
                  <a:extLst>
                    <a:ext uri="{FF2B5EF4-FFF2-40B4-BE49-F238E27FC236}">
                      <a16:creationId xmlns:a16="http://schemas.microsoft.com/office/drawing/2014/main" id="{02B8DD20-B9C2-3BD5-253D-63E12B9CE04A}"/>
                    </a:ext>
                  </a:extLst>
                </p:cNvPr>
                <p:cNvCxnSpPr>
                  <a:cxnSpLocks/>
                </p:cNvCxnSpPr>
                <p:nvPr/>
              </p:nvCxnSpPr>
              <p:spPr>
                <a:xfrm flipV="1">
                  <a:off x="1431019" y="3945467"/>
                  <a:ext cx="0" cy="288000"/>
                </a:xfrm>
                <a:prstGeom prst="straightConnector1">
                  <a:avLst/>
                </a:prstGeom>
                <a:noFill/>
                <a:ln w="25400" cap="flat">
                  <a:solidFill>
                    <a:schemeClr val="bg1">
                      <a:lumMod val="65000"/>
                    </a:schemeClr>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121" name="Straight Arrow Connector 120">
                  <a:extLst>
                    <a:ext uri="{FF2B5EF4-FFF2-40B4-BE49-F238E27FC236}">
                      <a16:creationId xmlns:a16="http://schemas.microsoft.com/office/drawing/2014/main" id="{8AA94C81-6930-A9F3-D74E-373E3927BED0}"/>
                    </a:ext>
                  </a:extLst>
                </p:cNvPr>
                <p:cNvCxnSpPr>
                  <a:cxnSpLocks/>
                </p:cNvCxnSpPr>
                <p:nvPr/>
              </p:nvCxnSpPr>
              <p:spPr>
                <a:xfrm flipV="1">
                  <a:off x="1583419" y="3945467"/>
                  <a:ext cx="0" cy="288000"/>
                </a:xfrm>
                <a:prstGeom prst="straightConnector1">
                  <a:avLst/>
                </a:prstGeom>
                <a:noFill/>
                <a:ln w="508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22" name="Straight Arrow Connector 121">
                  <a:extLst>
                    <a:ext uri="{FF2B5EF4-FFF2-40B4-BE49-F238E27FC236}">
                      <a16:creationId xmlns:a16="http://schemas.microsoft.com/office/drawing/2014/main" id="{7E43CCCA-D3D7-119D-0233-AE3602DA42B3}"/>
                    </a:ext>
                  </a:extLst>
                </p:cNvPr>
                <p:cNvCxnSpPr>
                  <a:cxnSpLocks/>
                </p:cNvCxnSpPr>
                <p:nvPr/>
              </p:nvCxnSpPr>
              <p:spPr>
                <a:xfrm flipV="1">
                  <a:off x="1735819" y="3945467"/>
                  <a:ext cx="0" cy="288000"/>
                </a:xfrm>
                <a:prstGeom prst="straightConnector1">
                  <a:avLst/>
                </a:prstGeom>
                <a:noFill/>
                <a:ln w="25400" cap="flat">
                  <a:solidFill>
                    <a:schemeClr val="bg1">
                      <a:lumMod val="65000"/>
                    </a:schemeClr>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123" name="Straight Arrow Connector 122">
                  <a:extLst>
                    <a:ext uri="{FF2B5EF4-FFF2-40B4-BE49-F238E27FC236}">
                      <a16:creationId xmlns:a16="http://schemas.microsoft.com/office/drawing/2014/main" id="{9EE4AA78-845E-8DC2-23E2-442B5AD4D6C8}"/>
                    </a:ext>
                  </a:extLst>
                </p:cNvPr>
                <p:cNvCxnSpPr>
                  <a:cxnSpLocks/>
                </p:cNvCxnSpPr>
                <p:nvPr/>
              </p:nvCxnSpPr>
              <p:spPr>
                <a:xfrm flipV="1">
                  <a:off x="1888219" y="3945467"/>
                  <a:ext cx="0" cy="288000"/>
                </a:xfrm>
                <a:prstGeom prst="straightConnector1">
                  <a:avLst/>
                </a:prstGeom>
                <a:noFill/>
                <a:ln w="25400" cap="flat">
                  <a:solidFill>
                    <a:schemeClr val="bg1">
                      <a:lumMod val="65000"/>
                    </a:schemeClr>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124" name="Straight Arrow Connector 123">
                  <a:extLst>
                    <a:ext uri="{FF2B5EF4-FFF2-40B4-BE49-F238E27FC236}">
                      <a16:creationId xmlns:a16="http://schemas.microsoft.com/office/drawing/2014/main" id="{77C85FD8-5E63-2B4D-CEE7-B84567D3BA35}"/>
                    </a:ext>
                  </a:extLst>
                </p:cNvPr>
                <p:cNvCxnSpPr>
                  <a:cxnSpLocks/>
                </p:cNvCxnSpPr>
                <p:nvPr/>
              </p:nvCxnSpPr>
              <p:spPr>
                <a:xfrm flipV="1">
                  <a:off x="2040619" y="3945467"/>
                  <a:ext cx="0" cy="288000"/>
                </a:xfrm>
                <a:prstGeom prst="straightConnector1">
                  <a:avLst/>
                </a:prstGeom>
                <a:noFill/>
                <a:ln w="25400" cap="flat">
                  <a:solidFill>
                    <a:schemeClr val="bg1">
                      <a:lumMod val="65000"/>
                    </a:schemeClr>
                  </a:solidFill>
                  <a:prstDash val="sysDash"/>
                  <a:miter lim="400000"/>
                  <a:tailEnd type="triangle"/>
                </a:ln>
                <a:effectLst/>
                <a:sp3d/>
              </p:spPr>
              <p:style>
                <a:lnRef idx="0">
                  <a:scrgbClr r="0" g="0" b="0"/>
                </a:lnRef>
                <a:fillRef idx="0">
                  <a:scrgbClr r="0" g="0" b="0"/>
                </a:fillRef>
                <a:effectRef idx="0">
                  <a:scrgbClr r="0" g="0" b="0"/>
                </a:effectRef>
                <a:fontRef idx="none"/>
              </p:style>
            </p:cxnSp>
          </p:grpSp>
        </p:grpSp>
      </p:grpSp>
      <p:sp>
        <p:nvSpPr>
          <p:cNvPr id="127" name="Rectangle 126">
            <a:extLst>
              <a:ext uri="{FF2B5EF4-FFF2-40B4-BE49-F238E27FC236}">
                <a16:creationId xmlns:a16="http://schemas.microsoft.com/office/drawing/2014/main" id="{BBDB2DFB-E6E2-7F02-8156-3F3069E78415}"/>
              </a:ext>
            </a:extLst>
          </p:cNvPr>
          <p:cNvSpPr/>
          <p:nvPr/>
        </p:nvSpPr>
        <p:spPr>
          <a:xfrm>
            <a:off x="653502" y="1381164"/>
            <a:ext cx="4339650" cy="769441"/>
          </a:xfrm>
          <a:prstGeom prst="rect">
            <a:avLst/>
          </a:prstGeom>
          <a:noFill/>
        </p:spPr>
        <p:txBody>
          <a:bodyPr wrap="none" lIns="91440" tIns="45720" rIns="91440" bIns="45720" anchor="t">
            <a:spAutoFit/>
          </a:bodyPr>
          <a:lstStyle/>
          <a:p>
            <a:pPr algn="ctr"/>
            <a:r>
              <a:rPr lang="en-US" sz="2800" dirty="0">
                <a:ln w="0"/>
                <a:effectLst>
                  <a:outerShdw blurRad="38100" dist="19050" dir="2700000" algn="tl" rotWithShape="0">
                    <a:schemeClr val="dk1">
                      <a:alpha val="40000"/>
                    </a:schemeClr>
                  </a:outerShdw>
                </a:effectLst>
              </a:rPr>
              <a:t>Heavy Workload</a:t>
            </a:r>
            <a:r>
              <a:rPr lang="en-US" sz="2800" b="0" cap="none" spc="0" dirty="0">
                <a:ln w="0"/>
                <a:solidFill>
                  <a:schemeClr val="tx1"/>
                </a:solidFill>
                <a:effectLst>
                  <a:outerShdw blurRad="38100" dist="19050" dir="2700000" algn="tl" rotWithShape="0">
                    <a:schemeClr val="dk1">
                      <a:alpha val="40000"/>
                    </a:schemeClr>
                  </a:outerShdw>
                </a:effectLst>
              </a:rPr>
              <a:t> Problem</a:t>
            </a:r>
          </a:p>
          <a:p>
            <a:pPr algn="ctr"/>
            <a:r>
              <a:rPr lang="en-US" sz="1600" dirty="0">
                <a:ln w="0"/>
                <a:effectLst>
                  <a:outerShdw blurRad="38100" dist="19050" dir="2700000" algn="tl" rotWithShape="0">
                    <a:schemeClr val="dk1">
                      <a:alpha val="40000"/>
                    </a:schemeClr>
                  </a:outerShdw>
                </a:effectLst>
              </a:rPr>
              <a:t>(e.g. bs=4k, </a:t>
            </a:r>
            <a:r>
              <a:rPr lang="en-US" sz="1600" dirty="0" err="1">
                <a:ln w="0"/>
                <a:effectLst>
                  <a:outerShdw blurRad="38100" dist="19050" dir="2700000" algn="tl" rotWithShape="0">
                    <a:schemeClr val="dk1">
                      <a:alpha val="40000"/>
                    </a:schemeClr>
                  </a:outerShdw>
                </a:effectLst>
              </a:rPr>
              <a:t>numjobs</a:t>
            </a:r>
            <a:r>
              <a:rPr lang="en-US" sz="1600" dirty="0">
                <a:ln w="0"/>
                <a:effectLst>
                  <a:outerShdw blurRad="38100" dist="19050" dir="2700000" algn="tl" rotWithShape="0">
                    <a:schemeClr val="dk1">
                      <a:alpha val="40000"/>
                    </a:schemeClr>
                  </a:outerShdw>
                </a:effectLst>
              </a:rPr>
              <a:t>=8 </a:t>
            </a:r>
            <a:r>
              <a:rPr lang="en-US" sz="1600" dirty="0" err="1">
                <a:ln w="0"/>
                <a:effectLst>
                  <a:outerShdw blurRad="38100" dist="19050" dir="2700000" algn="tl" rotWithShape="0">
                    <a:schemeClr val="dk1">
                      <a:alpha val="40000"/>
                    </a:schemeClr>
                  </a:outerShdw>
                </a:effectLst>
              </a:rPr>
              <a:t>iodepth</a:t>
            </a:r>
            <a:r>
              <a:rPr lang="en-US" sz="1600" dirty="0">
                <a:ln w="0"/>
                <a:effectLst>
                  <a:outerShdw blurRad="38100" dist="19050" dir="2700000" algn="tl" rotWithShape="0">
                    <a:schemeClr val="dk1">
                      <a:alpha val="40000"/>
                    </a:schemeClr>
                  </a:outerShdw>
                </a:effectLst>
              </a:rPr>
              <a:t>=128)</a:t>
            </a:r>
            <a:endParaRPr lang="en-US" sz="1600" b="0" cap="none" spc="0" dirty="0">
              <a:ln w="0"/>
              <a:solidFill>
                <a:schemeClr val="tx1"/>
              </a:solidFill>
              <a:effectLst>
                <a:outerShdw blurRad="38100" dist="19050" dir="2700000" algn="tl" rotWithShape="0">
                  <a:schemeClr val="dk1">
                    <a:alpha val="40000"/>
                  </a:schemeClr>
                </a:outerShdw>
              </a:effectLst>
            </a:endParaRPr>
          </a:p>
        </p:txBody>
      </p:sp>
      <p:cxnSp>
        <p:nvCxnSpPr>
          <p:cNvPr id="130" name="Straight Connector 129">
            <a:extLst>
              <a:ext uri="{FF2B5EF4-FFF2-40B4-BE49-F238E27FC236}">
                <a16:creationId xmlns:a16="http://schemas.microsoft.com/office/drawing/2014/main" id="{CAF3F449-2FBE-F7CC-A1D3-6B620DA72E87}"/>
              </a:ext>
            </a:extLst>
          </p:cNvPr>
          <p:cNvCxnSpPr/>
          <p:nvPr/>
        </p:nvCxnSpPr>
        <p:spPr>
          <a:xfrm>
            <a:off x="5610588" y="1707880"/>
            <a:ext cx="0" cy="4190576"/>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132" name="Rectangle 131">
            <a:extLst>
              <a:ext uri="{FF2B5EF4-FFF2-40B4-BE49-F238E27FC236}">
                <a16:creationId xmlns:a16="http://schemas.microsoft.com/office/drawing/2014/main" id="{27DDE2AD-5845-27F2-2F92-CF6E9C3D9482}"/>
              </a:ext>
            </a:extLst>
          </p:cNvPr>
          <p:cNvSpPr/>
          <p:nvPr/>
        </p:nvSpPr>
        <p:spPr>
          <a:xfrm>
            <a:off x="7194676" y="4074647"/>
            <a:ext cx="3526928" cy="246221"/>
          </a:xfrm>
          <a:prstGeom prst="rect">
            <a:avLst/>
          </a:prstGeom>
          <a:noFill/>
        </p:spPr>
        <p:txBody>
          <a:bodyPr wrap="none" lIns="91440" tIns="45720" rIns="91440" bIns="45720">
            <a:spAutoFit/>
          </a:bodyPr>
          <a:lstStyle/>
          <a:p>
            <a:pPr algn="ctr"/>
            <a:r>
              <a:rPr lang="en-US" sz="1000" b="0" cap="none" spc="0" dirty="0">
                <a:ln w="0"/>
                <a:solidFill>
                  <a:schemeClr val="tx1"/>
                </a:solidFill>
                <a:effectLst>
                  <a:outerShdw blurRad="38100" dist="19050" dir="2700000" algn="tl" rotWithShape="0">
                    <a:schemeClr val="dk1">
                      <a:alpha val="40000"/>
                    </a:schemeClr>
                  </a:outerShdw>
                </a:effectLst>
              </a:rPr>
              <a:t>Coalesce the Interrupts: As shown by the gray dashed line</a:t>
            </a:r>
          </a:p>
        </p:txBody>
      </p:sp>
      <p:sp>
        <p:nvSpPr>
          <p:cNvPr id="4" name="TextBox 3">
            <a:extLst>
              <a:ext uri="{FF2B5EF4-FFF2-40B4-BE49-F238E27FC236}">
                <a16:creationId xmlns:a16="http://schemas.microsoft.com/office/drawing/2014/main" id="{9775FCCF-05F1-835D-73DF-C3997EA6BC36}"/>
              </a:ext>
            </a:extLst>
          </p:cNvPr>
          <p:cNvSpPr txBox="1"/>
          <p:nvPr/>
        </p:nvSpPr>
        <p:spPr>
          <a:xfrm>
            <a:off x="570075" y="5820956"/>
            <a:ext cx="4676628"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171450" indent="-171450">
              <a:buFont typeface="Wingdings" panose="05000000000000000000" pitchFamily="2" charset="2"/>
              <a:buChar char="ü"/>
            </a:pPr>
            <a:r>
              <a:rPr lang="en-US" sz="1200" dirty="0"/>
              <a:t>Interrupt handling details: </a:t>
            </a:r>
            <a:r>
              <a:rPr lang="en-US" sz="1200" dirty="0">
                <a:hlinkClick r:id="rId2"/>
              </a:rPr>
              <a:t>https://lwn.net/Articles/951186/</a:t>
            </a:r>
            <a:endParaRPr lang="en-US" sz="1200" dirty="0"/>
          </a:p>
        </p:txBody>
      </p:sp>
      <p:sp>
        <p:nvSpPr>
          <p:cNvPr id="8" name="Arrow: Right 7">
            <a:extLst>
              <a:ext uri="{FF2B5EF4-FFF2-40B4-BE49-F238E27FC236}">
                <a16:creationId xmlns:a16="http://schemas.microsoft.com/office/drawing/2014/main" id="{6812FC6E-813A-F002-044F-976F355C4BEA}"/>
              </a:ext>
            </a:extLst>
          </p:cNvPr>
          <p:cNvSpPr/>
          <p:nvPr/>
        </p:nvSpPr>
        <p:spPr>
          <a:xfrm>
            <a:off x="5104560" y="3567207"/>
            <a:ext cx="1012054" cy="312335"/>
          </a:xfrm>
          <a:prstGeom prst="rightArrow">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1" name="TextBox 10">
            <a:extLst>
              <a:ext uri="{FF2B5EF4-FFF2-40B4-BE49-F238E27FC236}">
                <a16:creationId xmlns:a16="http://schemas.microsoft.com/office/drawing/2014/main" id="{B7B41135-E98F-D26A-98C6-FBE8D1F64FCE}"/>
              </a:ext>
            </a:extLst>
          </p:cNvPr>
          <p:cNvSpPr txBox="1"/>
          <p:nvPr/>
        </p:nvSpPr>
        <p:spPr>
          <a:xfrm>
            <a:off x="3002213" y="4040139"/>
            <a:ext cx="1791730"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000" b="1" dirty="0">
                <a:solidFill>
                  <a:srgbClr val="C00000"/>
                </a:solidFill>
              </a:rPr>
              <a:t>Notifies CPU </a:t>
            </a:r>
            <a:r>
              <a:rPr lang="en-US" altLang="zh-CN" sz="1000" b="1" dirty="0">
                <a:solidFill>
                  <a:srgbClr val="C00000"/>
                </a:solidFill>
              </a:rPr>
              <a:t>is expensive</a:t>
            </a:r>
            <a:endParaRPr lang="en-US" sz="1000" b="1" dirty="0">
              <a:solidFill>
                <a:srgbClr val="C00000"/>
              </a:solidFill>
            </a:endParaRPr>
          </a:p>
        </p:txBody>
      </p:sp>
      <p:sp>
        <p:nvSpPr>
          <p:cNvPr id="24" name="TextBox 23">
            <a:extLst>
              <a:ext uri="{FF2B5EF4-FFF2-40B4-BE49-F238E27FC236}">
                <a16:creationId xmlns:a16="http://schemas.microsoft.com/office/drawing/2014/main" id="{4128B442-FDB4-9B71-FD44-4BBF1D354FC4}"/>
              </a:ext>
            </a:extLst>
          </p:cNvPr>
          <p:cNvSpPr txBox="1"/>
          <p:nvPr/>
        </p:nvSpPr>
        <p:spPr>
          <a:xfrm>
            <a:off x="5604573" y="3015112"/>
            <a:ext cx="1298632" cy="5539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r>
              <a:rPr lang="en-US" sz="1000" dirty="0">
                <a:ln w="0"/>
                <a:solidFill>
                  <a:schemeClr val="tx2"/>
                </a:solidFill>
                <a:effectLst>
                  <a:outerShdw blurRad="38100" dist="19050" dir="2700000" algn="tl" rotWithShape="0">
                    <a:schemeClr val="dk1">
                      <a:alpha val="40000"/>
                    </a:schemeClr>
                  </a:outerShdw>
                </a:effectLst>
              </a:rPr>
              <a:t>Automatically</a:t>
            </a:r>
          </a:p>
          <a:p>
            <a:pPr algn="ctr"/>
            <a:r>
              <a:rPr lang="en-US" sz="1000" dirty="0">
                <a:ln w="0"/>
                <a:solidFill>
                  <a:schemeClr val="tx2"/>
                </a:solidFill>
                <a:effectLst>
                  <a:outerShdw blurRad="38100" dist="19050" dir="2700000" algn="tl" rotWithShape="0">
                    <a:schemeClr val="dk1">
                      <a:alpha val="40000"/>
                    </a:schemeClr>
                  </a:outerShdw>
                </a:effectLst>
              </a:rPr>
              <a:t>coalesce interrupt in heavy workload</a:t>
            </a:r>
            <a:endParaRPr lang="en-US" sz="1000" b="0" cap="none" spc="0" dirty="0">
              <a:ln w="0"/>
              <a:solidFill>
                <a:schemeClr val="tx2"/>
              </a:solidFill>
              <a:effectLst>
                <a:outerShdw blurRad="38100" dist="19050" dir="2700000" algn="tl" rotWithShape="0">
                  <a:schemeClr val="dk1">
                    <a:alpha val="40000"/>
                  </a:schemeClr>
                </a:outerShdw>
              </a:effectLst>
            </a:endParaRPr>
          </a:p>
        </p:txBody>
      </p:sp>
      <p:sp>
        <p:nvSpPr>
          <p:cNvPr id="2" name="Rectangle 1">
            <a:extLst>
              <a:ext uri="{FF2B5EF4-FFF2-40B4-BE49-F238E27FC236}">
                <a16:creationId xmlns:a16="http://schemas.microsoft.com/office/drawing/2014/main" id="{05FB8367-1238-D31E-C0CF-89F62F7AB0CF}"/>
              </a:ext>
            </a:extLst>
          </p:cNvPr>
          <p:cNvSpPr/>
          <p:nvPr/>
        </p:nvSpPr>
        <p:spPr>
          <a:xfrm>
            <a:off x="6528826" y="1254330"/>
            <a:ext cx="5045049" cy="954107"/>
          </a:xfrm>
          <a:prstGeom prst="rect">
            <a:avLst/>
          </a:prstGeom>
          <a:noFill/>
        </p:spPr>
        <p:txBody>
          <a:bodyPr wrap="square" lIns="91440" tIns="45720" rIns="91440" bIns="45720">
            <a:spAutoFit/>
          </a:bodyPr>
          <a:lstStyle/>
          <a:p>
            <a:pPr algn="ctr"/>
            <a:r>
              <a:rPr lang="en-US" sz="2800" dirty="0">
                <a:ln w="0"/>
                <a:effectLst>
                  <a:outerShdw blurRad="38100" dist="19050" dir="2700000" algn="tl" rotWithShape="0">
                    <a:schemeClr val="dk1">
                      <a:alpha val="40000"/>
                    </a:schemeClr>
                  </a:outerShdw>
                </a:effectLst>
              </a:rPr>
              <a:t>How the</a:t>
            </a:r>
            <a:r>
              <a:rPr lang="en-US" sz="2800" b="0" cap="none" spc="0" dirty="0">
                <a:ln w="0"/>
                <a:solidFill>
                  <a:schemeClr val="tx1"/>
                </a:solidFill>
                <a:effectLst>
                  <a:outerShdw blurRad="38100" dist="19050" dir="2700000" algn="tl" rotWithShape="0">
                    <a:schemeClr val="dk1">
                      <a:alpha val="40000"/>
                    </a:schemeClr>
                  </a:outerShdw>
                </a:effectLst>
              </a:rPr>
              <a:t> Patch Works – Interrupt Coalescing </a:t>
            </a:r>
            <a:r>
              <a:rPr lang="en-US" sz="2800" dirty="0">
                <a:ln w="0"/>
                <a:effectLst>
                  <a:outerShdw blurRad="38100" dist="19050" dir="2700000" algn="tl" rotWithShape="0">
                    <a:schemeClr val="dk1">
                      <a:alpha val="40000"/>
                    </a:schemeClr>
                  </a:outerShdw>
                </a:effectLst>
              </a:rPr>
              <a:t>En</a:t>
            </a:r>
            <a:r>
              <a:rPr lang="en-US" sz="2800" b="0" cap="none" spc="0" dirty="0">
                <a:ln w="0"/>
                <a:solidFill>
                  <a:schemeClr val="tx1"/>
                </a:solidFill>
                <a:effectLst>
                  <a:outerShdw blurRad="38100" dist="19050" dir="2700000" algn="tl" rotWithShape="0">
                    <a:schemeClr val="dk1">
                      <a:alpha val="40000"/>
                    </a:schemeClr>
                  </a:outerShdw>
                </a:effectLst>
              </a:rPr>
              <a:t>abled</a:t>
            </a:r>
          </a:p>
        </p:txBody>
      </p:sp>
      <p:sp>
        <p:nvSpPr>
          <p:cNvPr id="6" name="TextBox 5">
            <a:extLst>
              <a:ext uri="{FF2B5EF4-FFF2-40B4-BE49-F238E27FC236}">
                <a16:creationId xmlns:a16="http://schemas.microsoft.com/office/drawing/2014/main" id="{16FEE3D0-0C96-9528-0462-68E26CCEF121}"/>
              </a:ext>
            </a:extLst>
          </p:cNvPr>
          <p:cNvSpPr txBox="1"/>
          <p:nvPr/>
        </p:nvSpPr>
        <p:spPr>
          <a:xfrm rot="19948762">
            <a:off x="736241" y="2809169"/>
            <a:ext cx="10810652" cy="630365"/>
          </a:xfrm>
          <a:prstGeom prst="rect">
            <a:avLst/>
          </a:prstGeom>
          <a:noFill/>
        </p:spPr>
        <p:txBody>
          <a:bodyPr vert="horz" wrap="none" lIns="0" tIns="0" rIns="0" bIns="0" rtlCol="0">
            <a:spAutoFit/>
          </a:bodyPr>
          <a:lstStyle/>
          <a:p>
            <a:pPr marL="0" marR="0" lvl="0" indent="0" algn="l" defTabSz="1219169" rtl="0" eaLnBrk="1" fontAlgn="auto" latinLnBrk="0" hangingPunct="0">
              <a:lnSpc>
                <a:spcPct val="90000"/>
              </a:lnSpc>
              <a:spcBef>
                <a:spcPts val="2250"/>
              </a:spcBef>
              <a:spcAft>
                <a:spcPts val="0"/>
              </a:spcAft>
              <a:buClrTx/>
              <a:buSzTx/>
              <a:buFontTx/>
              <a:buNone/>
              <a:tabLst/>
              <a:defRPr/>
            </a:pPr>
            <a:r>
              <a:rPr kumimoji="0" lang="en-US" sz="4533" b="1" i="0" u="none" strike="noStrike" kern="0" cap="none" spc="0" normalizeH="0" baseline="0" noProof="0" dirty="0">
                <a:ln w="3175">
                  <a:solidFill>
                    <a:srgbClr val="FF0000"/>
                  </a:solidFill>
                  <a:prstDash val="sysDot"/>
                </a:ln>
                <a:noFill/>
                <a:effectLst>
                  <a:outerShdw blurRad="38100" dist="22860" dir="5400000" algn="tl" rotWithShape="0">
                    <a:srgbClr val="000000">
                      <a:alpha val="30000"/>
                    </a:srgbClr>
                  </a:outerShdw>
                </a:effectLst>
                <a:uLnTx/>
                <a:uFillTx/>
                <a:latin typeface="Intel Clear"/>
                <a:sym typeface="Helvetica Neue"/>
              </a:rPr>
              <a:t>For use under CNDA024859 : Bytedance</a:t>
            </a:r>
          </a:p>
        </p:txBody>
      </p:sp>
    </p:spTree>
    <p:extLst>
      <p:ext uri="{BB962C8B-B14F-4D97-AF65-F5344CB8AC3E}">
        <p14:creationId xmlns:p14="http://schemas.microsoft.com/office/powerpoint/2010/main" val="3581465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D4C5D-5345-4532-47BA-B7444807832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A796C97-5EF3-E45B-1AAB-6FF81F2B74BB}"/>
              </a:ext>
            </a:extLst>
          </p:cNvPr>
          <p:cNvSpPr>
            <a:spLocks noGrp="1"/>
          </p:cNvSpPr>
          <p:nvPr>
            <p:ph type="title"/>
          </p:nvPr>
        </p:nvSpPr>
        <p:spPr>
          <a:xfrm>
            <a:off x="381000" y="276841"/>
            <a:ext cx="10972800" cy="640080"/>
          </a:xfrm>
        </p:spPr>
        <p:txBody>
          <a:bodyPr/>
          <a:lstStyle/>
          <a:p>
            <a:r>
              <a:rPr lang="en-US" dirty="0"/>
              <a:t>How the patch works in Light WL</a:t>
            </a:r>
          </a:p>
        </p:txBody>
      </p:sp>
      <p:grpSp>
        <p:nvGrpSpPr>
          <p:cNvPr id="125" name="Group 124">
            <a:extLst>
              <a:ext uri="{FF2B5EF4-FFF2-40B4-BE49-F238E27FC236}">
                <a16:creationId xmlns:a16="http://schemas.microsoft.com/office/drawing/2014/main" id="{74A8207A-7331-9996-DE14-9BAE8B6EDC2A}"/>
              </a:ext>
            </a:extLst>
          </p:cNvPr>
          <p:cNvGrpSpPr/>
          <p:nvPr/>
        </p:nvGrpSpPr>
        <p:grpSpPr>
          <a:xfrm>
            <a:off x="721892" y="2451339"/>
            <a:ext cx="4009188" cy="2763887"/>
            <a:chOff x="721892" y="2451339"/>
            <a:chExt cx="4009188" cy="2763887"/>
          </a:xfrm>
        </p:grpSpPr>
        <p:sp>
          <p:nvSpPr>
            <p:cNvPr id="12" name="Rectangle 11">
              <a:extLst>
                <a:ext uri="{FF2B5EF4-FFF2-40B4-BE49-F238E27FC236}">
                  <a16:creationId xmlns:a16="http://schemas.microsoft.com/office/drawing/2014/main" id="{674ACE10-C330-CC2E-155A-6694373FBB70}"/>
                </a:ext>
              </a:extLst>
            </p:cNvPr>
            <p:cNvSpPr/>
            <p:nvPr/>
          </p:nvSpPr>
          <p:spPr>
            <a:xfrm>
              <a:off x="721892" y="3567207"/>
              <a:ext cx="3990026" cy="471924"/>
            </a:xfrm>
            <a:prstGeom prst="rect">
              <a:avLst/>
            </a:prstGeom>
            <a:solidFill>
              <a:schemeClr val="bg1"/>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altLang="zh-CN" sz="12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S</a:t>
              </a:r>
              <a:r>
                <a:rPr kumimoji="0" lang="en-US" sz="12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ystem Agent</a:t>
              </a:r>
            </a:p>
            <a:p>
              <a:pPr marL="0" marR="0" indent="0" algn="ctr" defTabSz="8255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a:t>
              </a:r>
              <a:r>
                <a:rPr kumimoji="0" lang="en-US" sz="1200" b="1" u="none" strike="noStrike" cap="none" spc="0" normalizeH="0" baseline="0" dirty="0">
                  <a:ln>
                    <a:noFill/>
                  </a:ln>
                  <a:solidFill>
                    <a:schemeClr val="tx1"/>
                  </a:solidFill>
                  <a:uFillTx/>
                  <a:latin typeface="Inter"/>
                  <a:ea typeface="Helvetica Neue Medium"/>
                  <a:cs typeface="Helvetica Neue Medium"/>
                  <a:sym typeface="Helvetica Neue Medium"/>
                </a:rPr>
                <a:t>R</a:t>
              </a:r>
              <a:r>
                <a:rPr lang="en-US" sz="1200" b="1" i="0" dirty="0">
                  <a:solidFill>
                    <a:schemeClr val="tx1"/>
                  </a:solidFill>
                  <a:effectLst/>
                  <a:latin typeface="Inter"/>
                </a:rPr>
                <a:t>emaps Translates </a:t>
              </a:r>
              <a:r>
                <a:rPr lang="en-US" sz="1200" b="1" dirty="0">
                  <a:solidFill>
                    <a:schemeClr val="tx1"/>
                  </a:solidFill>
                  <a:latin typeface="Inter"/>
                </a:rPr>
                <a:t>IRQ / Notifies CPU</a:t>
              </a:r>
              <a:r>
                <a:rPr kumimoji="0" lang="en-US" sz="12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a:t>
              </a:r>
            </a:p>
          </p:txBody>
        </p:sp>
        <p:grpSp>
          <p:nvGrpSpPr>
            <p:cNvPr id="15" name="Group 14">
              <a:extLst>
                <a:ext uri="{FF2B5EF4-FFF2-40B4-BE49-F238E27FC236}">
                  <a16:creationId xmlns:a16="http://schemas.microsoft.com/office/drawing/2014/main" id="{49CB1D28-870E-9CA1-2942-5D8BDB2644C8}"/>
                </a:ext>
              </a:extLst>
            </p:cNvPr>
            <p:cNvGrpSpPr/>
            <p:nvPr/>
          </p:nvGrpSpPr>
          <p:grpSpPr>
            <a:xfrm>
              <a:off x="1215185" y="2451339"/>
              <a:ext cx="1121613" cy="851031"/>
              <a:chOff x="872176" y="1441320"/>
              <a:chExt cx="1121613" cy="851031"/>
            </a:xfrm>
          </p:grpSpPr>
          <p:sp>
            <p:nvSpPr>
              <p:cNvPr id="13" name="Flowchart: Connector 12">
                <a:extLst>
                  <a:ext uri="{FF2B5EF4-FFF2-40B4-BE49-F238E27FC236}">
                    <a16:creationId xmlns:a16="http://schemas.microsoft.com/office/drawing/2014/main" id="{54D34B2F-FC3C-F53B-A10F-0C26982AD221}"/>
                  </a:ext>
                </a:extLst>
              </p:cNvPr>
              <p:cNvSpPr/>
              <p:nvPr/>
            </p:nvSpPr>
            <p:spPr>
              <a:xfrm>
                <a:off x="1104941" y="1441320"/>
                <a:ext cx="656081" cy="533777"/>
              </a:xfrm>
              <a:prstGeom prst="flowChartConnector">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9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CPU Core</a:t>
                </a:r>
              </a:p>
            </p:txBody>
          </p:sp>
          <p:sp>
            <p:nvSpPr>
              <p:cNvPr id="14" name="Rectangle 13">
                <a:extLst>
                  <a:ext uri="{FF2B5EF4-FFF2-40B4-BE49-F238E27FC236}">
                    <a16:creationId xmlns:a16="http://schemas.microsoft.com/office/drawing/2014/main" id="{B41F58E6-B053-EE85-48F6-A39954EACF2D}"/>
                  </a:ext>
                </a:extLst>
              </p:cNvPr>
              <p:cNvSpPr/>
              <p:nvPr/>
            </p:nvSpPr>
            <p:spPr>
              <a:xfrm>
                <a:off x="872176" y="2005093"/>
                <a:ext cx="1121613" cy="287258"/>
              </a:xfrm>
              <a:prstGeom prst="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Local-APIC</a:t>
                </a:r>
              </a:p>
            </p:txBody>
          </p:sp>
        </p:grpSp>
        <p:grpSp>
          <p:nvGrpSpPr>
            <p:cNvPr id="16" name="Group 15">
              <a:extLst>
                <a:ext uri="{FF2B5EF4-FFF2-40B4-BE49-F238E27FC236}">
                  <a16:creationId xmlns:a16="http://schemas.microsoft.com/office/drawing/2014/main" id="{12BBD411-40E5-EA31-624A-21E1BCECB9FC}"/>
                </a:ext>
              </a:extLst>
            </p:cNvPr>
            <p:cNvGrpSpPr/>
            <p:nvPr/>
          </p:nvGrpSpPr>
          <p:grpSpPr>
            <a:xfrm>
              <a:off x="3042265" y="2451339"/>
              <a:ext cx="1121613" cy="851031"/>
              <a:chOff x="872176" y="1441320"/>
              <a:chExt cx="1121613" cy="851031"/>
            </a:xfrm>
          </p:grpSpPr>
          <p:sp>
            <p:nvSpPr>
              <p:cNvPr id="17" name="Flowchart: Connector 16">
                <a:extLst>
                  <a:ext uri="{FF2B5EF4-FFF2-40B4-BE49-F238E27FC236}">
                    <a16:creationId xmlns:a16="http://schemas.microsoft.com/office/drawing/2014/main" id="{2CAA284E-8831-4ED1-BC58-8A56AE7A70A1}"/>
                  </a:ext>
                </a:extLst>
              </p:cNvPr>
              <p:cNvSpPr/>
              <p:nvPr/>
            </p:nvSpPr>
            <p:spPr>
              <a:xfrm>
                <a:off x="1104941" y="1441320"/>
                <a:ext cx="656081" cy="533777"/>
              </a:xfrm>
              <a:prstGeom prst="flowChartConnector">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9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CPU Core</a:t>
                </a:r>
              </a:p>
            </p:txBody>
          </p:sp>
          <p:sp>
            <p:nvSpPr>
              <p:cNvPr id="18" name="Rectangle 17">
                <a:extLst>
                  <a:ext uri="{FF2B5EF4-FFF2-40B4-BE49-F238E27FC236}">
                    <a16:creationId xmlns:a16="http://schemas.microsoft.com/office/drawing/2014/main" id="{C81346ED-745E-48C8-F7B2-8D4D68CE079D}"/>
                  </a:ext>
                </a:extLst>
              </p:cNvPr>
              <p:cNvSpPr/>
              <p:nvPr/>
            </p:nvSpPr>
            <p:spPr>
              <a:xfrm>
                <a:off x="872176" y="2005093"/>
                <a:ext cx="1121613" cy="287258"/>
              </a:xfrm>
              <a:prstGeom prst="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Local-APIC</a:t>
                </a:r>
              </a:p>
            </p:txBody>
          </p:sp>
        </p:grpSp>
        <p:grpSp>
          <p:nvGrpSpPr>
            <p:cNvPr id="39" name="Group 38">
              <a:extLst>
                <a:ext uri="{FF2B5EF4-FFF2-40B4-BE49-F238E27FC236}">
                  <a16:creationId xmlns:a16="http://schemas.microsoft.com/office/drawing/2014/main" id="{0AE1F2CB-F21B-556B-2F13-78D782B2F996}"/>
                </a:ext>
              </a:extLst>
            </p:cNvPr>
            <p:cNvGrpSpPr/>
            <p:nvPr/>
          </p:nvGrpSpPr>
          <p:grpSpPr>
            <a:xfrm>
              <a:off x="721892" y="4356385"/>
              <a:ext cx="1159934" cy="858841"/>
              <a:chOff x="721892" y="4356385"/>
              <a:chExt cx="1159934" cy="858841"/>
            </a:xfrm>
          </p:grpSpPr>
          <p:sp>
            <p:nvSpPr>
              <p:cNvPr id="3" name="Cylinder 2">
                <a:extLst>
                  <a:ext uri="{FF2B5EF4-FFF2-40B4-BE49-F238E27FC236}">
                    <a16:creationId xmlns:a16="http://schemas.microsoft.com/office/drawing/2014/main" id="{7B5AB7AF-6C62-3CAF-A7A6-FFD2CBED6FAE}"/>
                  </a:ext>
                </a:extLst>
              </p:cNvPr>
              <p:cNvSpPr/>
              <p:nvPr/>
            </p:nvSpPr>
            <p:spPr>
              <a:xfrm>
                <a:off x="721892" y="4758502"/>
                <a:ext cx="1159934" cy="456724"/>
              </a:xfrm>
              <a:prstGeom prst="can">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SSD1</a:t>
                </a:r>
              </a:p>
            </p:txBody>
          </p:sp>
          <p:grpSp>
            <p:nvGrpSpPr>
              <p:cNvPr id="38" name="Group 37">
                <a:extLst>
                  <a:ext uri="{FF2B5EF4-FFF2-40B4-BE49-F238E27FC236}">
                    <a16:creationId xmlns:a16="http://schemas.microsoft.com/office/drawing/2014/main" id="{44EA8D8D-B8C3-ADE0-C801-666A987F62AF}"/>
                  </a:ext>
                </a:extLst>
              </p:cNvPr>
              <p:cNvGrpSpPr/>
              <p:nvPr/>
            </p:nvGrpSpPr>
            <p:grpSpPr>
              <a:xfrm>
                <a:off x="768459" y="4356385"/>
                <a:ext cx="1066800" cy="288000"/>
                <a:chOff x="973819" y="3945467"/>
                <a:chExt cx="1066800" cy="288000"/>
              </a:xfrm>
            </p:grpSpPr>
            <p:cxnSp>
              <p:nvCxnSpPr>
                <p:cNvPr id="30" name="Straight Arrow Connector 29">
                  <a:extLst>
                    <a:ext uri="{FF2B5EF4-FFF2-40B4-BE49-F238E27FC236}">
                      <a16:creationId xmlns:a16="http://schemas.microsoft.com/office/drawing/2014/main" id="{0D8C1819-E95A-D5AA-0A6A-93145E47DFA5}"/>
                    </a:ext>
                  </a:extLst>
                </p:cNvPr>
                <p:cNvCxnSpPr>
                  <a:cxnSpLocks/>
                </p:cNvCxnSpPr>
                <p:nvPr/>
              </p:nvCxnSpPr>
              <p:spPr>
                <a:xfrm flipV="1">
                  <a:off x="9738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1" name="Straight Arrow Connector 30">
                  <a:extLst>
                    <a:ext uri="{FF2B5EF4-FFF2-40B4-BE49-F238E27FC236}">
                      <a16:creationId xmlns:a16="http://schemas.microsoft.com/office/drawing/2014/main" id="{AC57FED8-26ED-86D4-B2C7-7B95E0E0810D}"/>
                    </a:ext>
                  </a:extLst>
                </p:cNvPr>
                <p:cNvCxnSpPr>
                  <a:cxnSpLocks/>
                </p:cNvCxnSpPr>
                <p:nvPr/>
              </p:nvCxnSpPr>
              <p:spPr>
                <a:xfrm flipV="1">
                  <a:off x="11262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2" name="Straight Arrow Connector 31">
                  <a:extLst>
                    <a:ext uri="{FF2B5EF4-FFF2-40B4-BE49-F238E27FC236}">
                      <a16:creationId xmlns:a16="http://schemas.microsoft.com/office/drawing/2014/main" id="{960DAECB-BC30-B43F-43F7-35941B9B510D}"/>
                    </a:ext>
                  </a:extLst>
                </p:cNvPr>
                <p:cNvCxnSpPr>
                  <a:cxnSpLocks/>
                </p:cNvCxnSpPr>
                <p:nvPr/>
              </p:nvCxnSpPr>
              <p:spPr>
                <a:xfrm flipV="1">
                  <a:off x="12786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3" name="Straight Arrow Connector 32">
                  <a:extLst>
                    <a:ext uri="{FF2B5EF4-FFF2-40B4-BE49-F238E27FC236}">
                      <a16:creationId xmlns:a16="http://schemas.microsoft.com/office/drawing/2014/main" id="{FCDB1C1F-BA14-FE03-4AD0-09738C0B7B65}"/>
                    </a:ext>
                  </a:extLst>
                </p:cNvPr>
                <p:cNvCxnSpPr>
                  <a:cxnSpLocks/>
                </p:cNvCxnSpPr>
                <p:nvPr/>
              </p:nvCxnSpPr>
              <p:spPr>
                <a:xfrm flipV="1">
                  <a:off x="14310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4" name="Straight Arrow Connector 33">
                  <a:extLst>
                    <a:ext uri="{FF2B5EF4-FFF2-40B4-BE49-F238E27FC236}">
                      <a16:creationId xmlns:a16="http://schemas.microsoft.com/office/drawing/2014/main" id="{223D6143-76ED-8056-B1A8-ADF7C738AED8}"/>
                    </a:ext>
                  </a:extLst>
                </p:cNvPr>
                <p:cNvCxnSpPr>
                  <a:cxnSpLocks/>
                </p:cNvCxnSpPr>
                <p:nvPr/>
              </p:nvCxnSpPr>
              <p:spPr>
                <a:xfrm flipV="1">
                  <a:off x="15834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5" name="Straight Arrow Connector 34">
                  <a:extLst>
                    <a:ext uri="{FF2B5EF4-FFF2-40B4-BE49-F238E27FC236}">
                      <a16:creationId xmlns:a16="http://schemas.microsoft.com/office/drawing/2014/main" id="{317363A3-D041-28EE-F20D-C8FFDE36A254}"/>
                    </a:ext>
                  </a:extLst>
                </p:cNvPr>
                <p:cNvCxnSpPr>
                  <a:cxnSpLocks/>
                </p:cNvCxnSpPr>
                <p:nvPr/>
              </p:nvCxnSpPr>
              <p:spPr>
                <a:xfrm flipV="1">
                  <a:off x="17358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6" name="Straight Arrow Connector 35">
                  <a:extLst>
                    <a:ext uri="{FF2B5EF4-FFF2-40B4-BE49-F238E27FC236}">
                      <a16:creationId xmlns:a16="http://schemas.microsoft.com/office/drawing/2014/main" id="{D28FEBA6-AA25-810D-4551-B9B89EF4C994}"/>
                    </a:ext>
                  </a:extLst>
                </p:cNvPr>
                <p:cNvCxnSpPr>
                  <a:cxnSpLocks/>
                </p:cNvCxnSpPr>
                <p:nvPr/>
              </p:nvCxnSpPr>
              <p:spPr>
                <a:xfrm flipV="1">
                  <a:off x="18882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7" name="Straight Arrow Connector 36">
                  <a:extLst>
                    <a:ext uri="{FF2B5EF4-FFF2-40B4-BE49-F238E27FC236}">
                      <a16:creationId xmlns:a16="http://schemas.microsoft.com/office/drawing/2014/main" id="{D4283838-7A07-447F-0911-EA272E5F17DD}"/>
                    </a:ext>
                  </a:extLst>
                </p:cNvPr>
                <p:cNvCxnSpPr>
                  <a:cxnSpLocks/>
                </p:cNvCxnSpPr>
                <p:nvPr/>
              </p:nvCxnSpPr>
              <p:spPr>
                <a:xfrm flipV="1">
                  <a:off x="20406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grpSp>
        </p:grpSp>
        <p:grpSp>
          <p:nvGrpSpPr>
            <p:cNvPr id="40" name="Group 39">
              <a:extLst>
                <a:ext uri="{FF2B5EF4-FFF2-40B4-BE49-F238E27FC236}">
                  <a16:creationId xmlns:a16="http://schemas.microsoft.com/office/drawing/2014/main" id="{A8E9A8AE-AF57-F0F7-30A4-9A90E47BEEE3}"/>
                </a:ext>
              </a:extLst>
            </p:cNvPr>
            <p:cNvGrpSpPr/>
            <p:nvPr/>
          </p:nvGrpSpPr>
          <p:grpSpPr>
            <a:xfrm>
              <a:off x="2146519" y="4356385"/>
              <a:ext cx="1159934" cy="858841"/>
              <a:chOff x="721892" y="4356385"/>
              <a:chExt cx="1159934" cy="858841"/>
            </a:xfrm>
          </p:grpSpPr>
          <p:sp>
            <p:nvSpPr>
              <p:cNvPr id="41" name="Cylinder 40">
                <a:extLst>
                  <a:ext uri="{FF2B5EF4-FFF2-40B4-BE49-F238E27FC236}">
                    <a16:creationId xmlns:a16="http://schemas.microsoft.com/office/drawing/2014/main" id="{A9C18BF6-1738-5538-24EC-C02472B73E70}"/>
                  </a:ext>
                </a:extLst>
              </p:cNvPr>
              <p:cNvSpPr/>
              <p:nvPr/>
            </p:nvSpPr>
            <p:spPr>
              <a:xfrm>
                <a:off x="721892" y="4758502"/>
                <a:ext cx="1159934" cy="456724"/>
              </a:xfrm>
              <a:prstGeom prst="can">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SSD2</a:t>
                </a:r>
              </a:p>
            </p:txBody>
          </p:sp>
          <p:grpSp>
            <p:nvGrpSpPr>
              <p:cNvPr id="42" name="Group 41">
                <a:extLst>
                  <a:ext uri="{FF2B5EF4-FFF2-40B4-BE49-F238E27FC236}">
                    <a16:creationId xmlns:a16="http://schemas.microsoft.com/office/drawing/2014/main" id="{0CB59440-6D24-BD94-BE42-731BA83FF43A}"/>
                  </a:ext>
                </a:extLst>
              </p:cNvPr>
              <p:cNvGrpSpPr/>
              <p:nvPr/>
            </p:nvGrpSpPr>
            <p:grpSpPr>
              <a:xfrm>
                <a:off x="768459" y="4356385"/>
                <a:ext cx="1066800" cy="288000"/>
                <a:chOff x="973819" y="3945467"/>
                <a:chExt cx="1066800" cy="288000"/>
              </a:xfrm>
            </p:grpSpPr>
            <p:cxnSp>
              <p:nvCxnSpPr>
                <p:cNvPr id="43" name="Straight Arrow Connector 42">
                  <a:extLst>
                    <a:ext uri="{FF2B5EF4-FFF2-40B4-BE49-F238E27FC236}">
                      <a16:creationId xmlns:a16="http://schemas.microsoft.com/office/drawing/2014/main" id="{B86091CB-30D4-01AF-A529-24BB7F6B38FF}"/>
                    </a:ext>
                  </a:extLst>
                </p:cNvPr>
                <p:cNvCxnSpPr>
                  <a:cxnSpLocks/>
                </p:cNvCxnSpPr>
                <p:nvPr/>
              </p:nvCxnSpPr>
              <p:spPr>
                <a:xfrm flipV="1">
                  <a:off x="9738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44" name="Straight Arrow Connector 43">
                  <a:extLst>
                    <a:ext uri="{FF2B5EF4-FFF2-40B4-BE49-F238E27FC236}">
                      <a16:creationId xmlns:a16="http://schemas.microsoft.com/office/drawing/2014/main" id="{AE3E76AC-4AD2-D2B7-974E-64AECD6FF905}"/>
                    </a:ext>
                  </a:extLst>
                </p:cNvPr>
                <p:cNvCxnSpPr>
                  <a:cxnSpLocks/>
                </p:cNvCxnSpPr>
                <p:nvPr/>
              </p:nvCxnSpPr>
              <p:spPr>
                <a:xfrm flipV="1">
                  <a:off x="11262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45" name="Straight Arrow Connector 44">
                  <a:extLst>
                    <a:ext uri="{FF2B5EF4-FFF2-40B4-BE49-F238E27FC236}">
                      <a16:creationId xmlns:a16="http://schemas.microsoft.com/office/drawing/2014/main" id="{8714B45C-622A-C387-F9FC-D4B4CDA54D66}"/>
                    </a:ext>
                  </a:extLst>
                </p:cNvPr>
                <p:cNvCxnSpPr>
                  <a:cxnSpLocks/>
                </p:cNvCxnSpPr>
                <p:nvPr/>
              </p:nvCxnSpPr>
              <p:spPr>
                <a:xfrm flipV="1">
                  <a:off x="12786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46" name="Straight Arrow Connector 45">
                  <a:extLst>
                    <a:ext uri="{FF2B5EF4-FFF2-40B4-BE49-F238E27FC236}">
                      <a16:creationId xmlns:a16="http://schemas.microsoft.com/office/drawing/2014/main" id="{C738AF57-EB5B-57BA-0E5A-C33F21DA64E4}"/>
                    </a:ext>
                  </a:extLst>
                </p:cNvPr>
                <p:cNvCxnSpPr>
                  <a:cxnSpLocks/>
                </p:cNvCxnSpPr>
                <p:nvPr/>
              </p:nvCxnSpPr>
              <p:spPr>
                <a:xfrm flipV="1">
                  <a:off x="14310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47" name="Straight Arrow Connector 46">
                  <a:extLst>
                    <a:ext uri="{FF2B5EF4-FFF2-40B4-BE49-F238E27FC236}">
                      <a16:creationId xmlns:a16="http://schemas.microsoft.com/office/drawing/2014/main" id="{41D46F7F-60D2-2253-A95E-3CF128D8615A}"/>
                    </a:ext>
                  </a:extLst>
                </p:cNvPr>
                <p:cNvCxnSpPr>
                  <a:cxnSpLocks/>
                </p:cNvCxnSpPr>
                <p:nvPr/>
              </p:nvCxnSpPr>
              <p:spPr>
                <a:xfrm flipV="1">
                  <a:off x="15834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48" name="Straight Arrow Connector 47">
                  <a:extLst>
                    <a:ext uri="{FF2B5EF4-FFF2-40B4-BE49-F238E27FC236}">
                      <a16:creationId xmlns:a16="http://schemas.microsoft.com/office/drawing/2014/main" id="{01A8714E-8C09-9878-91B8-5718F4200307}"/>
                    </a:ext>
                  </a:extLst>
                </p:cNvPr>
                <p:cNvCxnSpPr>
                  <a:cxnSpLocks/>
                </p:cNvCxnSpPr>
                <p:nvPr/>
              </p:nvCxnSpPr>
              <p:spPr>
                <a:xfrm flipV="1">
                  <a:off x="17358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49" name="Straight Arrow Connector 48">
                  <a:extLst>
                    <a:ext uri="{FF2B5EF4-FFF2-40B4-BE49-F238E27FC236}">
                      <a16:creationId xmlns:a16="http://schemas.microsoft.com/office/drawing/2014/main" id="{F4486DEB-72FF-D801-2A2D-0D61BBD145CB}"/>
                    </a:ext>
                  </a:extLst>
                </p:cNvPr>
                <p:cNvCxnSpPr>
                  <a:cxnSpLocks/>
                </p:cNvCxnSpPr>
                <p:nvPr/>
              </p:nvCxnSpPr>
              <p:spPr>
                <a:xfrm flipV="1">
                  <a:off x="18882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50" name="Straight Arrow Connector 49">
                  <a:extLst>
                    <a:ext uri="{FF2B5EF4-FFF2-40B4-BE49-F238E27FC236}">
                      <a16:creationId xmlns:a16="http://schemas.microsoft.com/office/drawing/2014/main" id="{C2941EC8-867A-FB66-A4DC-944F498A4640}"/>
                    </a:ext>
                  </a:extLst>
                </p:cNvPr>
                <p:cNvCxnSpPr>
                  <a:cxnSpLocks/>
                </p:cNvCxnSpPr>
                <p:nvPr/>
              </p:nvCxnSpPr>
              <p:spPr>
                <a:xfrm flipV="1">
                  <a:off x="20406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grpSp>
        </p:grpSp>
        <p:grpSp>
          <p:nvGrpSpPr>
            <p:cNvPr id="51" name="Group 50">
              <a:extLst>
                <a:ext uri="{FF2B5EF4-FFF2-40B4-BE49-F238E27FC236}">
                  <a16:creationId xmlns:a16="http://schemas.microsoft.com/office/drawing/2014/main" id="{C2F40F94-CAAB-FE39-877A-A5512E4FC576}"/>
                </a:ext>
              </a:extLst>
            </p:cNvPr>
            <p:cNvGrpSpPr/>
            <p:nvPr/>
          </p:nvGrpSpPr>
          <p:grpSpPr>
            <a:xfrm>
              <a:off x="3571146" y="4356385"/>
              <a:ext cx="1159934" cy="858841"/>
              <a:chOff x="721892" y="4356385"/>
              <a:chExt cx="1159934" cy="858841"/>
            </a:xfrm>
          </p:grpSpPr>
          <p:sp>
            <p:nvSpPr>
              <p:cNvPr id="52" name="Cylinder 51">
                <a:extLst>
                  <a:ext uri="{FF2B5EF4-FFF2-40B4-BE49-F238E27FC236}">
                    <a16:creationId xmlns:a16="http://schemas.microsoft.com/office/drawing/2014/main" id="{0E9DAF02-7074-96C2-F5F5-01329180D4D6}"/>
                  </a:ext>
                </a:extLst>
              </p:cNvPr>
              <p:cNvSpPr/>
              <p:nvPr/>
            </p:nvSpPr>
            <p:spPr>
              <a:xfrm>
                <a:off x="721892" y="4758502"/>
                <a:ext cx="1159934" cy="456724"/>
              </a:xfrm>
              <a:prstGeom prst="can">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SSD3</a:t>
                </a:r>
              </a:p>
            </p:txBody>
          </p:sp>
          <p:grpSp>
            <p:nvGrpSpPr>
              <p:cNvPr id="53" name="Group 52">
                <a:extLst>
                  <a:ext uri="{FF2B5EF4-FFF2-40B4-BE49-F238E27FC236}">
                    <a16:creationId xmlns:a16="http://schemas.microsoft.com/office/drawing/2014/main" id="{7D6748B2-8A8E-8B49-DF36-B0E2DF050ACD}"/>
                  </a:ext>
                </a:extLst>
              </p:cNvPr>
              <p:cNvGrpSpPr/>
              <p:nvPr/>
            </p:nvGrpSpPr>
            <p:grpSpPr>
              <a:xfrm>
                <a:off x="768459" y="4356385"/>
                <a:ext cx="1066800" cy="288000"/>
                <a:chOff x="973819" y="3945467"/>
                <a:chExt cx="1066800" cy="288000"/>
              </a:xfrm>
            </p:grpSpPr>
            <p:cxnSp>
              <p:nvCxnSpPr>
                <p:cNvPr id="54" name="Straight Arrow Connector 53">
                  <a:extLst>
                    <a:ext uri="{FF2B5EF4-FFF2-40B4-BE49-F238E27FC236}">
                      <a16:creationId xmlns:a16="http://schemas.microsoft.com/office/drawing/2014/main" id="{13BA100A-8CC0-E62A-DD7A-819F838E1D27}"/>
                    </a:ext>
                  </a:extLst>
                </p:cNvPr>
                <p:cNvCxnSpPr>
                  <a:cxnSpLocks/>
                </p:cNvCxnSpPr>
                <p:nvPr/>
              </p:nvCxnSpPr>
              <p:spPr>
                <a:xfrm flipV="1">
                  <a:off x="9738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55" name="Straight Arrow Connector 54">
                  <a:extLst>
                    <a:ext uri="{FF2B5EF4-FFF2-40B4-BE49-F238E27FC236}">
                      <a16:creationId xmlns:a16="http://schemas.microsoft.com/office/drawing/2014/main" id="{7ADB260E-98BE-202F-9870-7C7BE3711D2C}"/>
                    </a:ext>
                  </a:extLst>
                </p:cNvPr>
                <p:cNvCxnSpPr>
                  <a:cxnSpLocks/>
                </p:cNvCxnSpPr>
                <p:nvPr/>
              </p:nvCxnSpPr>
              <p:spPr>
                <a:xfrm flipV="1">
                  <a:off x="11262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56" name="Straight Arrow Connector 55">
                  <a:extLst>
                    <a:ext uri="{FF2B5EF4-FFF2-40B4-BE49-F238E27FC236}">
                      <a16:creationId xmlns:a16="http://schemas.microsoft.com/office/drawing/2014/main" id="{DDC43114-7E97-AE17-F653-11F417C2957F}"/>
                    </a:ext>
                  </a:extLst>
                </p:cNvPr>
                <p:cNvCxnSpPr>
                  <a:cxnSpLocks/>
                </p:cNvCxnSpPr>
                <p:nvPr/>
              </p:nvCxnSpPr>
              <p:spPr>
                <a:xfrm flipV="1">
                  <a:off x="12786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57" name="Straight Arrow Connector 56">
                  <a:extLst>
                    <a:ext uri="{FF2B5EF4-FFF2-40B4-BE49-F238E27FC236}">
                      <a16:creationId xmlns:a16="http://schemas.microsoft.com/office/drawing/2014/main" id="{7DD9ACD3-2FDC-DE09-88B2-909393E298A0}"/>
                    </a:ext>
                  </a:extLst>
                </p:cNvPr>
                <p:cNvCxnSpPr>
                  <a:cxnSpLocks/>
                </p:cNvCxnSpPr>
                <p:nvPr/>
              </p:nvCxnSpPr>
              <p:spPr>
                <a:xfrm flipV="1">
                  <a:off x="14310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58" name="Straight Arrow Connector 57">
                  <a:extLst>
                    <a:ext uri="{FF2B5EF4-FFF2-40B4-BE49-F238E27FC236}">
                      <a16:creationId xmlns:a16="http://schemas.microsoft.com/office/drawing/2014/main" id="{8183115D-217A-B431-C005-B466EA9BA9D6}"/>
                    </a:ext>
                  </a:extLst>
                </p:cNvPr>
                <p:cNvCxnSpPr>
                  <a:cxnSpLocks/>
                </p:cNvCxnSpPr>
                <p:nvPr/>
              </p:nvCxnSpPr>
              <p:spPr>
                <a:xfrm flipV="1">
                  <a:off x="15834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59" name="Straight Arrow Connector 58">
                  <a:extLst>
                    <a:ext uri="{FF2B5EF4-FFF2-40B4-BE49-F238E27FC236}">
                      <a16:creationId xmlns:a16="http://schemas.microsoft.com/office/drawing/2014/main" id="{FD5DF5F6-A1B0-4BAE-081C-0DE36F8CF430}"/>
                    </a:ext>
                  </a:extLst>
                </p:cNvPr>
                <p:cNvCxnSpPr>
                  <a:cxnSpLocks/>
                </p:cNvCxnSpPr>
                <p:nvPr/>
              </p:nvCxnSpPr>
              <p:spPr>
                <a:xfrm flipV="1">
                  <a:off x="17358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60" name="Straight Arrow Connector 59">
                  <a:extLst>
                    <a:ext uri="{FF2B5EF4-FFF2-40B4-BE49-F238E27FC236}">
                      <a16:creationId xmlns:a16="http://schemas.microsoft.com/office/drawing/2014/main" id="{EFB7BC48-C88A-2AF6-D679-DA0748D80092}"/>
                    </a:ext>
                  </a:extLst>
                </p:cNvPr>
                <p:cNvCxnSpPr>
                  <a:cxnSpLocks/>
                </p:cNvCxnSpPr>
                <p:nvPr/>
              </p:nvCxnSpPr>
              <p:spPr>
                <a:xfrm flipV="1">
                  <a:off x="18882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61" name="Straight Arrow Connector 60">
                  <a:extLst>
                    <a:ext uri="{FF2B5EF4-FFF2-40B4-BE49-F238E27FC236}">
                      <a16:creationId xmlns:a16="http://schemas.microsoft.com/office/drawing/2014/main" id="{5E04451E-C59B-FE46-FE2C-CCCDEEFF7535}"/>
                    </a:ext>
                  </a:extLst>
                </p:cNvPr>
                <p:cNvCxnSpPr>
                  <a:cxnSpLocks/>
                </p:cNvCxnSpPr>
                <p:nvPr/>
              </p:nvCxnSpPr>
              <p:spPr>
                <a:xfrm flipV="1">
                  <a:off x="2040619" y="3945467"/>
                  <a:ext cx="0" cy="2880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grpSp>
        </p:grpSp>
      </p:grpSp>
      <p:grpSp>
        <p:nvGrpSpPr>
          <p:cNvPr id="126" name="Group 125">
            <a:extLst>
              <a:ext uri="{FF2B5EF4-FFF2-40B4-BE49-F238E27FC236}">
                <a16:creationId xmlns:a16="http://schemas.microsoft.com/office/drawing/2014/main" id="{2D6B7C36-084A-6656-3553-4EF9D39940AE}"/>
              </a:ext>
            </a:extLst>
          </p:cNvPr>
          <p:cNvGrpSpPr/>
          <p:nvPr/>
        </p:nvGrpSpPr>
        <p:grpSpPr>
          <a:xfrm>
            <a:off x="7261953" y="2451339"/>
            <a:ext cx="4008383" cy="2763887"/>
            <a:chOff x="7261953" y="2451339"/>
            <a:chExt cx="4008383" cy="2763887"/>
          </a:xfrm>
        </p:grpSpPr>
        <p:sp>
          <p:nvSpPr>
            <p:cNvPr id="62" name="Rectangle 61">
              <a:extLst>
                <a:ext uri="{FF2B5EF4-FFF2-40B4-BE49-F238E27FC236}">
                  <a16:creationId xmlns:a16="http://schemas.microsoft.com/office/drawing/2014/main" id="{A1BF21A1-B73B-9007-B3EF-7DFC7A88FF7D}"/>
                </a:ext>
              </a:extLst>
            </p:cNvPr>
            <p:cNvSpPr/>
            <p:nvPr/>
          </p:nvSpPr>
          <p:spPr>
            <a:xfrm>
              <a:off x="7261953" y="3567207"/>
              <a:ext cx="3990026" cy="471924"/>
            </a:xfrm>
            <a:prstGeom prst="rect">
              <a:avLst/>
            </a:prstGeom>
            <a:solidFill>
              <a:schemeClr val="bg1"/>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altLang="zh-CN" sz="12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S</a:t>
              </a:r>
              <a:r>
                <a:rPr kumimoji="0" lang="en-US" sz="12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ystem Agent</a:t>
              </a:r>
            </a:p>
            <a:p>
              <a:pPr marL="0" marR="0" indent="0" algn="ctr" defTabSz="8255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a:t>
              </a:r>
              <a:r>
                <a:rPr kumimoji="0" lang="en-US" sz="1200" b="1" u="none" strike="noStrike" cap="none" spc="0" normalizeH="0" baseline="0" dirty="0">
                  <a:ln>
                    <a:noFill/>
                  </a:ln>
                  <a:solidFill>
                    <a:schemeClr val="tx1"/>
                  </a:solidFill>
                  <a:uFillTx/>
                  <a:latin typeface="Inter"/>
                  <a:ea typeface="Helvetica Neue Medium"/>
                  <a:cs typeface="Helvetica Neue Medium"/>
                  <a:sym typeface="Helvetica Neue Medium"/>
                </a:rPr>
                <a:t>R</a:t>
              </a:r>
              <a:r>
                <a:rPr lang="en-US" sz="1200" b="1" i="0" dirty="0">
                  <a:solidFill>
                    <a:schemeClr val="tx1"/>
                  </a:solidFill>
                  <a:effectLst/>
                  <a:latin typeface="Inter"/>
                </a:rPr>
                <a:t>emaps Translates IRQ / Notifies CPU</a:t>
              </a:r>
              <a:r>
                <a:rPr kumimoji="0" lang="en-US" sz="12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a:t>
              </a:r>
            </a:p>
          </p:txBody>
        </p:sp>
        <p:grpSp>
          <p:nvGrpSpPr>
            <p:cNvPr id="63" name="Group 62">
              <a:extLst>
                <a:ext uri="{FF2B5EF4-FFF2-40B4-BE49-F238E27FC236}">
                  <a16:creationId xmlns:a16="http://schemas.microsoft.com/office/drawing/2014/main" id="{2012790B-4479-A817-A87B-FF8F98691823}"/>
                </a:ext>
              </a:extLst>
            </p:cNvPr>
            <p:cNvGrpSpPr/>
            <p:nvPr/>
          </p:nvGrpSpPr>
          <p:grpSpPr>
            <a:xfrm>
              <a:off x="7755246" y="2451339"/>
              <a:ext cx="1121613" cy="851031"/>
              <a:chOff x="872176" y="1441320"/>
              <a:chExt cx="1121613" cy="851031"/>
            </a:xfrm>
          </p:grpSpPr>
          <p:sp>
            <p:nvSpPr>
              <p:cNvPr id="64" name="Flowchart: Connector 63">
                <a:extLst>
                  <a:ext uri="{FF2B5EF4-FFF2-40B4-BE49-F238E27FC236}">
                    <a16:creationId xmlns:a16="http://schemas.microsoft.com/office/drawing/2014/main" id="{1502E2DC-116A-F31E-9D29-FDACC2CC0ED2}"/>
                  </a:ext>
                </a:extLst>
              </p:cNvPr>
              <p:cNvSpPr/>
              <p:nvPr/>
            </p:nvSpPr>
            <p:spPr>
              <a:xfrm>
                <a:off x="1104941" y="1441320"/>
                <a:ext cx="656081" cy="533777"/>
              </a:xfrm>
              <a:prstGeom prst="flowChartConnector">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9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CPU Core</a:t>
                </a:r>
              </a:p>
            </p:txBody>
          </p:sp>
          <p:sp>
            <p:nvSpPr>
              <p:cNvPr id="65" name="Rectangle 64">
                <a:extLst>
                  <a:ext uri="{FF2B5EF4-FFF2-40B4-BE49-F238E27FC236}">
                    <a16:creationId xmlns:a16="http://schemas.microsoft.com/office/drawing/2014/main" id="{FE27E2BF-6BE9-4D7B-B84C-18D7A0AE1D84}"/>
                  </a:ext>
                </a:extLst>
              </p:cNvPr>
              <p:cNvSpPr/>
              <p:nvPr/>
            </p:nvSpPr>
            <p:spPr>
              <a:xfrm>
                <a:off x="872176" y="2005093"/>
                <a:ext cx="1121613" cy="287258"/>
              </a:xfrm>
              <a:prstGeom prst="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Local-APIC</a:t>
                </a:r>
              </a:p>
            </p:txBody>
          </p:sp>
        </p:grpSp>
        <p:grpSp>
          <p:nvGrpSpPr>
            <p:cNvPr id="66" name="Group 65">
              <a:extLst>
                <a:ext uri="{FF2B5EF4-FFF2-40B4-BE49-F238E27FC236}">
                  <a16:creationId xmlns:a16="http://schemas.microsoft.com/office/drawing/2014/main" id="{F120598E-F51D-1C68-298D-59D829D1CEB5}"/>
                </a:ext>
              </a:extLst>
            </p:cNvPr>
            <p:cNvGrpSpPr/>
            <p:nvPr/>
          </p:nvGrpSpPr>
          <p:grpSpPr>
            <a:xfrm>
              <a:off x="9582326" y="2451339"/>
              <a:ext cx="1121613" cy="851031"/>
              <a:chOff x="872176" y="1441320"/>
              <a:chExt cx="1121613" cy="851031"/>
            </a:xfrm>
          </p:grpSpPr>
          <p:sp>
            <p:nvSpPr>
              <p:cNvPr id="67" name="Flowchart: Connector 66">
                <a:extLst>
                  <a:ext uri="{FF2B5EF4-FFF2-40B4-BE49-F238E27FC236}">
                    <a16:creationId xmlns:a16="http://schemas.microsoft.com/office/drawing/2014/main" id="{FBC718FB-D280-5DED-4566-D0D531B36DB2}"/>
                  </a:ext>
                </a:extLst>
              </p:cNvPr>
              <p:cNvSpPr/>
              <p:nvPr/>
            </p:nvSpPr>
            <p:spPr>
              <a:xfrm>
                <a:off x="1104941" y="1441320"/>
                <a:ext cx="656081" cy="533777"/>
              </a:xfrm>
              <a:prstGeom prst="flowChartConnector">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9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CPU Core</a:t>
                </a:r>
              </a:p>
            </p:txBody>
          </p:sp>
          <p:sp>
            <p:nvSpPr>
              <p:cNvPr id="68" name="Rectangle 67">
                <a:extLst>
                  <a:ext uri="{FF2B5EF4-FFF2-40B4-BE49-F238E27FC236}">
                    <a16:creationId xmlns:a16="http://schemas.microsoft.com/office/drawing/2014/main" id="{A68056B5-B503-0534-A91B-8E5180EDE4FB}"/>
                  </a:ext>
                </a:extLst>
              </p:cNvPr>
              <p:cNvSpPr/>
              <p:nvPr/>
            </p:nvSpPr>
            <p:spPr>
              <a:xfrm>
                <a:off x="872176" y="2005093"/>
                <a:ext cx="1121613" cy="287258"/>
              </a:xfrm>
              <a:prstGeom prst="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Local-APIC</a:t>
                </a:r>
              </a:p>
            </p:txBody>
          </p:sp>
        </p:grpSp>
        <p:grpSp>
          <p:nvGrpSpPr>
            <p:cNvPr id="69" name="Group 68">
              <a:extLst>
                <a:ext uri="{FF2B5EF4-FFF2-40B4-BE49-F238E27FC236}">
                  <a16:creationId xmlns:a16="http://schemas.microsoft.com/office/drawing/2014/main" id="{64ADD991-1A9F-E5E3-2673-566953F2FB6B}"/>
                </a:ext>
              </a:extLst>
            </p:cNvPr>
            <p:cNvGrpSpPr/>
            <p:nvPr/>
          </p:nvGrpSpPr>
          <p:grpSpPr>
            <a:xfrm>
              <a:off x="7261953" y="4356385"/>
              <a:ext cx="1159934" cy="858841"/>
              <a:chOff x="721892" y="4356385"/>
              <a:chExt cx="1159934" cy="858841"/>
            </a:xfrm>
          </p:grpSpPr>
          <p:sp>
            <p:nvSpPr>
              <p:cNvPr id="70" name="Cylinder 69">
                <a:extLst>
                  <a:ext uri="{FF2B5EF4-FFF2-40B4-BE49-F238E27FC236}">
                    <a16:creationId xmlns:a16="http://schemas.microsoft.com/office/drawing/2014/main" id="{78B793AB-8D61-9AAA-C00A-FA0476E54006}"/>
                  </a:ext>
                </a:extLst>
              </p:cNvPr>
              <p:cNvSpPr/>
              <p:nvPr/>
            </p:nvSpPr>
            <p:spPr>
              <a:xfrm>
                <a:off x="721892" y="4758502"/>
                <a:ext cx="1159934" cy="456724"/>
              </a:xfrm>
              <a:prstGeom prst="can">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SSD1</a:t>
                </a:r>
              </a:p>
            </p:txBody>
          </p:sp>
          <p:grpSp>
            <p:nvGrpSpPr>
              <p:cNvPr id="71" name="Group 70">
                <a:extLst>
                  <a:ext uri="{FF2B5EF4-FFF2-40B4-BE49-F238E27FC236}">
                    <a16:creationId xmlns:a16="http://schemas.microsoft.com/office/drawing/2014/main" id="{5075F31F-9995-63C4-4815-6E7A36065BC2}"/>
                  </a:ext>
                </a:extLst>
              </p:cNvPr>
              <p:cNvGrpSpPr/>
              <p:nvPr/>
            </p:nvGrpSpPr>
            <p:grpSpPr>
              <a:xfrm>
                <a:off x="768459" y="4356385"/>
                <a:ext cx="1066800" cy="288000"/>
                <a:chOff x="973819" y="3945467"/>
                <a:chExt cx="1066800" cy="288000"/>
              </a:xfrm>
            </p:grpSpPr>
            <p:cxnSp>
              <p:nvCxnSpPr>
                <p:cNvPr id="72" name="Straight Arrow Connector 71">
                  <a:extLst>
                    <a:ext uri="{FF2B5EF4-FFF2-40B4-BE49-F238E27FC236}">
                      <a16:creationId xmlns:a16="http://schemas.microsoft.com/office/drawing/2014/main" id="{60B7F38A-D4A1-9EEC-3517-4B11C9FFF07A}"/>
                    </a:ext>
                  </a:extLst>
                </p:cNvPr>
                <p:cNvCxnSpPr>
                  <a:cxnSpLocks/>
                </p:cNvCxnSpPr>
                <p:nvPr/>
              </p:nvCxnSpPr>
              <p:spPr>
                <a:xfrm flipV="1">
                  <a:off x="973819" y="3945467"/>
                  <a:ext cx="0" cy="288000"/>
                </a:xfrm>
                <a:prstGeom prst="straightConnector1">
                  <a:avLst/>
                </a:prstGeom>
                <a:noFill/>
                <a:ln w="508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73" name="Straight Arrow Connector 72">
                  <a:extLst>
                    <a:ext uri="{FF2B5EF4-FFF2-40B4-BE49-F238E27FC236}">
                      <a16:creationId xmlns:a16="http://schemas.microsoft.com/office/drawing/2014/main" id="{79F82B6B-5A00-D202-3691-6A7839706589}"/>
                    </a:ext>
                  </a:extLst>
                </p:cNvPr>
                <p:cNvCxnSpPr>
                  <a:cxnSpLocks/>
                </p:cNvCxnSpPr>
                <p:nvPr/>
              </p:nvCxnSpPr>
              <p:spPr>
                <a:xfrm flipV="1">
                  <a:off x="1126219" y="3945467"/>
                  <a:ext cx="0" cy="288000"/>
                </a:xfrm>
                <a:prstGeom prst="straightConnector1">
                  <a:avLst/>
                </a:prstGeom>
                <a:noFill/>
                <a:ln w="25400" cap="flat">
                  <a:solidFill>
                    <a:schemeClr val="bg1">
                      <a:lumMod val="75000"/>
                    </a:schemeClr>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74" name="Straight Arrow Connector 73">
                  <a:extLst>
                    <a:ext uri="{FF2B5EF4-FFF2-40B4-BE49-F238E27FC236}">
                      <a16:creationId xmlns:a16="http://schemas.microsoft.com/office/drawing/2014/main" id="{2F86D4FC-2B12-2C4D-969D-F05EAAB115E5}"/>
                    </a:ext>
                  </a:extLst>
                </p:cNvPr>
                <p:cNvCxnSpPr>
                  <a:cxnSpLocks/>
                </p:cNvCxnSpPr>
                <p:nvPr/>
              </p:nvCxnSpPr>
              <p:spPr>
                <a:xfrm flipV="1">
                  <a:off x="1278619" y="3945467"/>
                  <a:ext cx="0" cy="288000"/>
                </a:xfrm>
                <a:prstGeom prst="straightConnector1">
                  <a:avLst/>
                </a:prstGeom>
                <a:noFill/>
                <a:ln w="25400" cap="flat">
                  <a:solidFill>
                    <a:schemeClr val="bg1">
                      <a:lumMod val="75000"/>
                    </a:schemeClr>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75" name="Straight Arrow Connector 74">
                  <a:extLst>
                    <a:ext uri="{FF2B5EF4-FFF2-40B4-BE49-F238E27FC236}">
                      <a16:creationId xmlns:a16="http://schemas.microsoft.com/office/drawing/2014/main" id="{59CDA906-9F5E-6D81-377C-9F30C2F8637E}"/>
                    </a:ext>
                  </a:extLst>
                </p:cNvPr>
                <p:cNvCxnSpPr>
                  <a:cxnSpLocks/>
                </p:cNvCxnSpPr>
                <p:nvPr/>
              </p:nvCxnSpPr>
              <p:spPr>
                <a:xfrm flipV="1">
                  <a:off x="1431019" y="3945467"/>
                  <a:ext cx="0" cy="288000"/>
                </a:xfrm>
                <a:prstGeom prst="straightConnector1">
                  <a:avLst/>
                </a:prstGeom>
                <a:noFill/>
                <a:ln w="25400" cap="flat">
                  <a:solidFill>
                    <a:schemeClr val="bg1">
                      <a:lumMod val="75000"/>
                    </a:schemeClr>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76" name="Straight Arrow Connector 75">
                  <a:extLst>
                    <a:ext uri="{FF2B5EF4-FFF2-40B4-BE49-F238E27FC236}">
                      <a16:creationId xmlns:a16="http://schemas.microsoft.com/office/drawing/2014/main" id="{44D4B7CD-E54D-4492-C944-85FBB57E8600}"/>
                    </a:ext>
                  </a:extLst>
                </p:cNvPr>
                <p:cNvCxnSpPr>
                  <a:cxnSpLocks/>
                </p:cNvCxnSpPr>
                <p:nvPr/>
              </p:nvCxnSpPr>
              <p:spPr>
                <a:xfrm flipV="1">
                  <a:off x="1583419" y="3945467"/>
                  <a:ext cx="0" cy="288000"/>
                </a:xfrm>
                <a:prstGeom prst="straightConnector1">
                  <a:avLst/>
                </a:prstGeom>
                <a:noFill/>
                <a:ln w="508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77" name="Straight Arrow Connector 76">
                  <a:extLst>
                    <a:ext uri="{FF2B5EF4-FFF2-40B4-BE49-F238E27FC236}">
                      <a16:creationId xmlns:a16="http://schemas.microsoft.com/office/drawing/2014/main" id="{2BA86CCE-7034-39ED-0535-4AFC8D493132}"/>
                    </a:ext>
                  </a:extLst>
                </p:cNvPr>
                <p:cNvCxnSpPr>
                  <a:cxnSpLocks/>
                </p:cNvCxnSpPr>
                <p:nvPr/>
              </p:nvCxnSpPr>
              <p:spPr>
                <a:xfrm flipV="1">
                  <a:off x="1735819" y="3945467"/>
                  <a:ext cx="0" cy="288000"/>
                </a:xfrm>
                <a:prstGeom prst="straightConnector1">
                  <a:avLst/>
                </a:prstGeom>
                <a:noFill/>
                <a:ln w="25400" cap="flat">
                  <a:solidFill>
                    <a:schemeClr val="bg1">
                      <a:lumMod val="75000"/>
                    </a:schemeClr>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78" name="Straight Arrow Connector 77">
                  <a:extLst>
                    <a:ext uri="{FF2B5EF4-FFF2-40B4-BE49-F238E27FC236}">
                      <a16:creationId xmlns:a16="http://schemas.microsoft.com/office/drawing/2014/main" id="{F29757D0-874C-ED2B-F546-60846E682B88}"/>
                    </a:ext>
                  </a:extLst>
                </p:cNvPr>
                <p:cNvCxnSpPr>
                  <a:cxnSpLocks/>
                </p:cNvCxnSpPr>
                <p:nvPr/>
              </p:nvCxnSpPr>
              <p:spPr>
                <a:xfrm flipV="1">
                  <a:off x="1888219" y="3945467"/>
                  <a:ext cx="0" cy="288000"/>
                </a:xfrm>
                <a:prstGeom prst="straightConnector1">
                  <a:avLst/>
                </a:prstGeom>
                <a:noFill/>
                <a:ln w="25400" cap="flat">
                  <a:solidFill>
                    <a:schemeClr val="bg1">
                      <a:lumMod val="75000"/>
                    </a:schemeClr>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79" name="Straight Arrow Connector 78">
                  <a:extLst>
                    <a:ext uri="{FF2B5EF4-FFF2-40B4-BE49-F238E27FC236}">
                      <a16:creationId xmlns:a16="http://schemas.microsoft.com/office/drawing/2014/main" id="{73D15462-0D92-D440-6D0F-3BBC21C22DA6}"/>
                    </a:ext>
                  </a:extLst>
                </p:cNvPr>
                <p:cNvCxnSpPr>
                  <a:cxnSpLocks/>
                </p:cNvCxnSpPr>
                <p:nvPr/>
              </p:nvCxnSpPr>
              <p:spPr>
                <a:xfrm flipV="1">
                  <a:off x="2040619" y="3945467"/>
                  <a:ext cx="0" cy="288000"/>
                </a:xfrm>
                <a:prstGeom prst="straightConnector1">
                  <a:avLst/>
                </a:prstGeom>
                <a:noFill/>
                <a:ln w="25400" cap="flat">
                  <a:solidFill>
                    <a:schemeClr val="bg1">
                      <a:lumMod val="75000"/>
                    </a:schemeClr>
                  </a:solidFill>
                  <a:prstDash val="sysDash"/>
                  <a:miter lim="400000"/>
                  <a:tailEnd type="triangle"/>
                </a:ln>
                <a:effectLst/>
                <a:sp3d/>
              </p:spPr>
              <p:style>
                <a:lnRef idx="0">
                  <a:scrgbClr r="0" g="0" b="0"/>
                </a:lnRef>
                <a:fillRef idx="0">
                  <a:scrgbClr r="0" g="0" b="0"/>
                </a:fillRef>
                <a:effectRef idx="0">
                  <a:scrgbClr r="0" g="0" b="0"/>
                </a:effectRef>
                <a:fontRef idx="none"/>
              </p:style>
            </p:cxnSp>
          </p:grpSp>
        </p:grpSp>
        <p:grpSp>
          <p:nvGrpSpPr>
            <p:cNvPr id="103" name="Group 102">
              <a:extLst>
                <a:ext uri="{FF2B5EF4-FFF2-40B4-BE49-F238E27FC236}">
                  <a16:creationId xmlns:a16="http://schemas.microsoft.com/office/drawing/2014/main" id="{4276CDEC-0224-5240-2B28-CB7C19AE1D3E}"/>
                </a:ext>
              </a:extLst>
            </p:cNvPr>
            <p:cNvGrpSpPr/>
            <p:nvPr/>
          </p:nvGrpSpPr>
          <p:grpSpPr>
            <a:xfrm>
              <a:off x="8724932" y="4356385"/>
              <a:ext cx="1159934" cy="858841"/>
              <a:chOff x="721892" y="4356385"/>
              <a:chExt cx="1159934" cy="858841"/>
            </a:xfrm>
          </p:grpSpPr>
          <p:sp>
            <p:nvSpPr>
              <p:cNvPr id="104" name="Cylinder 103">
                <a:extLst>
                  <a:ext uri="{FF2B5EF4-FFF2-40B4-BE49-F238E27FC236}">
                    <a16:creationId xmlns:a16="http://schemas.microsoft.com/office/drawing/2014/main" id="{1912B5D3-C92F-1FB0-FE6A-29F04EEBC8D9}"/>
                  </a:ext>
                </a:extLst>
              </p:cNvPr>
              <p:cNvSpPr/>
              <p:nvPr/>
            </p:nvSpPr>
            <p:spPr>
              <a:xfrm>
                <a:off x="721892" y="4758502"/>
                <a:ext cx="1159934" cy="456724"/>
              </a:xfrm>
              <a:prstGeom prst="can">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SSD2</a:t>
                </a:r>
              </a:p>
            </p:txBody>
          </p:sp>
          <p:grpSp>
            <p:nvGrpSpPr>
              <p:cNvPr id="105" name="Group 104">
                <a:extLst>
                  <a:ext uri="{FF2B5EF4-FFF2-40B4-BE49-F238E27FC236}">
                    <a16:creationId xmlns:a16="http://schemas.microsoft.com/office/drawing/2014/main" id="{F89BFA90-26B6-3038-ADFA-0C54A492F56D}"/>
                  </a:ext>
                </a:extLst>
              </p:cNvPr>
              <p:cNvGrpSpPr/>
              <p:nvPr/>
            </p:nvGrpSpPr>
            <p:grpSpPr>
              <a:xfrm>
                <a:off x="768459" y="4356385"/>
                <a:ext cx="1066800" cy="288000"/>
                <a:chOff x="973819" y="3945467"/>
                <a:chExt cx="1066800" cy="288000"/>
              </a:xfrm>
            </p:grpSpPr>
            <p:cxnSp>
              <p:nvCxnSpPr>
                <p:cNvPr id="106" name="Straight Arrow Connector 105">
                  <a:extLst>
                    <a:ext uri="{FF2B5EF4-FFF2-40B4-BE49-F238E27FC236}">
                      <a16:creationId xmlns:a16="http://schemas.microsoft.com/office/drawing/2014/main" id="{E4F53450-461D-B413-1B89-BD96B07FFE75}"/>
                    </a:ext>
                  </a:extLst>
                </p:cNvPr>
                <p:cNvCxnSpPr>
                  <a:cxnSpLocks/>
                </p:cNvCxnSpPr>
                <p:nvPr/>
              </p:nvCxnSpPr>
              <p:spPr>
                <a:xfrm flipV="1">
                  <a:off x="973819" y="3945467"/>
                  <a:ext cx="0" cy="288000"/>
                </a:xfrm>
                <a:prstGeom prst="straightConnector1">
                  <a:avLst/>
                </a:prstGeom>
                <a:noFill/>
                <a:ln w="508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07" name="Straight Arrow Connector 106">
                  <a:extLst>
                    <a:ext uri="{FF2B5EF4-FFF2-40B4-BE49-F238E27FC236}">
                      <a16:creationId xmlns:a16="http://schemas.microsoft.com/office/drawing/2014/main" id="{FF9655EF-D503-7E5A-59DB-BE1DFD598032}"/>
                    </a:ext>
                  </a:extLst>
                </p:cNvPr>
                <p:cNvCxnSpPr>
                  <a:cxnSpLocks/>
                </p:cNvCxnSpPr>
                <p:nvPr/>
              </p:nvCxnSpPr>
              <p:spPr>
                <a:xfrm flipV="1">
                  <a:off x="1126219" y="3945467"/>
                  <a:ext cx="0" cy="288000"/>
                </a:xfrm>
                <a:prstGeom prst="straightConnector1">
                  <a:avLst/>
                </a:prstGeom>
                <a:noFill/>
                <a:ln w="25400" cap="flat">
                  <a:solidFill>
                    <a:schemeClr val="bg1">
                      <a:lumMod val="75000"/>
                    </a:schemeClr>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108" name="Straight Arrow Connector 107">
                  <a:extLst>
                    <a:ext uri="{FF2B5EF4-FFF2-40B4-BE49-F238E27FC236}">
                      <a16:creationId xmlns:a16="http://schemas.microsoft.com/office/drawing/2014/main" id="{6E268B83-D20F-D6B4-0C05-0F10E40389FC}"/>
                    </a:ext>
                  </a:extLst>
                </p:cNvPr>
                <p:cNvCxnSpPr>
                  <a:cxnSpLocks/>
                </p:cNvCxnSpPr>
                <p:nvPr/>
              </p:nvCxnSpPr>
              <p:spPr>
                <a:xfrm flipV="1">
                  <a:off x="1278619" y="3945467"/>
                  <a:ext cx="0" cy="288000"/>
                </a:xfrm>
                <a:prstGeom prst="straightConnector1">
                  <a:avLst/>
                </a:prstGeom>
                <a:noFill/>
                <a:ln w="25400" cap="flat">
                  <a:solidFill>
                    <a:schemeClr val="bg1">
                      <a:lumMod val="75000"/>
                    </a:schemeClr>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109" name="Straight Arrow Connector 108">
                  <a:extLst>
                    <a:ext uri="{FF2B5EF4-FFF2-40B4-BE49-F238E27FC236}">
                      <a16:creationId xmlns:a16="http://schemas.microsoft.com/office/drawing/2014/main" id="{36790240-03D4-2849-A6C4-9EED9B299645}"/>
                    </a:ext>
                  </a:extLst>
                </p:cNvPr>
                <p:cNvCxnSpPr>
                  <a:cxnSpLocks/>
                </p:cNvCxnSpPr>
                <p:nvPr/>
              </p:nvCxnSpPr>
              <p:spPr>
                <a:xfrm flipV="1">
                  <a:off x="1431019" y="3945467"/>
                  <a:ext cx="0" cy="288000"/>
                </a:xfrm>
                <a:prstGeom prst="straightConnector1">
                  <a:avLst/>
                </a:prstGeom>
                <a:noFill/>
                <a:ln w="25400" cap="flat">
                  <a:solidFill>
                    <a:schemeClr val="bg1">
                      <a:lumMod val="75000"/>
                    </a:schemeClr>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110" name="Straight Arrow Connector 109">
                  <a:extLst>
                    <a:ext uri="{FF2B5EF4-FFF2-40B4-BE49-F238E27FC236}">
                      <a16:creationId xmlns:a16="http://schemas.microsoft.com/office/drawing/2014/main" id="{5C0245B9-3CA4-9F0C-8817-06890C6EA09E}"/>
                    </a:ext>
                  </a:extLst>
                </p:cNvPr>
                <p:cNvCxnSpPr>
                  <a:cxnSpLocks/>
                </p:cNvCxnSpPr>
                <p:nvPr/>
              </p:nvCxnSpPr>
              <p:spPr>
                <a:xfrm flipV="1">
                  <a:off x="1583419" y="3945467"/>
                  <a:ext cx="0" cy="288000"/>
                </a:xfrm>
                <a:prstGeom prst="straightConnector1">
                  <a:avLst/>
                </a:prstGeom>
                <a:noFill/>
                <a:ln w="508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11" name="Straight Arrow Connector 110">
                  <a:extLst>
                    <a:ext uri="{FF2B5EF4-FFF2-40B4-BE49-F238E27FC236}">
                      <a16:creationId xmlns:a16="http://schemas.microsoft.com/office/drawing/2014/main" id="{CA6D2955-2579-0CB8-382A-D090E2D69D50}"/>
                    </a:ext>
                  </a:extLst>
                </p:cNvPr>
                <p:cNvCxnSpPr>
                  <a:cxnSpLocks/>
                </p:cNvCxnSpPr>
                <p:nvPr/>
              </p:nvCxnSpPr>
              <p:spPr>
                <a:xfrm flipV="1">
                  <a:off x="1735819" y="3945467"/>
                  <a:ext cx="0" cy="288000"/>
                </a:xfrm>
                <a:prstGeom prst="straightConnector1">
                  <a:avLst/>
                </a:prstGeom>
                <a:noFill/>
                <a:ln w="25400" cap="flat">
                  <a:solidFill>
                    <a:schemeClr val="bg1">
                      <a:lumMod val="75000"/>
                    </a:schemeClr>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112" name="Straight Arrow Connector 111">
                  <a:extLst>
                    <a:ext uri="{FF2B5EF4-FFF2-40B4-BE49-F238E27FC236}">
                      <a16:creationId xmlns:a16="http://schemas.microsoft.com/office/drawing/2014/main" id="{421944B9-2EE0-A2D7-AA83-4738C6F7FFDA}"/>
                    </a:ext>
                  </a:extLst>
                </p:cNvPr>
                <p:cNvCxnSpPr>
                  <a:cxnSpLocks/>
                </p:cNvCxnSpPr>
                <p:nvPr/>
              </p:nvCxnSpPr>
              <p:spPr>
                <a:xfrm flipV="1">
                  <a:off x="1888219" y="3945467"/>
                  <a:ext cx="0" cy="288000"/>
                </a:xfrm>
                <a:prstGeom prst="straightConnector1">
                  <a:avLst/>
                </a:prstGeom>
                <a:noFill/>
                <a:ln w="25400" cap="flat">
                  <a:solidFill>
                    <a:schemeClr val="bg1">
                      <a:lumMod val="75000"/>
                    </a:schemeClr>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113" name="Straight Arrow Connector 112">
                  <a:extLst>
                    <a:ext uri="{FF2B5EF4-FFF2-40B4-BE49-F238E27FC236}">
                      <a16:creationId xmlns:a16="http://schemas.microsoft.com/office/drawing/2014/main" id="{98DC9EF8-AC66-B752-8B43-D340A4E299DE}"/>
                    </a:ext>
                  </a:extLst>
                </p:cNvPr>
                <p:cNvCxnSpPr>
                  <a:cxnSpLocks/>
                </p:cNvCxnSpPr>
                <p:nvPr/>
              </p:nvCxnSpPr>
              <p:spPr>
                <a:xfrm flipV="1">
                  <a:off x="2040619" y="3945467"/>
                  <a:ext cx="0" cy="288000"/>
                </a:xfrm>
                <a:prstGeom prst="straightConnector1">
                  <a:avLst/>
                </a:prstGeom>
                <a:noFill/>
                <a:ln w="25400" cap="flat">
                  <a:solidFill>
                    <a:schemeClr val="bg1">
                      <a:lumMod val="75000"/>
                    </a:schemeClr>
                  </a:solidFill>
                  <a:prstDash val="sysDash"/>
                  <a:miter lim="400000"/>
                  <a:tailEnd type="triangle"/>
                </a:ln>
                <a:effectLst/>
                <a:sp3d/>
              </p:spPr>
              <p:style>
                <a:lnRef idx="0">
                  <a:scrgbClr r="0" g="0" b="0"/>
                </a:lnRef>
                <a:fillRef idx="0">
                  <a:scrgbClr r="0" g="0" b="0"/>
                </a:fillRef>
                <a:effectRef idx="0">
                  <a:scrgbClr r="0" g="0" b="0"/>
                </a:effectRef>
                <a:fontRef idx="none"/>
              </p:style>
            </p:cxnSp>
          </p:grpSp>
        </p:grpSp>
        <p:grpSp>
          <p:nvGrpSpPr>
            <p:cNvPr id="114" name="Group 113">
              <a:extLst>
                <a:ext uri="{FF2B5EF4-FFF2-40B4-BE49-F238E27FC236}">
                  <a16:creationId xmlns:a16="http://schemas.microsoft.com/office/drawing/2014/main" id="{71FBB428-895C-AE8B-23A9-624321550109}"/>
                </a:ext>
              </a:extLst>
            </p:cNvPr>
            <p:cNvGrpSpPr/>
            <p:nvPr/>
          </p:nvGrpSpPr>
          <p:grpSpPr>
            <a:xfrm>
              <a:off x="10110402" y="4356385"/>
              <a:ext cx="1159934" cy="858841"/>
              <a:chOff x="721892" y="4356385"/>
              <a:chExt cx="1159934" cy="858841"/>
            </a:xfrm>
          </p:grpSpPr>
          <p:sp>
            <p:nvSpPr>
              <p:cNvPr id="115" name="Cylinder 114">
                <a:extLst>
                  <a:ext uri="{FF2B5EF4-FFF2-40B4-BE49-F238E27FC236}">
                    <a16:creationId xmlns:a16="http://schemas.microsoft.com/office/drawing/2014/main" id="{7AE21848-D936-5179-2E74-86DB55C8FA72}"/>
                  </a:ext>
                </a:extLst>
              </p:cNvPr>
              <p:cNvSpPr/>
              <p:nvPr/>
            </p:nvSpPr>
            <p:spPr>
              <a:xfrm>
                <a:off x="721892" y="4758502"/>
                <a:ext cx="1159934" cy="456724"/>
              </a:xfrm>
              <a:prstGeom prst="can">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SSD3</a:t>
                </a:r>
              </a:p>
            </p:txBody>
          </p:sp>
          <p:grpSp>
            <p:nvGrpSpPr>
              <p:cNvPr id="116" name="Group 115">
                <a:extLst>
                  <a:ext uri="{FF2B5EF4-FFF2-40B4-BE49-F238E27FC236}">
                    <a16:creationId xmlns:a16="http://schemas.microsoft.com/office/drawing/2014/main" id="{1F18189B-42C0-651B-A4E7-6DD2A3484539}"/>
                  </a:ext>
                </a:extLst>
              </p:cNvPr>
              <p:cNvGrpSpPr/>
              <p:nvPr/>
            </p:nvGrpSpPr>
            <p:grpSpPr>
              <a:xfrm>
                <a:off x="768459" y="4356385"/>
                <a:ext cx="1066800" cy="288000"/>
                <a:chOff x="973819" y="3945467"/>
                <a:chExt cx="1066800" cy="288000"/>
              </a:xfrm>
            </p:grpSpPr>
            <p:cxnSp>
              <p:nvCxnSpPr>
                <p:cNvPr id="117" name="Straight Arrow Connector 116">
                  <a:extLst>
                    <a:ext uri="{FF2B5EF4-FFF2-40B4-BE49-F238E27FC236}">
                      <a16:creationId xmlns:a16="http://schemas.microsoft.com/office/drawing/2014/main" id="{169D3812-7573-2529-32B3-CAE9D49CD617}"/>
                    </a:ext>
                  </a:extLst>
                </p:cNvPr>
                <p:cNvCxnSpPr>
                  <a:cxnSpLocks/>
                </p:cNvCxnSpPr>
                <p:nvPr/>
              </p:nvCxnSpPr>
              <p:spPr>
                <a:xfrm flipV="1">
                  <a:off x="973819" y="3945467"/>
                  <a:ext cx="0" cy="288000"/>
                </a:xfrm>
                <a:prstGeom prst="straightConnector1">
                  <a:avLst/>
                </a:prstGeom>
                <a:noFill/>
                <a:ln w="508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18" name="Straight Arrow Connector 117">
                  <a:extLst>
                    <a:ext uri="{FF2B5EF4-FFF2-40B4-BE49-F238E27FC236}">
                      <a16:creationId xmlns:a16="http://schemas.microsoft.com/office/drawing/2014/main" id="{2CBB5A7D-4EC0-09CD-7A9B-0C8DE74E60A7}"/>
                    </a:ext>
                  </a:extLst>
                </p:cNvPr>
                <p:cNvCxnSpPr>
                  <a:cxnSpLocks/>
                </p:cNvCxnSpPr>
                <p:nvPr/>
              </p:nvCxnSpPr>
              <p:spPr>
                <a:xfrm flipV="1">
                  <a:off x="1126219" y="3945467"/>
                  <a:ext cx="0" cy="288000"/>
                </a:xfrm>
                <a:prstGeom prst="straightConnector1">
                  <a:avLst/>
                </a:prstGeom>
                <a:noFill/>
                <a:ln w="25400" cap="flat">
                  <a:solidFill>
                    <a:schemeClr val="bg1">
                      <a:lumMod val="75000"/>
                    </a:schemeClr>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119" name="Straight Arrow Connector 118">
                  <a:extLst>
                    <a:ext uri="{FF2B5EF4-FFF2-40B4-BE49-F238E27FC236}">
                      <a16:creationId xmlns:a16="http://schemas.microsoft.com/office/drawing/2014/main" id="{2CE07CC9-21E9-F572-DA78-809498433533}"/>
                    </a:ext>
                  </a:extLst>
                </p:cNvPr>
                <p:cNvCxnSpPr>
                  <a:cxnSpLocks/>
                </p:cNvCxnSpPr>
                <p:nvPr/>
              </p:nvCxnSpPr>
              <p:spPr>
                <a:xfrm flipV="1">
                  <a:off x="1278619" y="3945467"/>
                  <a:ext cx="0" cy="288000"/>
                </a:xfrm>
                <a:prstGeom prst="straightConnector1">
                  <a:avLst/>
                </a:prstGeom>
                <a:noFill/>
                <a:ln w="25400" cap="flat">
                  <a:solidFill>
                    <a:schemeClr val="bg1">
                      <a:lumMod val="75000"/>
                    </a:schemeClr>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120" name="Straight Arrow Connector 119">
                  <a:extLst>
                    <a:ext uri="{FF2B5EF4-FFF2-40B4-BE49-F238E27FC236}">
                      <a16:creationId xmlns:a16="http://schemas.microsoft.com/office/drawing/2014/main" id="{FE60A750-B9E2-3C5D-C7CF-A732FF75C644}"/>
                    </a:ext>
                  </a:extLst>
                </p:cNvPr>
                <p:cNvCxnSpPr>
                  <a:cxnSpLocks/>
                </p:cNvCxnSpPr>
                <p:nvPr/>
              </p:nvCxnSpPr>
              <p:spPr>
                <a:xfrm flipV="1">
                  <a:off x="1431019" y="3945467"/>
                  <a:ext cx="0" cy="288000"/>
                </a:xfrm>
                <a:prstGeom prst="straightConnector1">
                  <a:avLst/>
                </a:prstGeom>
                <a:noFill/>
                <a:ln w="25400" cap="flat">
                  <a:solidFill>
                    <a:schemeClr val="bg1">
                      <a:lumMod val="75000"/>
                    </a:schemeClr>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121" name="Straight Arrow Connector 120">
                  <a:extLst>
                    <a:ext uri="{FF2B5EF4-FFF2-40B4-BE49-F238E27FC236}">
                      <a16:creationId xmlns:a16="http://schemas.microsoft.com/office/drawing/2014/main" id="{53ADB15C-F849-FFEC-B772-A9A60C917386}"/>
                    </a:ext>
                  </a:extLst>
                </p:cNvPr>
                <p:cNvCxnSpPr>
                  <a:cxnSpLocks/>
                </p:cNvCxnSpPr>
                <p:nvPr/>
              </p:nvCxnSpPr>
              <p:spPr>
                <a:xfrm flipV="1">
                  <a:off x="1583419" y="3945467"/>
                  <a:ext cx="0" cy="288000"/>
                </a:xfrm>
                <a:prstGeom prst="straightConnector1">
                  <a:avLst/>
                </a:prstGeom>
                <a:noFill/>
                <a:ln w="508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22" name="Straight Arrow Connector 121">
                  <a:extLst>
                    <a:ext uri="{FF2B5EF4-FFF2-40B4-BE49-F238E27FC236}">
                      <a16:creationId xmlns:a16="http://schemas.microsoft.com/office/drawing/2014/main" id="{4BC2E8CB-699B-13A4-7A1C-6DC240C7F790}"/>
                    </a:ext>
                  </a:extLst>
                </p:cNvPr>
                <p:cNvCxnSpPr>
                  <a:cxnSpLocks/>
                </p:cNvCxnSpPr>
                <p:nvPr/>
              </p:nvCxnSpPr>
              <p:spPr>
                <a:xfrm flipV="1">
                  <a:off x="1735819" y="3945467"/>
                  <a:ext cx="0" cy="288000"/>
                </a:xfrm>
                <a:prstGeom prst="straightConnector1">
                  <a:avLst/>
                </a:prstGeom>
                <a:noFill/>
                <a:ln w="25400" cap="flat">
                  <a:solidFill>
                    <a:schemeClr val="bg1">
                      <a:lumMod val="75000"/>
                    </a:schemeClr>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123" name="Straight Arrow Connector 122">
                  <a:extLst>
                    <a:ext uri="{FF2B5EF4-FFF2-40B4-BE49-F238E27FC236}">
                      <a16:creationId xmlns:a16="http://schemas.microsoft.com/office/drawing/2014/main" id="{8BC1860D-EF78-9C01-4F5A-A1905C640E8E}"/>
                    </a:ext>
                  </a:extLst>
                </p:cNvPr>
                <p:cNvCxnSpPr>
                  <a:cxnSpLocks/>
                </p:cNvCxnSpPr>
                <p:nvPr/>
              </p:nvCxnSpPr>
              <p:spPr>
                <a:xfrm flipV="1">
                  <a:off x="1888219" y="3945467"/>
                  <a:ext cx="0" cy="288000"/>
                </a:xfrm>
                <a:prstGeom prst="straightConnector1">
                  <a:avLst/>
                </a:prstGeom>
                <a:noFill/>
                <a:ln w="25400" cap="flat">
                  <a:solidFill>
                    <a:schemeClr val="bg1">
                      <a:lumMod val="75000"/>
                    </a:schemeClr>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124" name="Straight Arrow Connector 123">
                  <a:extLst>
                    <a:ext uri="{FF2B5EF4-FFF2-40B4-BE49-F238E27FC236}">
                      <a16:creationId xmlns:a16="http://schemas.microsoft.com/office/drawing/2014/main" id="{E448A20B-0130-B75A-1C35-BC9B412A84F1}"/>
                    </a:ext>
                  </a:extLst>
                </p:cNvPr>
                <p:cNvCxnSpPr>
                  <a:cxnSpLocks/>
                </p:cNvCxnSpPr>
                <p:nvPr/>
              </p:nvCxnSpPr>
              <p:spPr>
                <a:xfrm flipV="1">
                  <a:off x="2040619" y="3945467"/>
                  <a:ext cx="0" cy="288000"/>
                </a:xfrm>
                <a:prstGeom prst="straightConnector1">
                  <a:avLst/>
                </a:prstGeom>
                <a:noFill/>
                <a:ln w="25400" cap="flat">
                  <a:solidFill>
                    <a:schemeClr val="bg1">
                      <a:lumMod val="75000"/>
                    </a:schemeClr>
                  </a:solidFill>
                  <a:prstDash val="sysDash"/>
                  <a:miter lim="400000"/>
                  <a:tailEnd type="triangle"/>
                </a:ln>
                <a:effectLst/>
                <a:sp3d/>
              </p:spPr>
              <p:style>
                <a:lnRef idx="0">
                  <a:scrgbClr r="0" g="0" b="0"/>
                </a:lnRef>
                <a:fillRef idx="0">
                  <a:scrgbClr r="0" g="0" b="0"/>
                </a:fillRef>
                <a:effectRef idx="0">
                  <a:scrgbClr r="0" g="0" b="0"/>
                </a:effectRef>
                <a:fontRef idx="none"/>
              </p:style>
            </p:cxnSp>
          </p:grpSp>
        </p:grpSp>
      </p:grpSp>
      <p:sp>
        <p:nvSpPr>
          <p:cNvPr id="127" name="Rectangle 126">
            <a:extLst>
              <a:ext uri="{FF2B5EF4-FFF2-40B4-BE49-F238E27FC236}">
                <a16:creationId xmlns:a16="http://schemas.microsoft.com/office/drawing/2014/main" id="{93D96FAB-81B2-7CCB-E741-AE7E889C1FA6}"/>
              </a:ext>
            </a:extLst>
          </p:cNvPr>
          <p:cNvSpPr/>
          <p:nvPr/>
        </p:nvSpPr>
        <p:spPr>
          <a:xfrm>
            <a:off x="570075" y="1381164"/>
            <a:ext cx="5045049" cy="954107"/>
          </a:xfrm>
          <a:prstGeom prst="rect">
            <a:avLst/>
          </a:prstGeom>
          <a:noFill/>
        </p:spPr>
        <p:txBody>
          <a:bodyPr wrap="square" lIns="91440" tIns="45720" rIns="91440" bIns="45720">
            <a:spAutoFit/>
          </a:bodyPr>
          <a:lstStyle/>
          <a:p>
            <a:pPr algn="ctr"/>
            <a:r>
              <a:rPr lang="en-US" sz="2800" dirty="0">
                <a:ln w="0"/>
                <a:effectLst>
                  <a:outerShdw blurRad="38100" dist="19050" dir="2700000" algn="tl" rotWithShape="0">
                    <a:schemeClr val="dk1">
                      <a:alpha val="40000"/>
                    </a:schemeClr>
                  </a:outerShdw>
                </a:effectLst>
              </a:rPr>
              <a:t>How the</a:t>
            </a:r>
            <a:r>
              <a:rPr lang="en-US" sz="2800" b="0" cap="none" spc="0" dirty="0">
                <a:ln w="0"/>
                <a:solidFill>
                  <a:schemeClr val="tx1"/>
                </a:solidFill>
                <a:effectLst>
                  <a:outerShdw blurRad="38100" dist="19050" dir="2700000" algn="tl" rotWithShape="0">
                    <a:schemeClr val="dk1">
                      <a:alpha val="40000"/>
                    </a:schemeClr>
                  </a:outerShdw>
                </a:effectLst>
              </a:rPr>
              <a:t> Patch Works – Interrupt Coalescing Disabled</a:t>
            </a:r>
          </a:p>
        </p:txBody>
      </p:sp>
      <p:sp>
        <p:nvSpPr>
          <p:cNvPr id="128" name="Rectangle 127">
            <a:extLst>
              <a:ext uri="{FF2B5EF4-FFF2-40B4-BE49-F238E27FC236}">
                <a16:creationId xmlns:a16="http://schemas.microsoft.com/office/drawing/2014/main" id="{7F6A8169-5A1E-016A-B27A-57FC9D98C866}"/>
              </a:ext>
            </a:extLst>
          </p:cNvPr>
          <p:cNvSpPr/>
          <p:nvPr/>
        </p:nvSpPr>
        <p:spPr>
          <a:xfrm>
            <a:off x="7716840" y="1374682"/>
            <a:ext cx="2993127" cy="769441"/>
          </a:xfrm>
          <a:prstGeom prst="rect">
            <a:avLst/>
          </a:prstGeom>
          <a:noFill/>
        </p:spPr>
        <p:txBody>
          <a:bodyPr wrap="none" lIns="91440" tIns="45720" rIns="91440" bIns="45720">
            <a:spAutoFit/>
          </a:bodyPr>
          <a:lstStyle/>
          <a:p>
            <a:pPr algn="ctr"/>
            <a:r>
              <a:rPr lang="en-US" sz="2800" dirty="0">
                <a:ln w="0"/>
                <a:effectLst>
                  <a:outerShdw blurRad="38100" dist="19050" dir="2700000" algn="tl" rotWithShape="0">
                    <a:schemeClr val="dk1">
                      <a:alpha val="40000"/>
                    </a:schemeClr>
                  </a:outerShdw>
                </a:effectLst>
              </a:rPr>
              <a:t>Light WL</a:t>
            </a:r>
          </a:p>
          <a:p>
            <a:pPr algn="ctr"/>
            <a:r>
              <a:rPr lang="en-US" sz="1600" dirty="0">
                <a:ln w="0"/>
                <a:effectLst>
                  <a:outerShdw blurRad="38100" dist="19050" dir="2700000" algn="tl" rotWithShape="0">
                    <a:schemeClr val="dk1">
                      <a:alpha val="40000"/>
                    </a:schemeClr>
                  </a:outerShdw>
                </a:effectLst>
              </a:rPr>
              <a:t>(bs=4k </a:t>
            </a:r>
            <a:r>
              <a:rPr lang="en-US" sz="1600" dirty="0" err="1">
                <a:ln w="0"/>
                <a:effectLst>
                  <a:outerShdw blurRad="38100" dist="19050" dir="2700000" algn="tl" rotWithShape="0">
                    <a:schemeClr val="dk1">
                      <a:alpha val="40000"/>
                    </a:schemeClr>
                  </a:outerShdw>
                </a:effectLst>
              </a:rPr>
              <a:t>numjobs</a:t>
            </a:r>
            <a:r>
              <a:rPr lang="en-US" sz="1600" dirty="0">
                <a:ln w="0"/>
                <a:effectLst>
                  <a:outerShdw blurRad="38100" dist="19050" dir="2700000" algn="tl" rotWithShape="0">
                    <a:schemeClr val="dk1">
                      <a:alpha val="40000"/>
                    </a:schemeClr>
                  </a:outerShdw>
                </a:effectLst>
              </a:rPr>
              <a:t>=1 </a:t>
            </a:r>
            <a:r>
              <a:rPr lang="en-US" sz="1600" dirty="0" err="1">
                <a:ln w="0"/>
                <a:effectLst>
                  <a:outerShdw blurRad="38100" dist="19050" dir="2700000" algn="tl" rotWithShape="0">
                    <a:schemeClr val="dk1">
                      <a:alpha val="40000"/>
                    </a:schemeClr>
                  </a:outerShdw>
                </a:effectLst>
              </a:rPr>
              <a:t>iodepth</a:t>
            </a:r>
            <a:r>
              <a:rPr lang="en-US" sz="1600" dirty="0">
                <a:ln w="0"/>
                <a:effectLst>
                  <a:outerShdw blurRad="38100" dist="19050" dir="2700000" algn="tl" rotWithShape="0">
                    <a:schemeClr val="dk1">
                      <a:alpha val="40000"/>
                    </a:schemeClr>
                  </a:outerShdw>
                </a:effectLst>
              </a:rPr>
              <a:t>=1)</a:t>
            </a:r>
            <a:endParaRPr lang="en-US" sz="1600" b="0" cap="none" spc="0" dirty="0">
              <a:ln w="0"/>
              <a:solidFill>
                <a:schemeClr val="tx1"/>
              </a:solidFill>
              <a:effectLst>
                <a:outerShdw blurRad="38100" dist="19050" dir="2700000" algn="tl" rotWithShape="0">
                  <a:schemeClr val="dk1">
                    <a:alpha val="40000"/>
                  </a:schemeClr>
                </a:outerShdw>
              </a:effectLst>
            </a:endParaRPr>
          </a:p>
        </p:txBody>
      </p:sp>
      <p:cxnSp>
        <p:nvCxnSpPr>
          <p:cNvPr id="130" name="Straight Connector 129">
            <a:extLst>
              <a:ext uri="{FF2B5EF4-FFF2-40B4-BE49-F238E27FC236}">
                <a16:creationId xmlns:a16="http://schemas.microsoft.com/office/drawing/2014/main" id="{7E67B499-B123-4AF0-CF02-5041DE6ADDAE}"/>
              </a:ext>
            </a:extLst>
          </p:cNvPr>
          <p:cNvCxnSpPr/>
          <p:nvPr/>
        </p:nvCxnSpPr>
        <p:spPr>
          <a:xfrm>
            <a:off x="6247140" y="1707880"/>
            <a:ext cx="0" cy="4190576"/>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4" name="TextBox 3">
            <a:extLst>
              <a:ext uri="{FF2B5EF4-FFF2-40B4-BE49-F238E27FC236}">
                <a16:creationId xmlns:a16="http://schemas.microsoft.com/office/drawing/2014/main" id="{13D4DCC9-5F4C-25E2-1C65-C2D8CD9E6D85}"/>
              </a:ext>
            </a:extLst>
          </p:cNvPr>
          <p:cNvSpPr txBox="1"/>
          <p:nvPr/>
        </p:nvSpPr>
        <p:spPr>
          <a:xfrm>
            <a:off x="570075" y="5820956"/>
            <a:ext cx="5045049"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171450" indent="-171450">
              <a:buFont typeface="Wingdings" panose="05000000000000000000" pitchFamily="2" charset="2"/>
              <a:buChar char="ü"/>
            </a:pPr>
            <a:r>
              <a:rPr lang="en-US" sz="1200" dirty="0"/>
              <a:t>Interrupt handling details: </a:t>
            </a:r>
            <a:r>
              <a:rPr lang="en-US" sz="1200" dirty="0">
                <a:hlinkClick r:id="rId2"/>
              </a:rPr>
              <a:t>https://lwn.net/Articles/951186/</a:t>
            </a:r>
            <a:endParaRPr lang="en-US" sz="1200" dirty="0"/>
          </a:p>
        </p:txBody>
      </p:sp>
      <p:sp>
        <p:nvSpPr>
          <p:cNvPr id="2" name="Arrow: Right 1">
            <a:extLst>
              <a:ext uri="{FF2B5EF4-FFF2-40B4-BE49-F238E27FC236}">
                <a16:creationId xmlns:a16="http://schemas.microsoft.com/office/drawing/2014/main" id="{A286D55B-7E87-175A-C0C8-EA583F7A6761}"/>
              </a:ext>
            </a:extLst>
          </p:cNvPr>
          <p:cNvSpPr/>
          <p:nvPr/>
        </p:nvSpPr>
        <p:spPr>
          <a:xfrm rot="10800000">
            <a:off x="5457028" y="3647001"/>
            <a:ext cx="1012054" cy="312335"/>
          </a:xfrm>
          <a:prstGeom prst="rightArrow">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1" name="TextBox 10">
            <a:extLst>
              <a:ext uri="{FF2B5EF4-FFF2-40B4-BE49-F238E27FC236}">
                <a16:creationId xmlns:a16="http://schemas.microsoft.com/office/drawing/2014/main" id="{90080EE7-2E2C-B570-40C4-BE60AF983B26}"/>
              </a:ext>
            </a:extLst>
          </p:cNvPr>
          <p:cNvSpPr txBox="1"/>
          <p:nvPr/>
        </p:nvSpPr>
        <p:spPr>
          <a:xfrm>
            <a:off x="4957886" y="3093002"/>
            <a:ext cx="1314475" cy="5539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r>
              <a:rPr lang="en-US" sz="1000" dirty="0">
                <a:ln w="0"/>
                <a:solidFill>
                  <a:schemeClr val="tx2"/>
                </a:solidFill>
                <a:effectLst>
                  <a:outerShdw blurRad="38100" dist="19050" dir="2700000" algn="tl" rotWithShape="0">
                    <a:schemeClr val="dk1">
                      <a:alpha val="40000"/>
                    </a:schemeClr>
                  </a:outerShdw>
                </a:effectLst>
              </a:rPr>
              <a:t>Automatically </a:t>
            </a:r>
          </a:p>
          <a:p>
            <a:pPr algn="ctr"/>
            <a:r>
              <a:rPr lang="en-US" sz="1000" dirty="0">
                <a:ln w="0"/>
                <a:solidFill>
                  <a:schemeClr val="tx2"/>
                </a:solidFill>
                <a:effectLst>
                  <a:outerShdw blurRad="38100" dist="19050" dir="2700000" algn="tl" rotWithShape="0">
                    <a:schemeClr val="dk1">
                      <a:alpha val="40000"/>
                    </a:schemeClr>
                  </a:outerShdw>
                </a:effectLst>
              </a:rPr>
              <a:t>disable coalesce in light Workload</a:t>
            </a:r>
            <a:endParaRPr lang="en-US" sz="1000" b="0" cap="none" spc="0" dirty="0">
              <a:ln w="0"/>
              <a:solidFill>
                <a:schemeClr val="tx2"/>
              </a:solidFill>
              <a:effectLst>
                <a:outerShdw blurRad="38100" dist="19050" dir="2700000" algn="tl" rotWithShape="0">
                  <a:schemeClr val="dk1">
                    <a:alpha val="40000"/>
                  </a:schemeClr>
                </a:outerShdw>
              </a:effectLst>
            </a:endParaRPr>
          </a:p>
        </p:txBody>
      </p:sp>
      <p:sp>
        <p:nvSpPr>
          <p:cNvPr id="19" name="TextBox 18">
            <a:extLst>
              <a:ext uri="{FF2B5EF4-FFF2-40B4-BE49-F238E27FC236}">
                <a16:creationId xmlns:a16="http://schemas.microsoft.com/office/drawing/2014/main" id="{F354BC3F-D782-5E37-6E50-FE87CCCFA1A7}"/>
              </a:ext>
            </a:extLst>
          </p:cNvPr>
          <p:cNvSpPr txBox="1"/>
          <p:nvPr/>
        </p:nvSpPr>
        <p:spPr>
          <a:xfrm>
            <a:off x="7223344" y="5462215"/>
            <a:ext cx="4470227"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000" dirty="0">
                <a:ln w="0"/>
                <a:effectLst>
                  <a:outerShdw blurRad="38100" dist="19050" dir="2700000" algn="tl" rotWithShape="0">
                    <a:schemeClr val="dk1">
                      <a:alpha val="40000"/>
                    </a:schemeClr>
                  </a:outerShdw>
                </a:effectLst>
              </a:rPr>
              <a:t>Why low: (1) wait for requests (2) min timeout: 100us</a:t>
            </a:r>
            <a:endParaRPr lang="en-US" sz="1000" b="1" dirty="0"/>
          </a:p>
        </p:txBody>
      </p:sp>
      <p:sp>
        <p:nvSpPr>
          <p:cNvPr id="6" name="TextBox 5">
            <a:extLst>
              <a:ext uri="{FF2B5EF4-FFF2-40B4-BE49-F238E27FC236}">
                <a16:creationId xmlns:a16="http://schemas.microsoft.com/office/drawing/2014/main" id="{4AF56413-2929-38FB-6653-13C48725DED5}"/>
              </a:ext>
            </a:extLst>
          </p:cNvPr>
          <p:cNvSpPr txBox="1"/>
          <p:nvPr/>
        </p:nvSpPr>
        <p:spPr>
          <a:xfrm rot="19948762">
            <a:off x="736241" y="2809169"/>
            <a:ext cx="10810652" cy="630365"/>
          </a:xfrm>
          <a:prstGeom prst="rect">
            <a:avLst/>
          </a:prstGeom>
          <a:noFill/>
        </p:spPr>
        <p:txBody>
          <a:bodyPr vert="horz" wrap="none" lIns="0" tIns="0" rIns="0" bIns="0" rtlCol="0">
            <a:spAutoFit/>
          </a:bodyPr>
          <a:lstStyle/>
          <a:p>
            <a:pPr marL="0" marR="0" lvl="0" indent="0" algn="l" defTabSz="1219169" rtl="0" eaLnBrk="1" fontAlgn="auto" latinLnBrk="0" hangingPunct="0">
              <a:lnSpc>
                <a:spcPct val="90000"/>
              </a:lnSpc>
              <a:spcBef>
                <a:spcPts val="2250"/>
              </a:spcBef>
              <a:spcAft>
                <a:spcPts val="0"/>
              </a:spcAft>
              <a:buClrTx/>
              <a:buSzTx/>
              <a:buFontTx/>
              <a:buNone/>
              <a:tabLst/>
              <a:defRPr/>
            </a:pPr>
            <a:r>
              <a:rPr kumimoji="0" lang="en-US" sz="4533" b="1" i="0" u="none" strike="noStrike" kern="0" cap="none" spc="0" normalizeH="0" baseline="0" noProof="0" dirty="0">
                <a:ln w="3175">
                  <a:solidFill>
                    <a:srgbClr val="FF0000"/>
                  </a:solidFill>
                  <a:prstDash val="sysDot"/>
                </a:ln>
                <a:noFill/>
                <a:effectLst>
                  <a:outerShdw blurRad="38100" dist="22860" dir="5400000" algn="tl" rotWithShape="0">
                    <a:srgbClr val="000000">
                      <a:alpha val="30000"/>
                    </a:srgbClr>
                  </a:outerShdw>
                </a:effectLst>
                <a:uLnTx/>
                <a:uFillTx/>
                <a:latin typeface="Intel Clear"/>
                <a:sym typeface="Helvetica Neue"/>
              </a:rPr>
              <a:t>For use under CNDA024859 : Bytedance</a:t>
            </a:r>
          </a:p>
        </p:txBody>
      </p:sp>
    </p:spTree>
    <p:extLst>
      <p:ext uri="{BB962C8B-B14F-4D97-AF65-F5344CB8AC3E}">
        <p14:creationId xmlns:p14="http://schemas.microsoft.com/office/powerpoint/2010/main" val="18532574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45B0F-2952-AAD5-985E-35D345DDD3A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FB12DF1-AB4F-7568-3C84-7D70D7B5574F}"/>
              </a:ext>
            </a:extLst>
          </p:cNvPr>
          <p:cNvSpPr>
            <a:spLocks noGrp="1"/>
          </p:cNvSpPr>
          <p:nvPr>
            <p:ph type="title"/>
          </p:nvPr>
        </p:nvSpPr>
        <p:spPr>
          <a:xfrm>
            <a:off x="381000" y="276841"/>
            <a:ext cx="10972800" cy="640080"/>
          </a:xfrm>
        </p:spPr>
        <p:txBody>
          <a:bodyPr/>
          <a:lstStyle/>
          <a:p>
            <a:r>
              <a:rPr lang="en-US" dirty="0"/>
              <a:t>Patches Readiness</a:t>
            </a:r>
          </a:p>
        </p:txBody>
      </p:sp>
      <p:cxnSp>
        <p:nvCxnSpPr>
          <p:cNvPr id="8" name="Straight Arrow Connector 7">
            <a:extLst>
              <a:ext uri="{FF2B5EF4-FFF2-40B4-BE49-F238E27FC236}">
                <a16:creationId xmlns:a16="http://schemas.microsoft.com/office/drawing/2014/main" id="{C6431FF5-D3D2-3BD7-4662-C2A76F3F6D3A}"/>
              </a:ext>
            </a:extLst>
          </p:cNvPr>
          <p:cNvCxnSpPr/>
          <p:nvPr/>
        </p:nvCxnSpPr>
        <p:spPr>
          <a:xfrm>
            <a:off x="1011677" y="2704289"/>
            <a:ext cx="9241276" cy="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16" name="TextBox 15">
            <a:extLst>
              <a:ext uri="{FF2B5EF4-FFF2-40B4-BE49-F238E27FC236}">
                <a16:creationId xmlns:a16="http://schemas.microsoft.com/office/drawing/2014/main" id="{7B2F36A6-998B-51F3-21A3-42C2F7C11961}"/>
              </a:ext>
            </a:extLst>
          </p:cNvPr>
          <p:cNvSpPr txBox="1"/>
          <p:nvPr/>
        </p:nvSpPr>
        <p:spPr>
          <a:xfrm>
            <a:off x="3088280" y="3044757"/>
            <a:ext cx="926536"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l" defTabSz="2438338"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00B050"/>
                </a:solidFill>
                <a:effectLst/>
                <a:uFillTx/>
                <a:latin typeface="+mn-lt"/>
                <a:ea typeface="+mn-ea"/>
                <a:cs typeface="+mn-cs"/>
                <a:sym typeface="Helvetica Neue"/>
              </a:rPr>
              <a:t>5.10.134</a:t>
            </a:r>
          </a:p>
        </p:txBody>
      </p:sp>
      <p:cxnSp>
        <p:nvCxnSpPr>
          <p:cNvPr id="18" name="Straight Connector 17">
            <a:extLst>
              <a:ext uri="{FF2B5EF4-FFF2-40B4-BE49-F238E27FC236}">
                <a16:creationId xmlns:a16="http://schemas.microsoft.com/office/drawing/2014/main" id="{16BFAB83-DC71-893D-C14E-7CFC208C0B50}"/>
              </a:ext>
            </a:extLst>
          </p:cNvPr>
          <p:cNvCxnSpPr>
            <a:cxnSpLocks/>
          </p:cNvCxnSpPr>
          <p:nvPr/>
        </p:nvCxnSpPr>
        <p:spPr>
          <a:xfrm>
            <a:off x="3438728" y="2731040"/>
            <a:ext cx="218872" cy="24076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0" name="Straight Connector 19">
            <a:extLst>
              <a:ext uri="{FF2B5EF4-FFF2-40B4-BE49-F238E27FC236}">
                <a16:creationId xmlns:a16="http://schemas.microsoft.com/office/drawing/2014/main" id="{A2070B33-197A-287B-DD91-901088605B56}"/>
              </a:ext>
            </a:extLst>
          </p:cNvPr>
          <p:cNvCxnSpPr/>
          <p:nvPr/>
        </p:nvCxnSpPr>
        <p:spPr>
          <a:xfrm flipV="1">
            <a:off x="7266562" y="2485417"/>
            <a:ext cx="282102" cy="214008"/>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21" name="TextBox 20">
            <a:extLst>
              <a:ext uri="{FF2B5EF4-FFF2-40B4-BE49-F238E27FC236}">
                <a16:creationId xmlns:a16="http://schemas.microsoft.com/office/drawing/2014/main" id="{EB397C25-CE07-B746-5EA5-C244EF0E3C2F}"/>
              </a:ext>
            </a:extLst>
          </p:cNvPr>
          <p:cNvSpPr txBox="1"/>
          <p:nvPr/>
        </p:nvSpPr>
        <p:spPr>
          <a:xfrm>
            <a:off x="7421442" y="2159780"/>
            <a:ext cx="325410"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l" defTabSz="2438338"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00B050"/>
                </a:solidFill>
                <a:effectLst/>
                <a:uFillTx/>
                <a:latin typeface="+mn-lt"/>
                <a:ea typeface="+mn-ea"/>
                <a:cs typeface="+mn-cs"/>
                <a:sym typeface="Helvetica Neue"/>
              </a:rPr>
              <a:t>6.6</a:t>
            </a:r>
          </a:p>
        </p:txBody>
      </p:sp>
      <p:cxnSp>
        <p:nvCxnSpPr>
          <p:cNvPr id="22" name="Straight Connector 21">
            <a:extLst>
              <a:ext uri="{FF2B5EF4-FFF2-40B4-BE49-F238E27FC236}">
                <a16:creationId xmlns:a16="http://schemas.microsoft.com/office/drawing/2014/main" id="{8FE52DDF-A866-55E0-DF89-D57F2BCC64FD}"/>
              </a:ext>
            </a:extLst>
          </p:cNvPr>
          <p:cNvCxnSpPr/>
          <p:nvPr/>
        </p:nvCxnSpPr>
        <p:spPr>
          <a:xfrm flipV="1">
            <a:off x="8119353" y="2475689"/>
            <a:ext cx="282102" cy="214008"/>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23" name="TextBox 22">
            <a:extLst>
              <a:ext uri="{FF2B5EF4-FFF2-40B4-BE49-F238E27FC236}">
                <a16:creationId xmlns:a16="http://schemas.microsoft.com/office/drawing/2014/main" id="{E3337B91-9510-2E23-F36C-F6294F2989C7}"/>
              </a:ext>
            </a:extLst>
          </p:cNvPr>
          <p:cNvSpPr txBox="1"/>
          <p:nvPr/>
        </p:nvSpPr>
        <p:spPr>
          <a:xfrm>
            <a:off x="8263855" y="2171940"/>
            <a:ext cx="463268"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l" defTabSz="2438338"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00B050"/>
                </a:solidFill>
                <a:effectLst/>
                <a:uFillTx/>
                <a:latin typeface="+mn-lt"/>
                <a:ea typeface="+mn-ea"/>
                <a:cs typeface="+mn-cs"/>
                <a:sym typeface="Helvetica Neue"/>
              </a:rPr>
              <a:t>6.12</a:t>
            </a:r>
          </a:p>
        </p:txBody>
      </p:sp>
      <p:sp>
        <p:nvSpPr>
          <p:cNvPr id="24" name="Rectangle 23">
            <a:extLst>
              <a:ext uri="{FF2B5EF4-FFF2-40B4-BE49-F238E27FC236}">
                <a16:creationId xmlns:a16="http://schemas.microsoft.com/office/drawing/2014/main" id="{F068CEDA-2FAC-6389-ED48-852D4BE4BB08}"/>
              </a:ext>
            </a:extLst>
          </p:cNvPr>
          <p:cNvSpPr/>
          <p:nvPr/>
        </p:nvSpPr>
        <p:spPr>
          <a:xfrm>
            <a:off x="210550" y="2151726"/>
            <a:ext cx="939681" cy="400110"/>
          </a:xfrm>
          <a:prstGeom prst="rect">
            <a:avLst/>
          </a:prstGeom>
          <a:noFill/>
        </p:spPr>
        <p:txBody>
          <a:bodyPr wrap="none" lIns="91440" tIns="45720" rIns="91440" bIns="45720">
            <a:spAutoFit/>
          </a:bodyPr>
          <a:lstStyle/>
          <a:p>
            <a:pPr algn="ctr"/>
            <a:r>
              <a:rPr lang="en-US" sz="2000" b="0" cap="none" spc="0" dirty="0">
                <a:ln w="0"/>
                <a:solidFill>
                  <a:schemeClr val="tx1"/>
                </a:solidFill>
                <a:effectLst>
                  <a:outerShdw blurRad="38100" dist="19050" dir="2700000" algn="tl" rotWithShape="0">
                    <a:schemeClr val="dk1">
                      <a:alpha val="40000"/>
                    </a:schemeClr>
                  </a:outerShdw>
                </a:effectLst>
              </a:rPr>
              <a:t>Kernel</a:t>
            </a:r>
          </a:p>
        </p:txBody>
      </p:sp>
      <p:sp>
        <p:nvSpPr>
          <p:cNvPr id="25" name="TextBox 24">
            <a:extLst>
              <a:ext uri="{FF2B5EF4-FFF2-40B4-BE49-F238E27FC236}">
                <a16:creationId xmlns:a16="http://schemas.microsoft.com/office/drawing/2014/main" id="{FFB1FDF2-4D93-6AA3-0AEB-1DF76C41DA3F}"/>
              </a:ext>
            </a:extLst>
          </p:cNvPr>
          <p:cNvSpPr txBox="1"/>
          <p:nvPr/>
        </p:nvSpPr>
        <p:spPr>
          <a:xfrm>
            <a:off x="1089055" y="4000650"/>
            <a:ext cx="3318216"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l" defTabSz="2438338"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effectLst/>
                <a:uFillTx/>
                <a:latin typeface="+mn-lt"/>
                <a:ea typeface="+mn-ea"/>
                <a:cs typeface="+mn-cs"/>
                <a:sym typeface="Helvetica Neue"/>
              </a:rPr>
              <a:t>Patch for </a:t>
            </a:r>
            <a:r>
              <a:rPr kumimoji="0" lang="en-US" b="0" i="0" u="none" strike="noStrike" cap="none" spc="0" normalizeH="0" baseline="0" dirty="0">
                <a:ln>
                  <a:noFill/>
                </a:ln>
                <a:solidFill>
                  <a:srgbClr val="00B050"/>
                </a:solidFill>
                <a:effectLst/>
                <a:uFillTx/>
                <a:latin typeface="+mn-lt"/>
                <a:ea typeface="+mn-ea"/>
                <a:cs typeface="+mn-cs"/>
                <a:sym typeface="Helvetica Neue"/>
              </a:rPr>
              <a:t>Green</a:t>
            </a:r>
            <a:r>
              <a:rPr kumimoji="0" lang="en-US" b="0" i="0" u="none" strike="noStrike" cap="none" spc="0" normalizeH="0" baseline="0" dirty="0">
                <a:ln>
                  <a:noFill/>
                </a:ln>
                <a:effectLst/>
                <a:uFillTx/>
                <a:latin typeface="+mn-lt"/>
                <a:ea typeface="+mn-ea"/>
                <a:cs typeface="+mn-cs"/>
                <a:sym typeface="Helvetica Neue"/>
              </a:rPr>
              <a:t> version is ready</a:t>
            </a:r>
          </a:p>
        </p:txBody>
      </p:sp>
      <p:cxnSp>
        <p:nvCxnSpPr>
          <p:cNvPr id="3" name="Straight Connector 2">
            <a:extLst>
              <a:ext uri="{FF2B5EF4-FFF2-40B4-BE49-F238E27FC236}">
                <a16:creationId xmlns:a16="http://schemas.microsoft.com/office/drawing/2014/main" id="{2A328736-5C58-E65D-EBC9-819E153F56F2}"/>
              </a:ext>
            </a:extLst>
          </p:cNvPr>
          <p:cNvCxnSpPr>
            <a:cxnSpLocks/>
          </p:cNvCxnSpPr>
          <p:nvPr/>
        </p:nvCxnSpPr>
        <p:spPr>
          <a:xfrm flipV="1">
            <a:off x="3591032" y="2485417"/>
            <a:ext cx="282102" cy="214008"/>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4" name="TextBox 3">
            <a:extLst>
              <a:ext uri="{FF2B5EF4-FFF2-40B4-BE49-F238E27FC236}">
                <a16:creationId xmlns:a16="http://schemas.microsoft.com/office/drawing/2014/main" id="{F4D4AFE0-70F1-E276-99E9-69AA97A3A84C}"/>
              </a:ext>
            </a:extLst>
          </p:cNvPr>
          <p:cNvSpPr txBox="1"/>
          <p:nvPr/>
        </p:nvSpPr>
        <p:spPr>
          <a:xfrm>
            <a:off x="2359898" y="2159493"/>
            <a:ext cx="2762683"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defTabSz="2438338" hangingPunct="0"/>
            <a:r>
              <a:rPr lang="en-US" dirty="0">
                <a:solidFill>
                  <a:srgbClr val="00B050"/>
                </a:solidFill>
                <a:sym typeface="Helvetica Neue"/>
              </a:rPr>
              <a:t>Open Euler5.10-60.18</a:t>
            </a:r>
            <a:endParaRPr lang="en-US" b="0" i="0" u="none" strike="noStrike" cap="none" spc="0" normalizeH="0" baseline="0" dirty="0">
              <a:ln>
                <a:noFill/>
              </a:ln>
              <a:solidFill>
                <a:srgbClr val="00B050"/>
              </a:solidFill>
              <a:effectLst/>
              <a:uFillTx/>
              <a:latin typeface="+mn-lt"/>
              <a:ea typeface="Intel Clear"/>
              <a:cs typeface="Intel Clear"/>
            </a:endParaRPr>
          </a:p>
        </p:txBody>
      </p:sp>
      <p:cxnSp>
        <p:nvCxnSpPr>
          <p:cNvPr id="6" name="Straight Connector 5">
            <a:extLst>
              <a:ext uri="{FF2B5EF4-FFF2-40B4-BE49-F238E27FC236}">
                <a16:creationId xmlns:a16="http://schemas.microsoft.com/office/drawing/2014/main" id="{4EF94D0E-4912-9362-48C4-055650FCE5D1}"/>
              </a:ext>
            </a:extLst>
          </p:cNvPr>
          <p:cNvCxnSpPr>
            <a:cxnSpLocks/>
          </p:cNvCxnSpPr>
          <p:nvPr/>
        </p:nvCxnSpPr>
        <p:spPr>
          <a:xfrm>
            <a:off x="4301580" y="2697422"/>
            <a:ext cx="218872" cy="24076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7" name="TextBox 6">
            <a:extLst>
              <a:ext uri="{FF2B5EF4-FFF2-40B4-BE49-F238E27FC236}">
                <a16:creationId xmlns:a16="http://schemas.microsoft.com/office/drawing/2014/main" id="{C71EE213-3197-0C67-F642-7306E42D8EFD}"/>
              </a:ext>
            </a:extLst>
          </p:cNvPr>
          <p:cNvSpPr txBox="1"/>
          <p:nvPr/>
        </p:nvSpPr>
        <p:spPr>
          <a:xfrm>
            <a:off x="4410574" y="3011139"/>
            <a:ext cx="1840247"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defTabSz="2438338" hangingPunct="0"/>
            <a:r>
              <a:rPr lang="en-US" dirty="0">
                <a:solidFill>
                  <a:srgbClr val="00B050"/>
                </a:solidFill>
                <a:sym typeface="Helvetica Neue"/>
              </a:rPr>
              <a:t>Rocky 5.14.0-162</a:t>
            </a:r>
            <a:endParaRPr kumimoji="0" lang="en-US" b="0" i="0" u="none" strike="noStrike" cap="none" spc="0" normalizeH="0" baseline="0" dirty="0">
              <a:ln>
                <a:noFill/>
              </a:ln>
              <a:solidFill>
                <a:srgbClr val="00B050"/>
              </a:solidFill>
              <a:effectLst/>
              <a:uFillTx/>
              <a:latin typeface="+mn-lt"/>
              <a:ea typeface="+mn-ea"/>
              <a:cs typeface="+mn-cs"/>
              <a:sym typeface="Helvetica Neue"/>
            </a:endParaRPr>
          </a:p>
        </p:txBody>
      </p:sp>
      <p:sp>
        <p:nvSpPr>
          <p:cNvPr id="2" name="TextBox 1">
            <a:extLst>
              <a:ext uri="{FF2B5EF4-FFF2-40B4-BE49-F238E27FC236}">
                <a16:creationId xmlns:a16="http://schemas.microsoft.com/office/drawing/2014/main" id="{C1A2D242-9791-4EB2-30C2-D1EC9CA13A6A}"/>
              </a:ext>
            </a:extLst>
          </p:cNvPr>
          <p:cNvSpPr txBox="1"/>
          <p:nvPr/>
        </p:nvSpPr>
        <p:spPr>
          <a:xfrm rot="19948762">
            <a:off x="736241" y="2809169"/>
            <a:ext cx="10810652" cy="630365"/>
          </a:xfrm>
          <a:prstGeom prst="rect">
            <a:avLst/>
          </a:prstGeom>
          <a:noFill/>
        </p:spPr>
        <p:txBody>
          <a:bodyPr vert="horz" wrap="none" lIns="0" tIns="0" rIns="0" bIns="0" rtlCol="0">
            <a:spAutoFit/>
          </a:bodyPr>
          <a:lstStyle/>
          <a:p>
            <a:pPr marL="0" marR="0" lvl="0" indent="0" algn="l" defTabSz="1219169" rtl="0" eaLnBrk="1" fontAlgn="auto" latinLnBrk="0" hangingPunct="0">
              <a:lnSpc>
                <a:spcPct val="90000"/>
              </a:lnSpc>
              <a:spcBef>
                <a:spcPts val="2250"/>
              </a:spcBef>
              <a:spcAft>
                <a:spcPts val="0"/>
              </a:spcAft>
              <a:buClrTx/>
              <a:buSzTx/>
              <a:buFontTx/>
              <a:buNone/>
              <a:tabLst/>
              <a:defRPr/>
            </a:pPr>
            <a:r>
              <a:rPr kumimoji="0" lang="en-US" sz="4533" b="1" i="0" u="none" strike="noStrike" kern="0" cap="none" spc="0" normalizeH="0" baseline="0" noProof="0" dirty="0">
                <a:ln w="3175">
                  <a:solidFill>
                    <a:srgbClr val="FF0000"/>
                  </a:solidFill>
                  <a:prstDash val="sysDot"/>
                </a:ln>
                <a:noFill/>
                <a:effectLst>
                  <a:outerShdw blurRad="38100" dist="22860" dir="5400000" algn="tl" rotWithShape="0">
                    <a:srgbClr val="000000">
                      <a:alpha val="30000"/>
                    </a:srgbClr>
                  </a:outerShdw>
                </a:effectLst>
                <a:uLnTx/>
                <a:uFillTx/>
                <a:latin typeface="Intel Clear"/>
                <a:sym typeface="Helvetica Neue"/>
              </a:rPr>
              <a:t>For use under CNDA024859 : Bytedance</a:t>
            </a:r>
          </a:p>
        </p:txBody>
      </p:sp>
    </p:spTree>
    <p:extLst>
      <p:ext uri="{BB962C8B-B14F-4D97-AF65-F5344CB8AC3E}">
        <p14:creationId xmlns:p14="http://schemas.microsoft.com/office/powerpoint/2010/main" val="30436162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193CC9-91BE-2B9C-B3CE-DF463BD83FFD}"/>
              </a:ext>
            </a:extLst>
          </p:cNvPr>
          <p:cNvSpPr>
            <a:spLocks noGrp="1"/>
          </p:cNvSpPr>
          <p:nvPr>
            <p:ph sz="quarter" idx="28"/>
          </p:nvPr>
        </p:nvSpPr>
        <p:spPr/>
        <p:txBody>
          <a:bodyPr lIns="0" tIns="0" rIns="0" bIns="0" anchor="t">
            <a:normAutofit lnSpcReduction="10000"/>
          </a:bodyPr>
          <a:lstStyle/>
          <a:p>
            <a:r>
              <a:rPr lang="zh-CN" altLang="en-US" dirty="0"/>
              <a:t>描述下</a:t>
            </a:r>
            <a:r>
              <a:rPr lang="en-US" altLang="zh-CN" dirty="0"/>
              <a:t>Patch</a:t>
            </a:r>
            <a:r>
              <a:rPr lang="zh-CN" altLang="en-US" dirty="0"/>
              <a:t>的代码的主要改动</a:t>
            </a:r>
          </a:p>
          <a:p>
            <a:pPr marL="0" indent="0">
              <a:buNone/>
            </a:pPr>
            <a:r>
              <a:rPr lang="zh-CN" dirty="0">
                <a:latin typeface="Intel Clear Light"/>
                <a:cs typeface="Intel Clear Light"/>
              </a:rPr>
              <a:t> </a:t>
            </a:r>
            <a:r>
              <a:rPr lang="zh-CN" altLang="en-US" dirty="0">
                <a:latin typeface="Intel Clear Light"/>
                <a:cs typeface="Intel Clear Light"/>
              </a:rPr>
              <a:t>  </a:t>
            </a:r>
            <a:r>
              <a:rPr lang="zh-CN" dirty="0">
                <a:latin typeface="Intel Clear Light"/>
                <a:cs typeface="Intel Clear Light"/>
              </a:rPr>
              <a:t>1. </a:t>
            </a:r>
            <a:r>
              <a:rPr lang="en-US" altLang="zh-CN" dirty="0">
                <a:latin typeface="Intel Clear Light"/>
                <a:ea typeface="Intel Clear Light"/>
                <a:cs typeface="Intel Clear Light"/>
              </a:rPr>
              <a:t>check workload on each running </a:t>
            </a:r>
            <a:r>
              <a:rPr lang="en-US" altLang="zh-CN" dirty="0" err="1">
                <a:latin typeface="Intel Clear Light"/>
                <a:ea typeface="Intel Clear Light"/>
                <a:cs typeface="Intel Clear Light"/>
              </a:rPr>
              <a:t>nvme</a:t>
            </a:r>
            <a:r>
              <a:rPr lang="en-US" altLang="zh-CN" dirty="0">
                <a:latin typeface="Intel Clear Light"/>
                <a:ea typeface="Intel Clear Light"/>
                <a:cs typeface="Intel Clear Light"/>
              </a:rPr>
              <a:t> queue, when meet some condition setting/clearing interrupt coalescing automatically</a:t>
            </a:r>
            <a:r>
              <a:rPr lang="zh-CN">
                <a:latin typeface="Intel Clear Light"/>
                <a:cs typeface="Intel Clear Light"/>
              </a:rPr>
              <a:t>;</a:t>
            </a:r>
            <a:endParaRPr lang="zh-CN" altLang="en-US">
              <a:cs typeface="Intel Clear Light"/>
            </a:endParaRPr>
          </a:p>
          <a:p>
            <a:pPr marL="0" indent="0">
              <a:buNone/>
            </a:pPr>
            <a:r>
              <a:rPr lang="zh-CN" dirty="0">
                <a:latin typeface="Intel Clear Light"/>
                <a:cs typeface="Intel Clear Light"/>
              </a:rPr>
              <a:t>   </a:t>
            </a:r>
            <a:r>
              <a:rPr lang="zh-CN" altLang="en-US" dirty="0">
                <a:latin typeface="Intel Clear Light"/>
                <a:cs typeface="Intel Clear Light"/>
              </a:rPr>
              <a:t> </a:t>
            </a:r>
            <a:r>
              <a:rPr lang="en-US" altLang="zh-CN" dirty="0">
                <a:latin typeface="Intel Clear Light"/>
                <a:ea typeface="Intel Clear Light"/>
                <a:cs typeface="Intel Clear Light"/>
              </a:rPr>
              <a:t>1</a:t>
            </a:r>
            <a:r>
              <a:rPr lang="en-US" altLang="en-US" dirty="0">
                <a:latin typeface="Intel Clear Light"/>
                <a:ea typeface="Intel Clear Light"/>
                <a:cs typeface="Intel Clear Light"/>
              </a:rPr>
              <a:t>) check the inflight io num to judge whether setting or clearing interrupt coalescing</a:t>
            </a:r>
            <a:endParaRPr lang="zh-CN" altLang="en-US" dirty="0">
              <a:cs typeface="Intel Clear Light"/>
            </a:endParaRPr>
          </a:p>
          <a:p>
            <a:pPr marL="0" indent="0">
              <a:buNone/>
            </a:pPr>
            <a:r>
              <a:rPr lang="zh-CN" dirty="0">
                <a:latin typeface="Intel Clear Light"/>
                <a:cs typeface="Intel Clear Light"/>
              </a:rPr>
              <a:t>    </a:t>
            </a:r>
            <a:r>
              <a:rPr lang="en-US" altLang="zh-CN" dirty="0">
                <a:latin typeface="Intel Clear Light"/>
                <a:ea typeface="Intel Clear Light"/>
                <a:cs typeface="Intel Clear Light"/>
              </a:rPr>
              <a:t>2)</a:t>
            </a:r>
            <a:r>
              <a:rPr lang="zh-CN" altLang="en-US">
                <a:latin typeface="Intel Clear Light"/>
                <a:cs typeface="Intel Clear Light"/>
              </a:rPr>
              <a:t> </a:t>
            </a:r>
            <a:r>
              <a:rPr lang="zh-CN">
                <a:latin typeface="Intel Clear Light"/>
                <a:cs typeface="Intel Clear Light"/>
              </a:rPr>
              <a:t>check completed io num during the judgement of setting or clearing</a:t>
            </a:r>
            <a:r>
              <a:rPr lang="zh-CN" altLang="en-US">
                <a:latin typeface="Intel Clear Light"/>
                <a:cs typeface="Intel Clear Light"/>
              </a:rPr>
              <a:t> </a:t>
            </a:r>
            <a:r>
              <a:rPr lang="zh-CN">
                <a:latin typeface="Intel Clear Light"/>
                <a:cs typeface="Intel Clear Light"/>
              </a:rPr>
              <a:t>interrupt coalescing;</a:t>
            </a:r>
          </a:p>
          <a:p>
            <a:pPr marL="0" indent="0">
              <a:buNone/>
            </a:pPr>
            <a:r>
              <a:rPr lang="en-US" altLang="zh-CN" dirty="0">
                <a:latin typeface="Intel Clear Light"/>
                <a:ea typeface="Intel Clear Light"/>
                <a:cs typeface="Intel Clear Light"/>
              </a:rPr>
              <a:t>2</a:t>
            </a:r>
            <a:r>
              <a:rPr lang="zh-CN">
                <a:latin typeface="Intel Clear Light"/>
                <a:cs typeface="Intel Clear Light"/>
              </a:rPr>
              <a:t>. enable interrupt coalescing for write with io </a:t>
            </a:r>
            <a:r>
              <a:rPr lang="en-US" altLang="zh-CN" dirty="0">
                <a:latin typeface="Intel Clear Light"/>
                <a:ea typeface="Intel Clear Light"/>
                <a:cs typeface="Intel Clear Light"/>
              </a:rPr>
              <a:t>size</a:t>
            </a:r>
            <a:r>
              <a:rPr lang="zh-CN">
                <a:latin typeface="Intel Clear Light"/>
                <a:cs typeface="Intel Clear Light"/>
              </a:rPr>
              <a:t> less than 32k</a:t>
            </a:r>
            <a:r>
              <a:rPr lang="en-US" altLang="zh-CN" dirty="0">
                <a:latin typeface="Intel Clear Light"/>
                <a:ea typeface="Intel Clear Light"/>
                <a:cs typeface="Intel Clear Light"/>
              </a:rPr>
              <a:t>,</a:t>
            </a:r>
            <a:r>
              <a:rPr lang="zh-CN" dirty="0">
                <a:latin typeface="Intel Clear Light"/>
                <a:cs typeface="Intel Clear Light"/>
              </a:rPr>
              <a:t> </a:t>
            </a:r>
            <a:r>
              <a:rPr lang="en-US" altLang="zh-CN" dirty="0">
                <a:latin typeface="Intel Clear Light"/>
                <a:ea typeface="Intel Clear Light"/>
                <a:cs typeface="Intel Clear Light"/>
              </a:rPr>
              <a:t>no</a:t>
            </a:r>
            <a:r>
              <a:rPr lang="zh-CN">
                <a:latin typeface="Intel Clear Light"/>
                <a:ea typeface="Intel Clear Light"/>
                <a:cs typeface="Intel Clear Light"/>
              </a:rPr>
              <a:t> i</a:t>
            </a:r>
            <a:r>
              <a:rPr lang="en-US" altLang="zh-CN" dirty="0" err="1">
                <a:latin typeface="Intel Clear Light"/>
                <a:ea typeface="Intel Clear Light"/>
                <a:cs typeface="Intel Clear Light"/>
              </a:rPr>
              <a:t>nterrupt</a:t>
            </a:r>
            <a:r>
              <a:rPr lang="en-US" altLang="zh-CN" dirty="0">
                <a:latin typeface="Intel Clear Light"/>
                <a:ea typeface="Intel Clear Light"/>
                <a:cs typeface="Intel Clear Light"/>
              </a:rPr>
              <a:t> coalescing for larger io size; </a:t>
            </a:r>
            <a:endParaRPr lang="zh-CN" dirty="0">
              <a:latin typeface="Intel Clear Light"/>
              <a:cs typeface="Intel Clear Light"/>
            </a:endParaRPr>
          </a:p>
          <a:p>
            <a:pPr marL="0" indent="0">
              <a:buNone/>
            </a:pPr>
            <a:r>
              <a:rPr lang="en-US" altLang="zh-CN" dirty="0">
                <a:latin typeface="Intel Clear Light"/>
                <a:ea typeface="Intel Clear Light"/>
                <a:cs typeface="Intel Clear Light"/>
              </a:rPr>
              <a:t>3</a:t>
            </a:r>
            <a:r>
              <a:rPr lang="zh-CN">
                <a:latin typeface="Intel Clear Light"/>
                <a:cs typeface="Intel Clear Light"/>
              </a:rPr>
              <a:t>. record the nvme queues been used currently and only enable interrupt</a:t>
            </a:r>
          </a:p>
          <a:p>
            <a:pPr marL="0" indent="0">
              <a:buNone/>
            </a:pPr>
            <a:r>
              <a:rPr lang="zh-CN"/>
              <a:t>coalescing when there are more than 2 nvme queues been used (can be modified</a:t>
            </a:r>
          </a:p>
          <a:p>
            <a:pPr marL="0" indent="0">
              <a:buNone/>
            </a:pPr>
            <a:r>
              <a:rPr lang="zh-CN"/>
              <a:t>during runtime);</a:t>
            </a:r>
          </a:p>
          <a:p>
            <a:pPr marL="0" indent="0">
              <a:buNone/>
            </a:pPr>
            <a:r>
              <a:rPr lang="en-US" altLang="zh-CN" dirty="0">
                <a:latin typeface="Intel Clear Light"/>
                <a:ea typeface="Intel Clear Light"/>
                <a:cs typeface="Intel Clear Light"/>
              </a:rPr>
              <a:t>4.</a:t>
            </a:r>
            <a:r>
              <a:rPr lang="zh-CN" altLang="en-US">
                <a:latin typeface="Intel Clear Light"/>
                <a:cs typeface="Intel Clear Light"/>
              </a:rPr>
              <a:t> </a:t>
            </a:r>
            <a:r>
              <a:rPr lang="zh-CN">
                <a:latin typeface="Intel Clear Light"/>
                <a:cs typeface="Intel Clear Light"/>
              </a:rPr>
              <a:t>add debug variable to print the io info of used nvme queues.</a:t>
            </a:r>
            <a:endParaRPr lang="zh-CN">
              <a:cs typeface="Intel Clear Light"/>
            </a:endParaRPr>
          </a:p>
          <a:p>
            <a:endParaRPr lang="zh-CN" altLang="en-US" dirty="0"/>
          </a:p>
        </p:txBody>
      </p:sp>
      <p:sp>
        <p:nvSpPr>
          <p:cNvPr id="2" name="Title 1">
            <a:extLst>
              <a:ext uri="{FF2B5EF4-FFF2-40B4-BE49-F238E27FC236}">
                <a16:creationId xmlns:a16="http://schemas.microsoft.com/office/drawing/2014/main" id="{1EF9A050-5ED3-1C8B-17EC-979C3A7E45E6}"/>
              </a:ext>
            </a:extLst>
          </p:cNvPr>
          <p:cNvSpPr>
            <a:spLocks noGrp="1"/>
          </p:cNvSpPr>
          <p:nvPr>
            <p:ph type="title"/>
          </p:nvPr>
        </p:nvSpPr>
        <p:spPr/>
        <p:txBody>
          <a:bodyPr/>
          <a:lstStyle/>
          <a:p>
            <a:r>
              <a:rPr lang="en-US" dirty="0"/>
              <a:t>Patch Major Changes</a:t>
            </a:r>
          </a:p>
        </p:txBody>
      </p:sp>
      <p:sp>
        <p:nvSpPr>
          <p:cNvPr id="4" name="TextBox 3">
            <a:extLst>
              <a:ext uri="{FF2B5EF4-FFF2-40B4-BE49-F238E27FC236}">
                <a16:creationId xmlns:a16="http://schemas.microsoft.com/office/drawing/2014/main" id="{EC23D981-DAA0-D394-EA05-1C6B1860DA65}"/>
              </a:ext>
            </a:extLst>
          </p:cNvPr>
          <p:cNvSpPr txBox="1"/>
          <p:nvPr/>
        </p:nvSpPr>
        <p:spPr>
          <a:xfrm rot="19948762">
            <a:off x="736241" y="2809169"/>
            <a:ext cx="10810652" cy="630365"/>
          </a:xfrm>
          <a:prstGeom prst="rect">
            <a:avLst/>
          </a:prstGeom>
          <a:noFill/>
        </p:spPr>
        <p:txBody>
          <a:bodyPr vert="horz" wrap="none" lIns="0" tIns="0" rIns="0" bIns="0" rtlCol="0">
            <a:spAutoFit/>
          </a:bodyPr>
          <a:lstStyle/>
          <a:p>
            <a:pPr marL="0" marR="0" lvl="0" indent="0" algn="l" defTabSz="1219169" rtl="0" eaLnBrk="1" fontAlgn="auto" latinLnBrk="0" hangingPunct="0">
              <a:lnSpc>
                <a:spcPct val="90000"/>
              </a:lnSpc>
              <a:spcBef>
                <a:spcPts val="2250"/>
              </a:spcBef>
              <a:spcAft>
                <a:spcPts val="0"/>
              </a:spcAft>
              <a:buClrTx/>
              <a:buSzTx/>
              <a:buFontTx/>
              <a:buNone/>
              <a:tabLst/>
              <a:defRPr/>
            </a:pPr>
            <a:r>
              <a:rPr kumimoji="0" lang="en-US" sz="4533" b="1" i="0" u="none" strike="noStrike" kern="0" cap="none" spc="0" normalizeH="0" baseline="0" noProof="0" dirty="0">
                <a:ln w="3175">
                  <a:solidFill>
                    <a:srgbClr val="FF0000"/>
                  </a:solidFill>
                  <a:prstDash val="sysDot"/>
                </a:ln>
                <a:noFill/>
                <a:effectLst>
                  <a:outerShdw blurRad="38100" dist="22860" dir="5400000" algn="tl" rotWithShape="0">
                    <a:srgbClr val="000000">
                      <a:alpha val="30000"/>
                    </a:srgbClr>
                  </a:outerShdw>
                </a:effectLst>
                <a:uLnTx/>
                <a:uFillTx/>
                <a:latin typeface="Intel Clear"/>
                <a:sym typeface="Helvetica Neue"/>
              </a:rPr>
              <a:t>For use under CNDA024859 : Bytedance</a:t>
            </a:r>
          </a:p>
        </p:txBody>
      </p:sp>
    </p:spTree>
    <p:extLst>
      <p:ext uri="{BB962C8B-B14F-4D97-AF65-F5344CB8AC3E}">
        <p14:creationId xmlns:p14="http://schemas.microsoft.com/office/powerpoint/2010/main" val="2638020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63911A-1AD2-5A20-337D-A9A9EA82DCB8}"/>
            </a:ext>
          </a:extLst>
        </p:cNvPr>
        <p:cNvGrpSpPr/>
        <p:nvPr/>
      </p:nvGrpSpPr>
      <p:grpSpPr>
        <a:xfrm>
          <a:off x="0" y="0"/>
          <a:ext cx="0" cy="0"/>
          <a:chOff x="0" y="0"/>
          <a:chExt cx="0" cy="0"/>
        </a:xfrm>
      </p:grpSpPr>
      <p:sp>
        <p:nvSpPr>
          <p:cNvPr id="10" name="Title 4">
            <a:extLst>
              <a:ext uri="{FF2B5EF4-FFF2-40B4-BE49-F238E27FC236}">
                <a16:creationId xmlns:a16="http://schemas.microsoft.com/office/drawing/2014/main" id="{62A836D6-FB22-29BE-4980-32EBA389CC9D}"/>
              </a:ext>
            </a:extLst>
          </p:cNvPr>
          <p:cNvSpPr>
            <a:spLocks noGrp="1"/>
          </p:cNvSpPr>
          <p:nvPr>
            <p:ph type="title"/>
          </p:nvPr>
        </p:nvSpPr>
        <p:spPr>
          <a:xfrm>
            <a:off x="381000" y="276841"/>
            <a:ext cx="10972800" cy="640080"/>
          </a:xfrm>
        </p:spPr>
        <p:txBody>
          <a:bodyPr/>
          <a:lstStyle/>
          <a:p>
            <a:r>
              <a:rPr lang="en-US" dirty="0"/>
              <a:t>Installation</a:t>
            </a:r>
          </a:p>
        </p:txBody>
      </p:sp>
      <p:sp>
        <p:nvSpPr>
          <p:cNvPr id="14" name="TextBox 13">
            <a:extLst>
              <a:ext uri="{FF2B5EF4-FFF2-40B4-BE49-F238E27FC236}">
                <a16:creationId xmlns:a16="http://schemas.microsoft.com/office/drawing/2014/main" id="{C271D8E5-377C-9FC9-BDE8-0EBE635E7C85}"/>
              </a:ext>
            </a:extLst>
          </p:cNvPr>
          <p:cNvSpPr txBox="1"/>
          <p:nvPr/>
        </p:nvSpPr>
        <p:spPr>
          <a:xfrm>
            <a:off x="461173" y="873376"/>
            <a:ext cx="10972800" cy="39087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285750" indent="-285750">
              <a:spcBef>
                <a:spcPts val="600"/>
              </a:spcBef>
              <a:buFont typeface="Wingdings" panose="05000000000000000000" pitchFamily="2" charset="2"/>
              <a:buChar char="q"/>
            </a:pPr>
            <a:r>
              <a:rPr lang="en-US" b="1" dirty="0"/>
              <a:t>Steps to install</a:t>
            </a:r>
          </a:p>
          <a:p>
            <a:pPr>
              <a:spcBef>
                <a:spcPts val="600"/>
              </a:spcBef>
            </a:pPr>
            <a:r>
              <a:rPr lang="en-US" dirty="0"/>
              <a:t>- git clone related Linux kernel source code</a:t>
            </a:r>
          </a:p>
          <a:p>
            <a:pPr>
              <a:spcBef>
                <a:spcPts val="600"/>
              </a:spcBef>
            </a:pPr>
            <a:r>
              <a:rPr lang="en-US" dirty="0"/>
              <a:t>- git apply the patch</a:t>
            </a:r>
          </a:p>
          <a:p>
            <a:pPr>
              <a:spcBef>
                <a:spcPts val="600"/>
              </a:spcBef>
            </a:pPr>
            <a:r>
              <a:rPr lang="en-US" dirty="0"/>
              <a:t>- compile Linux kernel</a:t>
            </a:r>
          </a:p>
          <a:p>
            <a:pPr>
              <a:spcBef>
                <a:spcPts val="600"/>
              </a:spcBef>
            </a:pPr>
            <a:r>
              <a:rPr lang="en-US" dirty="0"/>
              <a:t>- make install Linux kernel</a:t>
            </a:r>
          </a:p>
          <a:p>
            <a:pPr>
              <a:spcBef>
                <a:spcPts val="600"/>
              </a:spcBef>
            </a:pPr>
            <a:r>
              <a:rPr lang="en-US" dirty="0"/>
              <a:t>- reboot OS</a:t>
            </a:r>
          </a:p>
          <a:p>
            <a:pPr marL="285750" indent="-285750">
              <a:spcBef>
                <a:spcPts val="600"/>
              </a:spcBef>
              <a:buFontTx/>
              <a:buChar char="-"/>
            </a:pPr>
            <a:endParaRPr lang="en-US" dirty="0"/>
          </a:p>
          <a:p>
            <a:pPr marL="285750" indent="-285750">
              <a:spcBef>
                <a:spcPts val="600"/>
              </a:spcBef>
              <a:buFont typeface="Wingdings" panose="05000000000000000000" pitchFamily="2" charset="2"/>
              <a:buChar char="q"/>
            </a:pPr>
            <a:r>
              <a:rPr lang="en-US" b="1" dirty="0"/>
              <a:t>How to check if installed successfully</a:t>
            </a:r>
            <a:endParaRPr lang="en-US" dirty="0"/>
          </a:p>
          <a:p>
            <a:pPr>
              <a:spcBef>
                <a:spcPts val="600"/>
              </a:spcBef>
            </a:pPr>
            <a:r>
              <a:rPr lang="en-US" dirty="0">
                <a:highlight>
                  <a:srgbClr val="C0C0C0"/>
                </a:highlight>
              </a:rPr>
              <a:t>ls –l /sys/kernel/</a:t>
            </a:r>
            <a:r>
              <a:rPr lang="en-US" dirty="0" err="1">
                <a:highlight>
                  <a:srgbClr val="C0C0C0"/>
                </a:highlight>
              </a:rPr>
              <a:t>nvme</a:t>
            </a:r>
            <a:r>
              <a:rPr lang="en-US" dirty="0">
                <a:highlight>
                  <a:srgbClr val="C0C0C0"/>
                </a:highlight>
              </a:rPr>
              <a:t>/</a:t>
            </a:r>
          </a:p>
          <a:p>
            <a:pPr>
              <a:spcBef>
                <a:spcPts val="600"/>
              </a:spcBef>
            </a:pPr>
            <a:r>
              <a:rPr lang="en-US" dirty="0"/>
              <a:t>If the configurations exists in this folder, it means the patch has been successfully installed.</a:t>
            </a:r>
          </a:p>
          <a:p>
            <a:pPr>
              <a:spcBef>
                <a:spcPts val="600"/>
              </a:spcBef>
            </a:pPr>
            <a:endParaRPr lang="en-US" dirty="0"/>
          </a:p>
        </p:txBody>
      </p:sp>
      <p:pic>
        <p:nvPicPr>
          <p:cNvPr id="2" name="Picture 1" descr="A screen shot of a computer&#10;&#10;AI-generated content may be incorrect.">
            <a:extLst>
              <a:ext uri="{FF2B5EF4-FFF2-40B4-BE49-F238E27FC236}">
                <a16:creationId xmlns:a16="http://schemas.microsoft.com/office/drawing/2014/main" id="{AAA91697-EAEA-A991-286E-9DA8353CECD4}"/>
              </a:ext>
            </a:extLst>
          </p:cNvPr>
          <p:cNvPicPr>
            <a:picLocks noChangeAspect="1"/>
          </p:cNvPicPr>
          <p:nvPr/>
        </p:nvPicPr>
        <p:blipFill>
          <a:blip r:embed="rId2"/>
          <a:stretch>
            <a:fillRect/>
          </a:stretch>
        </p:blipFill>
        <p:spPr>
          <a:xfrm>
            <a:off x="995923" y="4436409"/>
            <a:ext cx="5762625" cy="2019300"/>
          </a:xfrm>
          <a:prstGeom prst="rect">
            <a:avLst/>
          </a:prstGeom>
        </p:spPr>
      </p:pic>
      <p:sp>
        <p:nvSpPr>
          <p:cNvPr id="3" name="TextBox 2">
            <a:extLst>
              <a:ext uri="{FF2B5EF4-FFF2-40B4-BE49-F238E27FC236}">
                <a16:creationId xmlns:a16="http://schemas.microsoft.com/office/drawing/2014/main" id="{FF4039FF-DBB6-BCF6-8F1E-43C44C931CBF}"/>
              </a:ext>
            </a:extLst>
          </p:cNvPr>
          <p:cNvSpPr txBox="1"/>
          <p:nvPr/>
        </p:nvSpPr>
        <p:spPr>
          <a:xfrm rot="19948762">
            <a:off x="736241" y="2809169"/>
            <a:ext cx="10810652" cy="630365"/>
          </a:xfrm>
          <a:prstGeom prst="rect">
            <a:avLst/>
          </a:prstGeom>
          <a:noFill/>
        </p:spPr>
        <p:txBody>
          <a:bodyPr vert="horz" wrap="none" lIns="0" tIns="0" rIns="0" bIns="0" rtlCol="0">
            <a:spAutoFit/>
          </a:bodyPr>
          <a:lstStyle/>
          <a:p>
            <a:pPr marL="0" marR="0" lvl="0" indent="0" algn="l" defTabSz="1219169" rtl="0" eaLnBrk="1" fontAlgn="auto" latinLnBrk="0" hangingPunct="0">
              <a:lnSpc>
                <a:spcPct val="90000"/>
              </a:lnSpc>
              <a:spcBef>
                <a:spcPts val="2250"/>
              </a:spcBef>
              <a:spcAft>
                <a:spcPts val="0"/>
              </a:spcAft>
              <a:buClrTx/>
              <a:buSzTx/>
              <a:buFontTx/>
              <a:buNone/>
              <a:tabLst/>
              <a:defRPr/>
            </a:pPr>
            <a:r>
              <a:rPr kumimoji="0" lang="en-US" sz="4533" b="1" i="0" u="none" strike="noStrike" kern="0" cap="none" spc="0" normalizeH="0" baseline="0" noProof="0" dirty="0">
                <a:ln w="3175">
                  <a:solidFill>
                    <a:srgbClr val="FF0000"/>
                  </a:solidFill>
                  <a:prstDash val="sysDot"/>
                </a:ln>
                <a:noFill/>
                <a:effectLst>
                  <a:outerShdw blurRad="38100" dist="22860" dir="5400000" algn="tl" rotWithShape="0">
                    <a:srgbClr val="000000">
                      <a:alpha val="30000"/>
                    </a:srgbClr>
                  </a:outerShdw>
                </a:effectLst>
                <a:uLnTx/>
                <a:uFillTx/>
                <a:latin typeface="Intel Clear"/>
                <a:sym typeface="Helvetica Neue"/>
              </a:rPr>
              <a:t>For use under CNDA024859 : Bytedance</a:t>
            </a:r>
          </a:p>
        </p:txBody>
      </p:sp>
    </p:spTree>
    <p:extLst>
      <p:ext uri="{BB962C8B-B14F-4D97-AF65-F5344CB8AC3E}">
        <p14:creationId xmlns:p14="http://schemas.microsoft.com/office/powerpoint/2010/main" val="7596323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5DAD1-812C-43B3-5882-FA76361B35C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545B421-D100-FE39-AA99-5D7175B02575}"/>
              </a:ext>
            </a:extLst>
          </p:cNvPr>
          <p:cNvSpPr>
            <a:spLocks noGrp="1"/>
          </p:cNvSpPr>
          <p:nvPr>
            <p:ph type="title"/>
          </p:nvPr>
        </p:nvSpPr>
        <p:spPr>
          <a:xfrm>
            <a:off x="381000" y="276841"/>
            <a:ext cx="10972800" cy="640080"/>
          </a:xfrm>
        </p:spPr>
        <p:txBody>
          <a:bodyPr/>
          <a:lstStyle/>
          <a:p>
            <a:r>
              <a:rPr lang="en-US" dirty="0"/>
              <a:t>Configuration</a:t>
            </a:r>
          </a:p>
        </p:txBody>
      </p:sp>
      <p:graphicFrame>
        <p:nvGraphicFramePr>
          <p:cNvPr id="4" name="Table 3">
            <a:extLst>
              <a:ext uri="{FF2B5EF4-FFF2-40B4-BE49-F238E27FC236}">
                <a16:creationId xmlns:a16="http://schemas.microsoft.com/office/drawing/2014/main" id="{5D4CE436-C213-6349-8B9A-343E2D2C4A69}"/>
              </a:ext>
            </a:extLst>
          </p:cNvPr>
          <p:cNvGraphicFramePr>
            <a:graphicFrameLocks noGrp="1"/>
          </p:cNvGraphicFramePr>
          <p:nvPr>
            <p:extLst>
              <p:ext uri="{D42A27DB-BD31-4B8C-83A1-F6EECF244321}">
                <p14:modId xmlns:p14="http://schemas.microsoft.com/office/powerpoint/2010/main" val="2734278122"/>
              </p:ext>
            </p:extLst>
          </p:nvPr>
        </p:nvGraphicFramePr>
        <p:xfrm>
          <a:off x="463296" y="1271817"/>
          <a:ext cx="10972801" cy="5308600"/>
        </p:xfrm>
        <a:graphic>
          <a:graphicData uri="http://schemas.openxmlformats.org/drawingml/2006/table">
            <a:tbl>
              <a:tblPr firstRow="1" bandRow="1">
                <a:tableStyleId>{5C22544A-7EE6-4342-B048-85BDC9FD1C3A}</a:tableStyleId>
              </a:tblPr>
              <a:tblGrid>
                <a:gridCol w="1722716">
                  <a:extLst>
                    <a:ext uri="{9D8B030D-6E8A-4147-A177-3AD203B41FA5}">
                      <a16:colId xmlns:a16="http://schemas.microsoft.com/office/drawing/2014/main" val="1370449551"/>
                    </a:ext>
                  </a:extLst>
                </a:gridCol>
                <a:gridCol w="888658">
                  <a:extLst>
                    <a:ext uri="{9D8B030D-6E8A-4147-A177-3AD203B41FA5}">
                      <a16:colId xmlns:a16="http://schemas.microsoft.com/office/drawing/2014/main" val="856398622"/>
                    </a:ext>
                  </a:extLst>
                </a:gridCol>
                <a:gridCol w="8361427">
                  <a:extLst>
                    <a:ext uri="{9D8B030D-6E8A-4147-A177-3AD203B41FA5}">
                      <a16:colId xmlns:a16="http://schemas.microsoft.com/office/drawing/2014/main" val="2925618246"/>
                    </a:ext>
                  </a:extLst>
                </a:gridCol>
              </a:tblGrid>
              <a:tr h="370840">
                <a:tc>
                  <a:txBody>
                    <a:bodyPr/>
                    <a:lstStyle/>
                    <a:p>
                      <a:pPr algn="ctr"/>
                      <a:r>
                        <a:rPr lang="en-US" dirty="0"/>
                        <a:t>Parameters</a:t>
                      </a:r>
                    </a:p>
                  </a:txBody>
                  <a:tcPr anchor="ctr"/>
                </a:tc>
                <a:tc>
                  <a:txBody>
                    <a:bodyPr/>
                    <a:lstStyle/>
                    <a:p>
                      <a:pPr algn="ctr"/>
                      <a:r>
                        <a:rPr lang="en-US" dirty="0"/>
                        <a:t>Default</a:t>
                      </a:r>
                    </a:p>
                  </a:txBody>
                  <a:tcPr anchor="ctr"/>
                </a:tc>
                <a:tc>
                  <a:txBody>
                    <a:bodyPr/>
                    <a:lstStyle/>
                    <a:p>
                      <a:pPr algn="ctr"/>
                      <a:r>
                        <a:rPr lang="en-US" dirty="0"/>
                        <a:t>Descriptions </a:t>
                      </a:r>
                    </a:p>
                  </a:txBody>
                  <a:tcPr anchor="ctr"/>
                </a:tc>
                <a:extLst>
                  <a:ext uri="{0D108BD9-81ED-4DB2-BD59-A6C34878D82A}">
                    <a16:rowId xmlns:a16="http://schemas.microsoft.com/office/drawing/2014/main" val="3101196549"/>
                  </a:ext>
                </a:extLst>
              </a:tr>
              <a:tr h="370840">
                <a:tc>
                  <a:txBody>
                    <a:bodyPr/>
                    <a:lstStyle/>
                    <a:p>
                      <a:r>
                        <a:rPr lang="en-US" dirty="0" err="1"/>
                        <a:t>coalesce_value</a:t>
                      </a:r>
                      <a:endParaRPr lang="en-US" dirty="0"/>
                    </a:p>
                  </a:txBody>
                  <a:tcPr anchor="ctr"/>
                </a:tc>
                <a:tc>
                  <a:txBody>
                    <a:bodyPr/>
                    <a:lstStyle/>
                    <a:p>
                      <a:r>
                        <a:rPr lang="en-US" dirty="0"/>
                        <a:t>266</a:t>
                      </a:r>
                    </a:p>
                  </a:txBody>
                  <a:tcPr anchor="ctr"/>
                </a:tc>
                <a:tc>
                  <a:txBody>
                    <a:bodyPr/>
                    <a:lstStyle/>
                    <a:p>
                      <a:pPr algn="l"/>
                      <a:r>
                        <a:rPr lang="en-US" dirty="0"/>
                        <a:t>The coalesce value set to NVME SSD, similar to below command:</a:t>
                      </a:r>
                    </a:p>
                    <a:p>
                      <a:pPr algn="l"/>
                      <a:r>
                        <a:rPr lang="en-US" i="1" dirty="0" err="1">
                          <a:solidFill>
                            <a:schemeClr val="accent3">
                              <a:lumMod val="50000"/>
                            </a:schemeClr>
                          </a:solidFill>
                        </a:rPr>
                        <a:t>nvme</a:t>
                      </a:r>
                      <a:r>
                        <a:rPr lang="en-US" i="1" dirty="0">
                          <a:solidFill>
                            <a:schemeClr val="accent3">
                              <a:lumMod val="50000"/>
                            </a:schemeClr>
                          </a:solidFill>
                        </a:rPr>
                        <a:t> set-feature /dev/</a:t>
                      </a:r>
                      <a:r>
                        <a:rPr lang="en-US" i="1" dirty="0" err="1">
                          <a:solidFill>
                            <a:schemeClr val="accent3">
                              <a:lumMod val="50000"/>
                            </a:schemeClr>
                          </a:solidFill>
                        </a:rPr>
                        <a:t>nvme$i</a:t>
                      </a:r>
                      <a:r>
                        <a:rPr lang="en-US" i="1" dirty="0">
                          <a:solidFill>
                            <a:schemeClr val="accent3">
                              <a:lumMod val="50000"/>
                            </a:schemeClr>
                          </a:solidFill>
                        </a:rPr>
                        <a:t> -f 0x8 --value=266 -n 0</a:t>
                      </a:r>
                    </a:p>
                    <a:p>
                      <a:pPr algn="l"/>
                      <a:r>
                        <a:rPr lang="en-US" dirty="0"/>
                        <a:t>266 == 0x10a, that means timeout is set to 100us, coalesced request count is set to 0xa.</a:t>
                      </a:r>
                    </a:p>
                    <a:p>
                      <a:pPr algn="l"/>
                      <a:r>
                        <a:rPr lang="en-US" dirty="0"/>
                        <a:t>If want to set 0x109, just need to “echo 265 &gt; /sys/kernel/</a:t>
                      </a:r>
                      <a:r>
                        <a:rPr lang="en-US" dirty="0" err="1"/>
                        <a:t>nvme</a:t>
                      </a:r>
                      <a:r>
                        <a:rPr lang="en-US" dirty="0"/>
                        <a:t>/</a:t>
                      </a:r>
                      <a:r>
                        <a:rPr lang="en-US" dirty="0" err="1"/>
                        <a:t>coalesce_value</a:t>
                      </a:r>
                      <a:r>
                        <a:rPr lang="en-US" dirty="0"/>
                        <a:t>”</a:t>
                      </a:r>
                    </a:p>
                  </a:txBody>
                  <a:tcPr/>
                </a:tc>
                <a:extLst>
                  <a:ext uri="{0D108BD9-81ED-4DB2-BD59-A6C34878D82A}">
                    <a16:rowId xmlns:a16="http://schemas.microsoft.com/office/drawing/2014/main" val="3901997516"/>
                  </a:ext>
                </a:extLst>
              </a:tr>
              <a:tr h="370839">
                <a:tc>
                  <a:txBody>
                    <a:bodyPr/>
                    <a:lstStyle/>
                    <a:p>
                      <a:pPr lvl="0">
                        <a:buNone/>
                      </a:pPr>
                      <a:r>
                        <a:rPr lang="en-US" dirty="0"/>
                        <a:t>debug</a:t>
                      </a:r>
                    </a:p>
                  </a:txBody>
                  <a:tcPr anchor="ctr"/>
                </a:tc>
                <a:tc>
                  <a:txBody>
                    <a:bodyPr/>
                    <a:lstStyle/>
                    <a:p>
                      <a:pPr lvl="0">
                        <a:buNone/>
                      </a:pPr>
                      <a:r>
                        <a:rPr lang="en-US" dirty="0"/>
                        <a:t>0</a:t>
                      </a:r>
                    </a:p>
                  </a:txBody>
                  <a:tcPr anchor="ctr"/>
                </a:tc>
                <a:tc>
                  <a:txBody>
                    <a:bodyPr/>
                    <a:lstStyle/>
                    <a:p>
                      <a:pPr marL="0" lvl="0" indent="0" algn="l">
                        <a:lnSpc>
                          <a:spcPct val="100000"/>
                        </a:lnSpc>
                        <a:spcBef>
                          <a:spcPts val="0"/>
                        </a:spcBef>
                        <a:spcAft>
                          <a:spcPts val="0"/>
                        </a:spcAft>
                        <a:buNone/>
                      </a:pPr>
                      <a:r>
                        <a:rPr lang="en-US" dirty="0"/>
                        <a:t>0: not print, "echo 0 &gt; </a:t>
                      </a:r>
                      <a:r>
                        <a:rPr lang="en-US" sz="1000" b="0" i="0" u="none" strike="noStrike" noProof="0" dirty="0">
                          <a:solidFill>
                            <a:srgbClr val="000000"/>
                          </a:solidFill>
                          <a:latin typeface="Intel Clear"/>
                        </a:rPr>
                        <a:t>/sys/kernel/</a:t>
                      </a:r>
                      <a:r>
                        <a:rPr lang="en-US" sz="1000" b="0" i="0" u="none" strike="noStrike" noProof="0" dirty="0" err="1">
                          <a:solidFill>
                            <a:srgbClr val="000000"/>
                          </a:solidFill>
                          <a:latin typeface="Intel Clear"/>
                        </a:rPr>
                        <a:t>nvme</a:t>
                      </a:r>
                      <a:r>
                        <a:rPr lang="en-US" sz="1000" b="0" i="0" u="none" strike="noStrike" noProof="0" dirty="0">
                          <a:solidFill>
                            <a:srgbClr val="000000"/>
                          </a:solidFill>
                          <a:latin typeface="Intel Clear"/>
                        </a:rPr>
                        <a:t>/debug</a:t>
                      </a:r>
                      <a:r>
                        <a:rPr lang="en-US" dirty="0"/>
                        <a:t>"</a:t>
                      </a:r>
                      <a:endParaRPr lang="en-US"/>
                    </a:p>
                    <a:p>
                      <a:pPr marL="0" lvl="0" indent="0" algn="l">
                        <a:lnSpc>
                          <a:spcPct val="100000"/>
                        </a:lnSpc>
                        <a:spcBef>
                          <a:spcPts val="0"/>
                        </a:spcBef>
                        <a:spcAft>
                          <a:spcPts val="0"/>
                        </a:spcAft>
                        <a:buNone/>
                      </a:pPr>
                      <a:r>
                        <a:rPr lang="en-US" dirty="0"/>
                        <a:t>1: print some debug print about each running </a:t>
                      </a:r>
                      <a:r>
                        <a:rPr lang="en-US" dirty="0" err="1"/>
                        <a:t>nvme</a:t>
                      </a:r>
                      <a:r>
                        <a:rPr lang="en-US" dirty="0"/>
                        <a:t> device queue with fix interval, "echo 1 &gt; </a:t>
                      </a:r>
                      <a:r>
                        <a:rPr lang="en-US" sz="1000" b="0" i="0" u="none" strike="noStrike" noProof="0" dirty="0">
                          <a:solidFill>
                            <a:srgbClr val="000000"/>
                          </a:solidFill>
                          <a:latin typeface="Intel Clear"/>
                        </a:rPr>
                        <a:t>/sys/kernel/</a:t>
                      </a:r>
                      <a:r>
                        <a:rPr lang="en-US" sz="1000" b="0" i="0" u="none" strike="noStrike" noProof="0" dirty="0" err="1">
                          <a:solidFill>
                            <a:srgbClr val="000000"/>
                          </a:solidFill>
                          <a:latin typeface="Intel Clear"/>
                        </a:rPr>
                        <a:t>nvme</a:t>
                      </a:r>
                      <a:r>
                        <a:rPr lang="en-US" sz="1000" b="0" i="0" u="none" strike="noStrike" noProof="0" dirty="0">
                          <a:solidFill>
                            <a:srgbClr val="000000"/>
                          </a:solidFill>
                          <a:latin typeface="Intel Clear"/>
                        </a:rPr>
                        <a:t>/debug</a:t>
                      </a:r>
                      <a:r>
                        <a:rPr lang="en-US" dirty="0"/>
                        <a:t>"</a:t>
                      </a:r>
                    </a:p>
                  </a:txBody>
                  <a:tcPr/>
                </a:tc>
                <a:extLst>
                  <a:ext uri="{0D108BD9-81ED-4DB2-BD59-A6C34878D82A}">
                    <a16:rowId xmlns:a16="http://schemas.microsoft.com/office/drawing/2014/main" val="2704642726"/>
                  </a:ext>
                </a:extLst>
              </a:tr>
              <a:tr h="370840">
                <a:tc>
                  <a:txBody>
                    <a:bodyPr/>
                    <a:lstStyle/>
                    <a:p>
                      <a:r>
                        <a:rPr lang="en-US" dirty="0"/>
                        <a:t>disable</a:t>
                      </a:r>
                    </a:p>
                  </a:txBody>
                  <a:tcPr anchor="ctr"/>
                </a:tc>
                <a:tc>
                  <a:txBody>
                    <a:bodyPr/>
                    <a:lstStyle/>
                    <a:p>
                      <a:r>
                        <a:rPr lang="en-US" dirty="0"/>
                        <a:t>0</a:t>
                      </a:r>
                    </a:p>
                  </a:txBody>
                  <a:tcPr anchor="ctr"/>
                </a:tc>
                <a:tc>
                  <a:txBody>
                    <a:bodyPr/>
                    <a:lstStyle/>
                    <a:p>
                      <a:pPr algn="l"/>
                      <a:r>
                        <a:rPr lang="en-US" dirty="0"/>
                        <a:t>0: enable, to enable adaptive interrupt coalescing, “echo 0 &gt; /sys/kernel/</a:t>
                      </a:r>
                      <a:r>
                        <a:rPr lang="en-US" dirty="0" err="1"/>
                        <a:t>nvme</a:t>
                      </a:r>
                      <a:r>
                        <a:rPr lang="en-US" dirty="0"/>
                        <a:t>/disable”</a:t>
                      </a:r>
                    </a:p>
                    <a:p>
                      <a:pPr marL="0" marR="0" lvl="0" indent="0" algn="l" defTabSz="609600" eaLnBrk="1" fontAlgn="auto" latinLnBrk="0" hangingPunct="1">
                        <a:lnSpc>
                          <a:spcPct val="100000"/>
                        </a:lnSpc>
                        <a:spcBef>
                          <a:spcPts val="0"/>
                        </a:spcBef>
                        <a:spcAft>
                          <a:spcPts val="0"/>
                        </a:spcAft>
                        <a:buClrTx/>
                        <a:buSzTx/>
                        <a:buFontTx/>
                        <a:buNone/>
                        <a:tabLst/>
                        <a:defRPr/>
                      </a:pPr>
                      <a:r>
                        <a:rPr lang="en-US" dirty="0"/>
                        <a:t>1: disable, to disable adaptive interrupt coalescing, “echo 1 &gt; /sys/kernel/</a:t>
                      </a:r>
                      <a:r>
                        <a:rPr lang="en-US" dirty="0" err="1"/>
                        <a:t>nvme</a:t>
                      </a:r>
                      <a:r>
                        <a:rPr lang="en-US" dirty="0"/>
                        <a:t>/disable”</a:t>
                      </a:r>
                    </a:p>
                  </a:txBody>
                  <a:tcPr/>
                </a:tc>
                <a:extLst>
                  <a:ext uri="{0D108BD9-81ED-4DB2-BD59-A6C34878D82A}">
                    <a16:rowId xmlns:a16="http://schemas.microsoft.com/office/drawing/2014/main" val="3019044676"/>
                  </a:ext>
                </a:extLst>
              </a:tr>
              <a:tr h="370840">
                <a:tc>
                  <a:txBody>
                    <a:bodyPr/>
                    <a:lstStyle/>
                    <a:p>
                      <a:r>
                        <a:rPr lang="en-US" dirty="0" err="1"/>
                        <a:t>hit_count_before_change</a:t>
                      </a:r>
                      <a:endParaRPr lang="en-US" dirty="0"/>
                    </a:p>
                  </a:txBody>
                  <a:tcPr anchor="ctr"/>
                </a:tc>
                <a:tc>
                  <a:txBody>
                    <a:bodyPr/>
                    <a:lstStyle/>
                    <a:p>
                      <a:r>
                        <a:rPr lang="en-US" dirty="0"/>
                        <a:t>5</a:t>
                      </a:r>
                    </a:p>
                  </a:txBody>
                  <a:tcPr anchor="ctr"/>
                </a:tc>
                <a:tc>
                  <a:txBody>
                    <a:bodyPr/>
                    <a:lstStyle/>
                    <a:p>
                      <a:pPr marL="0" marR="0" lvl="0" indent="0" algn="l" defTabSz="609600" eaLnBrk="1" fontAlgn="auto" latinLnBrk="0" hangingPunct="1">
                        <a:lnSpc>
                          <a:spcPct val="100000"/>
                        </a:lnSpc>
                        <a:spcBef>
                          <a:spcPts val="0"/>
                        </a:spcBef>
                        <a:spcAft>
                          <a:spcPts val="0"/>
                        </a:spcAft>
                        <a:buClrTx/>
                        <a:buSzTx/>
                        <a:buFontTx/>
                        <a:buNone/>
                        <a:tabLst/>
                        <a:defRPr/>
                      </a:pPr>
                      <a:r>
                        <a:rPr lang="en-US" dirty="0"/>
                        <a:t>How many consecutive detection cycles should be satisfied before changing coalescing status between coalescing and non-coalescing. See more description in </a:t>
                      </a:r>
                      <a:r>
                        <a:rPr lang="en-US" dirty="0" err="1"/>
                        <a:t>max_coalesce_threshold</a:t>
                      </a:r>
                      <a:endParaRPr lang="en-US" dirty="0"/>
                    </a:p>
                  </a:txBody>
                  <a:tcPr/>
                </a:tc>
                <a:extLst>
                  <a:ext uri="{0D108BD9-81ED-4DB2-BD59-A6C34878D82A}">
                    <a16:rowId xmlns:a16="http://schemas.microsoft.com/office/drawing/2014/main" val="1549654497"/>
                  </a:ext>
                </a:extLst>
              </a:tr>
              <a:tr h="370840">
                <a:tc>
                  <a:txBody>
                    <a:bodyPr/>
                    <a:lstStyle/>
                    <a:p>
                      <a:r>
                        <a:rPr lang="en-US" dirty="0" err="1"/>
                        <a:t>max_coalesce_threshold</a:t>
                      </a:r>
                      <a:endParaRPr lang="en-US" dirty="0"/>
                    </a:p>
                  </a:txBody>
                  <a:tcPr anchor="ctr"/>
                </a:tc>
                <a:tc>
                  <a:txBody>
                    <a:bodyPr/>
                    <a:lstStyle/>
                    <a:p>
                      <a:r>
                        <a:rPr lang="en-US" dirty="0"/>
                        <a:t>8</a:t>
                      </a:r>
                    </a:p>
                  </a:txBody>
                  <a:tcPr anchor="ctr"/>
                </a:tc>
                <a:tc>
                  <a:txBody>
                    <a:bodyPr/>
                    <a:lstStyle/>
                    <a:p>
                      <a:pPr marL="0" marR="0" lvl="0" indent="0" algn="l" defTabSz="609600" eaLnBrk="1" fontAlgn="auto" latinLnBrk="0" hangingPunct="1">
                        <a:lnSpc>
                          <a:spcPct val="100000"/>
                        </a:lnSpc>
                        <a:spcBef>
                          <a:spcPts val="0"/>
                        </a:spcBef>
                        <a:spcAft>
                          <a:spcPts val="0"/>
                        </a:spcAft>
                        <a:buClrTx/>
                        <a:buSzTx/>
                        <a:buFontTx/>
                        <a:buNone/>
                        <a:tabLst/>
                        <a:defRPr/>
                      </a:pPr>
                      <a:r>
                        <a:rPr lang="en-US" dirty="0"/>
                        <a:t>8 op as a detection cycle, i</a:t>
                      </a:r>
                      <a:r>
                        <a:rPr lang="en-US" altLang="zh-CN" dirty="0"/>
                        <a:t>f t</a:t>
                      </a:r>
                      <a:r>
                        <a:rPr lang="en-US" dirty="0"/>
                        <a:t>here are over </a:t>
                      </a:r>
                      <a:r>
                        <a:rPr lang="en-US" b="1" dirty="0"/>
                        <a:t>8</a:t>
                      </a:r>
                      <a:r>
                        <a:rPr lang="en-US" dirty="0"/>
                        <a:t> unfinished requests in a NVME SSD queue in </a:t>
                      </a:r>
                      <a:r>
                        <a:rPr lang="en-US" dirty="0" err="1"/>
                        <a:t>hit_count_before_change</a:t>
                      </a:r>
                      <a:endParaRPr lang="en-US" dirty="0"/>
                    </a:p>
                    <a:p>
                      <a:pPr algn="l"/>
                      <a:r>
                        <a:rPr lang="en-US" dirty="0"/>
                        <a:t> consecutive detection cycles, this patch will enable coalescing interrupt for that NVME SSD if not enabled yet.</a:t>
                      </a:r>
                    </a:p>
                    <a:p>
                      <a:pPr algn="l"/>
                      <a:r>
                        <a:rPr lang="en-US" dirty="0"/>
                        <a:t>Smaller value: more easily to enable coalescing, but may increase the status changes between coalescing enabling and disabling. </a:t>
                      </a:r>
                    </a:p>
                    <a:p>
                      <a:pPr algn="l"/>
                      <a:r>
                        <a:rPr lang="en-US" dirty="0"/>
                        <a:t>Bigger value: more difficult to enable coalescing</a:t>
                      </a:r>
                    </a:p>
                    <a:p>
                      <a:pPr marL="0" marR="0" lvl="0" indent="0" algn="l" defTabSz="609600" eaLnBrk="1" fontAlgn="auto" latinLnBrk="0" hangingPunct="1">
                        <a:lnSpc>
                          <a:spcPct val="100000"/>
                        </a:lnSpc>
                        <a:spcBef>
                          <a:spcPts val="0"/>
                        </a:spcBef>
                        <a:spcAft>
                          <a:spcPts val="0"/>
                        </a:spcAft>
                        <a:buClrTx/>
                        <a:buSzTx/>
                        <a:buFontTx/>
                        <a:buNone/>
                        <a:tabLst/>
                        <a:defRPr/>
                      </a:pPr>
                      <a:r>
                        <a:rPr lang="en-US" dirty="0"/>
                        <a:t>This value should be &gt; </a:t>
                      </a:r>
                      <a:r>
                        <a:rPr lang="en-US" dirty="0" err="1"/>
                        <a:t>min_coalesce_threshold</a:t>
                      </a:r>
                      <a:r>
                        <a:rPr lang="en-US" dirty="0"/>
                        <a:t>.</a:t>
                      </a:r>
                    </a:p>
                  </a:txBody>
                  <a:tcPr/>
                </a:tc>
                <a:extLst>
                  <a:ext uri="{0D108BD9-81ED-4DB2-BD59-A6C34878D82A}">
                    <a16:rowId xmlns:a16="http://schemas.microsoft.com/office/drawing/2014/main" val="2307072451"/>
                  </a:ext>
                </a:extLst>
              </a:tr>
              <a:tr h="370840">
                <a:tc>
                  <a:txBody>
                    <a:bodyPr/>
                    <a:lstStyle/>
                    <a:p>
                      <a:r>
                        <a:rPr lang="en-US" dirty="0" err="1"/>
                        <a:t>min_coalesce_threshold</a:t>
                      </a:r>
                      <a:endParaRPr lang="en-US" dirty="0"/>
                    </a:p>
                  </a:txBody>
                  <a:tcPr anchor="ctr"/>
                </a:tc>
                <a:tc>
                  <a:txBody>
                    <a:bodyPr/>
                    <a:lstStyle/>
                    <a:p>
                      <a:r>
                        <a:rPr lang="en-US" dirty="0"/>
                        <a:t>2</a:t>
                      </a:r>
                    </a:p>
                  </a:txBody>
                  <a:tcPr anchor="ctr"/>
                </a:tc>
                <a:tc>
                  <a:txBody>
                    <a:bodyPr/>
                    <a:lstStyle/>
                    <a:p>
                      <a:pPr marL="0" marR="0" lvl="0" indent="0" algn="l" defTabSz="609600" eaLnBrk="1" fontAlgn="auto" latinLnBrk="0" hangingPunct="1">
                        <a:lnSpc>
                          <a:spcPct val="100000"/>
                        </a:lnSpc>
                        <a:spcBef>
                          <a:spcPts val="0"/>
                        </a:spcBef>
                        <a:spcAft>
                          <a:spcPts val="0"/>
                        </a:spcAft>
                        <a:buClrTx/>
                        <a:buSzTx/>
                        <a:buFontTx/>
                        <a:buNone/>
                        <a:tabLst/>
                        <a:defRPr/>
                      </a:pPr>
                      <a:r>
                        <a:rPr lang="en-US" dirty="0"/>
                        <a:t>8 op as a detection cycle, </a:t>
                      </a:r>
                      <a:r>
                        <a:rPr lang="en-US" altLang="zh-CN" dirty="0"/>
                        <a:t>if t</a:t>
                      </a:r>
                      <a:r>
                        <a:rPr lang="en-US" dirty="0"/>
                        <a:t>here are less than </a:t>
                      </a:r>
                      <a:r>
                        <a:rPr lang="en-US" b="1" dirty="0"/>
                        <a:t>2</a:t>
                      </a:r>
                      <a:r>
                        <a:rPr lang="en-US" dirty="0"/>
                        <a:t> unfinished requests in a NVME SSD queue in </a:t>
                      </a:r>
                      <a:r>
                        <a:rPr lang="en-US" dirty="0" err="1"/>
                        <a:t>hit_count_before_change</a:t>
                      </a:r>
                      <a:endParaRPr lang="en-US" dirty="0"/>
                    </a:p>
                    <a:p>
                      <a:pPr marL="0" marR="0" lvl="0" indent="0" algn="l" defTabSz="609600" eaLnBrk="1" fontAlgn="auto" latinLnBrk="0" hangingPunct="1">
                        <a:lnSpc>
                          <a:spcPct val="100000"/>
                        </a:lnSpc>
                        <a:spcBef>
                          <a:spcPts val="0"/>
                        </a:spcBef>
                        <a:spcAft>
                          <a:spcPts val="0"/>
                        </a:spcAft>
                        <a:buClrTx/>
                        <a:buSzTx/>
                        <a:buFontTx/>
                        <a:buNone/>
                        <a:tabLst/>
                        <a:defRPr/>
                      </a:pPr>
                      <a:r>
                        <a:rPr lang="en-US" dirty="0"/>
                        <a:t>consecutive detection cycles, this patch will disable coalescing interrupt for that NVME SSD if not disabled yet.</a:t>
                      </a:r>
                    </a:p>
                    <a:p>
                      <a:pPr marL="0" marR="0" lvl="0" indent="0" algn="l" defTabSz="609600" eaLnBrk="1" fontAlgn="auto" latinLnBrk="0" hangingPunct="1">
                        <a:lnSpc>
                          <a:spcPct val="100000"/>
                        </a:lnSpc>
                        <a:spcBef>
                          <a:spcPts val="0"/>
                        </a:spcBef>
                        <a:spcAft>
                          <a:spcPts val="0"/>
                        </a:spcAft>
                        <a:buClrTx/>
                        <a:buSzTx/>
                        <a:buFontTx/>
                        <a:buNone/>
                        <a:tabLst/>
                        <a:defRPr/>
                      </a:pPr>
                      <a:r>
                        <a:rPr lang="en-US" dirty="0"/>
                        <a:t>Smaller value: more difficult to disable coalescing. If &lt;=1, will not disable coalescing.</a:t>
                      </a:r>
                    </a:p>
                    <a:p>
                      <a:pPr marL="0" marR="0" lvl="0" indent="0" algn="l" defTabSz="609600" eaLnBrk="1" fontAlgn="auto" latinLnBrk="0" hangingPunct="1">
                        <a:lnSpc>
                          <a:spcPct val="100000"/>
                        </a:lnSpc>
                        <a:spcBef>
                          <a:spcPts val="0"/>
                        </a:spcBef>
                        <a:spcAft>
                          <a:spcPts val="0"/>
                        </a:spcAft>
                        <a:buClrTx/>
                        <a:buSzTx/>
                        <a:buFontTx/>
                        <a:buNone/>
                        <a:tabLst/>
                        <a:defRPr/>
                      </a:pPr>
                      <a:r>
                        <a:rPr lang="en-US" dirty="0"/>
                        <a:t>Bigger value: more easily to disable coalescing, may increase the status changes between coalescing enabling and disabling.</a:t>
                      </a:r>
                    </a:p>
                    <a:p>
                      <a:pPr marL="0" marR="0" lvl="0" indent="0" algn="l" defTabSz="609600" eaLnBrk="1" fontAlgn="auto" latinLnBrk="0" hangingPunct="1">
                        <a:lnSpc>
                          <a:spcPct val="100000"/>
                        </a:lnSpc>
                        <a:spcBef>
                          <a:spcPts val="0"/>
                        </a:spcBef>
                        <a:spcAft>
                          <a:spcPts val="0"/>
                        </a:spcAft>
                        <a:buClrTx/>
                        <a:buSzTx/>
                        <a:buFontTx/>
                        <a:buNone/>
                        <a:tabLst/>
                        <a:defRPr/>
                      </a:pPr>
                      <a:r>
                        <a:rPr lang="en-US" dirty="0"/>
                        <a:t>This value should be &gt;=2.</a:t>
                      </a:r>
                    </a:p>
                  </a:txBody>
                  <a:tcPr/>
                </a:tc>
                <a:extLst>
                  <a:ext uri="{0D108BD9-81ED-4DB2-BD59-A6C34878D82A}">
                    <a16:rowId xmlns:a16="http://schemas.microsoft.com/office/drawing/2014/main" val="1571031980"/>
                  </a:ext>
                </a:extLst>
              </a:tr>
              <a:tr h="370839">
                <a:tc>
                  <a:txBody>
                    <a:bodyPr/>
                    <a:lstStyle/>
                    <a:p>
                      <a:pPr lvl="0">
                        <a:buNone/>
                      </a:pPr>
                      <a:r>
                        <a:rPr lang="en-US" sz="1000" b="0" i="0" u="none" strike="noStrike" noProof="0" dirty="0" err="1">
                          <a:latin typeface="Intel Clear"/>
                        </a:rPr>
                        <a:t>min_completed_threshold</a:t>
                      </a:r>
                      <a:endParaRPr lang="en-US" dirty="0" err="1"/>
                    </a:p>
                  </a:txBody>
                  <a:tcPr anchor="ctr"/>
                </a:tc>
                <a:tc>
                  <a:txBody>
                    <a:bodyPr/>
                    <a:lstStyle/>
                    <a:p>
                      <a:pPr lvl="0">
                        <a:buNone/>
                      </a:pPr>
                      <a:r>
                        <a:rPr lang="en-US" dirty="0"/>
                        <a:t>9</a:t>
                      </a:r>
                    </a:p>
                  </a:txBody>
                  <a:tcPr anchor="ctr"/>
                </a:tc>
                <a:tc>
                  <a:txBody>
                    <a:bodyPr/>
                    <a:lstStyle/>
                    <a:p>
                      <a:pPr marL="0" lvl="0" indent="0" algn="l">
                        <a:lnSpc>
                          <a:spcPct val="100000"/>
                        </a:lnSpc>
                        <a:spcBef>
                          <a:spcPts val="0"/>
                        </a:spcBef>
                        <a:spcAft>
                          <a:spcPts val="0"/>
                        </a:spcAft>
                        <a:buNone/>
                      </a:pPr>
                      <a:r>
                        <a:rPr lang="en-US" dirty="0"/>
                        <a:t>another check condition to judge whether a </a:t>
                      </a:r>
                      <a:r>
                        <a:rPr lang="en-US" dirty="0" err="1"/>
                        <a:t>nvme</a:t>
                      </a:r>
                      <a:r>
                        <a:rPr lang="en-US" dirty="0"/>
                        <a:t> queue is busy or not, if the completion num during a detection cycle (8 new </a:t>
                      </a:r>
                      <a:r>
                        <a:rPr lang="en-US" dirty="0" err="1"/>
                        <a:t>reqs</a:t>
                      </a:r>
                      <a:r>
                        <a:rPr lang="en-US" dirty="0"/>
                        <a:t>) larger than this value, then we also treat this </a:t>
                      </a:r>
                      <a:r>
                        <a:rPr lang="en-US" dirty="0" err="1"/>
                        <a:t>nvme</a:t>
                      </a:r>
                      <a:r>
                        <a:rPr lang="en-US" dirty="0"/>
                        <a:t> queue as busy, if completion num during a detection cycle (8 new </a:t>
                      </a:r>
                      <a:r>
                        <a:rPr lang="en-US" dirty="0" err="1"/>
                        <a:t>reqs</a:t>
                      </a:r>
                      <a:r>
                        <a:rPr lang="en-US" dirty="0"/>
                        <a:t>) less than this value, then we also treat this </a:t>
                      </a:r>
                      <a:r>
                        <a:rPr lang="en-US" dirty="0" err="1"/>
                        <a:t>nvme</a:t>
                      </a:r>
                      <a:r>
                        <a:rPr lang="en-US" dirty="0"/>
                        <a:t> queue as idle.  </a:t>
                      </a:r>
                    </a:p>
                  </a:txBody>
                  <a:tcPr/>
                </a:tc>
                <a:extLst>
                  <a:ext uri="{0D108BD9-81ED-4DB2-BD59-A6C34878D82A}">
                    <a16:rowId xmlns:a16="http://schemas.microsoft.com/office/drawing/2014/main" val="3054576029"/>
                  </a:ext>
                </a:extLst>
              </a:tr>
              <a:tr h="370838">
                <a:tc>
                  <a:txBody>
                    <a:bodyPr/>
                    <a:lstStyle/>
                    <a:p>
                      <a:pPr lvl="0">
                        <a:buNone/>
                      </a:pPr>
                      <a:r>
                        <a:rPr lang="en-US" sz="1000" b="0" i="0" u="none" strike="noStrike" noProof="0" dirty="0" err="1">
                          <a:latin typeface="Intel Clear"/>
                        </a:rPr>
                        <a:t>min_running_queues</a:t>
                      </a:r>
                      <a:endParaRPr lang="en-US" dirty="0" err="1"/>
                    </a:p>
                  </a:txBody>
                  <a:tcPr anchor="ctr"/>
                </a:tc>
                <a:tc>
                  <a:txBody>
                    <a:bodyPr/>
                    <a:lstStyle/>
                    <a:p>
                      <a:pPr lvl="0">
                        <a:buNone/>
                      </a:pPr>
                      <a:r>
                        <a:rPr lang="en-US" dirty="0"/>
                        <a:t>2</a:t>
                      </a:r>
                    </a:p>
                  </a:txBody>
                  <a:tcPr anchor="ctr"/>
                </a:tc>
                <a:tc>
                  <a:txBody>
                    <a:bodyPr/>
                    <a:lstStyle/>
                    <a:p>
                      <a:pPr marL="0" lvl="0" indent="0" algn="l">
                        <a:lnSpc>
                          <a:spcPct val="100000"/>
                        </a:lnSpc>
                        <a:spcBef>
                          <a:spcPts val="0"/>
                        </a:spcBef>
                        <a:spcAft>
                          <a:spcPts val="0"/>
                        </a:spcAft>
                        <a:buNone/>
                      </a:pPr>
                      <a:r>
                        <a:rPr lang="en-US" dirty="0"/>
                        <a:t>The above detection and judgement is </a:t>
                      </a:r>
                      <a:r>
                        <a:rPr lang="en-US" dirty="0" err="1"/>
                        <a:t>nvme</a:t>
                      </a:r>
                      <a:r>
                        <a:rPr lang="en-US" dirty="0"/>
                        <a:t> queue based, when a queue is treated as busy, also check whether there are other queues busy at the same time (less than 1s), if the busy queues num larger than this value, then set the interrupt coalescing. </a:t>
                      </a:r>
                    </a:p>
                  </a:txBody>
                  <a:tcPr/>
                </a:tc>
                <a:extLst>
                  <a:ext uri="{0D108BD9-81ED-4DB2-BD59-A6C34878D82A}">
                    <a16:rowId xmlns:a16="http://schemas.microsoft.com/office/drawing/2014/main" val="700828975"/>
                  </a:ext>
                </a:extLst>
              </a:tr>
              <a:tr h="370840">
                <a:tc>
                  <a:txBody>
                    <a:bodyPr/>
                    <a:lstStyle/>
                    <a:p>
                      <a:r>
                        <a:rPr lang="en-US" dirty="0" err="1"/>
                        <a:t>switch_cnt</a:t>
                      </a:r>
                      <a:endParaRPr lang="en-US" dirty="0"/>
                    </a:p>
                  </a:txBody>
                  <a:tcPr anchor="ctr"/>
                </a:tc>
                <a:tc>
                  <a:txBody>
                    <a:bodyPr/>
                    <a:lstStyle/>
                    <a:p>
                      <a:r>
                        <a:rPr lang="en-US" dirty="0"/>
                        <a:t>0</a:t>
                      </a:r>
                    </a:p>
                  </a:txBody>
                  <a:tcPr anchor="ctr"/>
                </a:tc>
                <a:tc>
                  <a:txBody>
                    <a:bodyPr/>
                    <a:lstStyle/>
                    <a:p>
                      <a:pPr marL="0" marR="0" lvl="0" indent="0" algn="l" defTabSz="609600" eaLnBrk="1" fontAlgn="auto" latinLnBrk="0" hangingPunct="1">
                        <a:lnSpc>
                          <a:spcPct val="100000"/>
                        </a:lnSpc>
                        <a:spcBef>
                          <a:spcPts val="0"/>
                        </a:spcBef>
                        <a:spcAft>
                          <a:spcPts val="0"/>
                        </a:spcAft>
                        <a:buClrTx/>
                        <a:buSzTx/>
                        <a:buFontTx/>
                        <a:buNone/>
                        <a:tabLst/>
                        <a:defRPr/>
                      </a:pPr>
                      <a:r>
                        <a:rPr lang="en-US" dirty="0"/>
                        <a:t>Indicate how many time the status has switched between coalescing and non-coalescing. </a:t>
                      </a:r>
                    </a:p>
                    <a:p>
                      <a:pPr marL="0" marR="0" lvl="0" indent="0" algn="l" defTabSz="609600" eaLnBrk="1" fontAlgn="auto" latinLnBrk="0" hangingPunct="1">
                        <a:lnSpc>
                          <a:spcPct val="100000"/>
                        </a:lnSpc>
                        <a:spcBef>
                          <a:spcPts val="0"/>
                        </a:spcBef>
                        <a:spcAft>
                          <a:spcPts val="0"/>
                        </a:spcAft>
                        <a:buClrTx/>
                        <a:buSzTx/>
                        <a:buFontTx/>
                        <a:buNone/>
                        <a:tabLst/>
                        <a:defRPr/>
                      </a:pPr>
                      <a:r>
                        <a:rPr lang="en-US" dirty="0"/>
                        <a:t>echo 1 &gt; disable will reset this value to 0.</a:t>
                      </a:r>
                    </a:p>
                  </a:txBody>
                  <a:tcPr/>
                </a:tc>
                <a:extLst>
                  <a:ext uri="{0D108BD9-81ED-4DB2-BD59-A6C34878D82A}">
                    <a16:rowId xmlns:a16="http://schemas.microsoft.com/office/drawing/2014/main" val="3200415863"/>
                  </a:ext>
                </a:extLst>
              </a:tr>
            </a:tbl>
          </a:graphicData>
        </a:graphic>
      </p:graphicFrame>
      <p:sp>
        <p:nvSpPr>
          <p:cNvPr id="8" name="TextBox 7">
            <a:extLst>
              <a:ext uri="{FF2B5EF4-FFF2-40B4-BE49-F238E27FC236}">
                <a16:creationId xmlns:a16="http://schemas.microsoft.com/office/drawing/2014/main" id="{BD517FCB-73C0-3D43-1D68-906D2B93F80A}"/>
              </a:ext>
            </a:extLst>
          </p:cNvPr>
          <p:cNvSpPr txBox="1"/>
          <p:nvPr/>
        </p:nvSpPr>
        <p:spPr>
          <a:xfrm>
            <a:off x="463296" y="849837"/>
            <a:ext cx="6094476"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285750" indent="-285750">
              <a:buFont typeface="Wingdings" panose="05000000000000000000" pitchFamily="2" charset="2"/>
              <a:buChar char="q"/>
            </a:pPr>
            <a:r>
              <a:rPr lang="en-US" dirty="0"/>
              <a:t>configurations are located in /sys/kernel/</a:t>
            </a:r>
            <a:r>
              <a:rPr lang="en-US" dirty="0" err="1"/>
              <a:t>nvme</a:t>
            </a:r>
            <a:r>
              <a:rPr lang="en-US" dirty="0"/>
              <a:t>/</a:t>
            </a:r>
          </a:p>
        </p:txBody>
      </p:sp>
      <p:sp>
        <p:nvSpPr>
          <p:cNvPr id="10" name="TextBox 9">
            <a:extLst>
              <a:ext uri="{FF2B5EF4-FFF2-40B4-BE49-F238E27FC236}">
                <a16:creationId xmlns:a16="http://schemas.microsoft.com/office/drawing/2014/main" id="{304CD8FD-F87C-FB45-E70E-CD359B73FB86}"/>
              </a:ext>
            </a:extLst>
          </p:cNvPr>
          <p:cNvSpPr txBox="1"/>
          <p:nvPr/>
        </p:nvSpPr>
        <p:spPr>
          <a:xfrm>
            <a:off x="3163914" y="595331"/>
            <a:ext cx="9211056"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dirty="0"/>
              <a:t>*Don't change the value before you really know what you are doing.</a:t>
            </a:r>
          </a:p>
        </p:txBody>
      </p:sp>
      <p:sp>
        <p:nvSpPr>
          <p:cNvPr id="2" name="TextBox 1">
            <a:extLst>
              <a:ext uri="{FF2B5EF4-FFF2-40B4-BE49-F238E27FC236}">
                <a16:creationId xmlns:a16="http://schemas.microsoft.com/office/drawing/2014/main" id="{AE824F26-10A5-BFFC-3993-6274157D6BC6}"/>
              </a:ext>
            </a:extLst>
          </p:cNvPr>
          <p:cNvSpPr txBox="1"/>
          <p:nvPr/>
        </p:nvSpPr>
        <p:spPr>
          <a:xfrm rot="19948762">
            <a:off x="736241" y="2809169"/>
            <a:ext cx="10810652" cy="630365"/>
          </a:xfrm>
          <a:prstGeom prst="rect">
            <a:avLst/>
          </a:prstGeom>
          <a:noFill/>
        </p:spPr>
        <p:txBody>
          <a:bodyPr vert="horz" wrap="none" lIns="0" tIns="0" rIns="0" bIns="0" rtlCol="0">
            <a:spAutoFit/>
          </a:bodyPr>
          <a:lstStyle/>
          <a:p>
            <a:pPr marL="0" marR="0" lvl="0" indent="0" algn="l" defTabSz="1219169" rtl="0" eaLnBrk="1" fontAlgn="auto" latinLnBrk="0" hangingPunct="0">
              <a:lnSpc>
                <a:spcPct val="90000"/>
              </a:lnSpc>
              <a:spcBef>
                <a:spcPts val="2250"/>
              </a:spcBef>
              <a:spcAft>
                <a:spcPts val="0"/>
              </a:spcAft>
              <a:buClrTx/>
              <a:buSzTx/>
              <a:buFontTx/>
              <a:buNone/>
              <a:tabLst/>
              <a:defRPr/>
            </a:pPr>
            <a:r>
              <a:rPr kumimoji="0" lang="en-US" sz="4533" b="1" i="0" u="none" strike="noStrike" kern="0" cap="none" spc="0" normalizeH="0" baseline="0" noProof="0" dirty="0">
                <a:ln w="3175">
                  <a:solidFill>
                    <a:srgbClr val="FF0000"/>
                  </a:solidFill>
                  <a:prstDash val="sysDot"/>
                </a:ln>
                <a:noFill/>
                <a:effectLst>
                  <a:outerShdw blurRad="38100" dist="22860" dir="5400000" algn="tl" rotWithShape="0">
                    <a:srgbClr val="000000">
                      <a:alpha val="30000"/>
                    </a:srgbClr>
                  </a:outerShdw>
                </a:effectLst>
                <a:uLnTx/>
                <a:uFillTx/>
                <a:latin typeface="Intel Clear"/>
                <a:sym typeface="Helvetica Neue"/>
              </a:rPr>
              <a:t>For use under CNDA024859 : Bytedance</a:t>
            </a:r>
          </a:p>
        </p:txBody>
      </p:sp>
    </p:spTree>
    <p:extLst>
      <p:ext uri="{BB962C8B-B14F-4D97-AF65-F5344CB8AC3E}">
        <p14:creationId xmlns:p14="http://schemas.microsoft.com/office/powerpoint/2010/main" val="4072134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491A6FB6-1CCC-BDA1-E42D-54031D1C151C}"/>
              </a:ext>
            </a:extLst>
          </p:cNvPr>
          <p:cNvGraphicFramePr>
            <a:graphicFrameLocks noGrp="1"/>
          </p:cNvGraphicFramePr>
          <p:nvPr>
            <p:ph sz="quarter" idx="28"/>
            <p:extLst>
              <p:ext uri="{D42A27DB-BD31-4B8C-83A1-F6EECF244321}">
                <p14:modId xmlns:p14="http://schemas.microsoft.com/office/powerpoint/2010/main" val="1401540320"/>
              </p:ext>
            </p:extLst>
          </p:nvPr>
        </p:nvGraphicFramePr>
        <p:xfrm>
          <a:off x="318976" y="1369837"/>
          <a:ext cx="11636375" cy="2059163"/>
        </p:xfrm>
        <a:graphic>
          <a:graphicData uri="http://schemas.openxmlformats.org/drawingml/2006/table">
            <a:tbl>
              <a:tblPr>
                <a:tableStyleId>{5C22544A-7EE6-4342-B048-85BDC9FD1C3A}</a:tableStyleId>
              </a:tblPr>
              <a:tblGrid>
                <a:gridCol w="481810">
                  <a:extLst>
                    <a:ext uri="{9D8B030D-6E8A-4147-A177-3AD203B41FA5}">
                      <a16:colId xmlns:a16="http://schemas.microsoft.com/office/drawing/2014/main" val="1640776300"/>
                    </a:ext>
                  </a:extLst>
                </a:gridCol>
                <a:gridCol w="2903884">
                  <a:extLst>
                    <a:ext uri="{9D8B030D-6E8A-4147-A177-3AD203B41FA5}">
                      <a16:colId xmlns:a16="http://schemas.microsoft.com/office/drawing/2014/main" val="3561497197"/>
                    </a:ext>
                  </a:extLst>
                </a:gridCol>
                <a:gridCol w="742249">
                  <a:extLst>
                    <a:ext uri="{9D8B030D-6E8A-4147-A177-3AD203B41FA5}">
                      <a16:colId xmlns:a16="http://schemas.microsoft.com/office/drawing/2014/main" val="3921724917"/>
                    </a:ext>
                  </a:extLst>
                </a:gridCol>
                <a:gridCol w="742249">
                  <a:extLst>
                    <a:ext uri="{9D8B030D-6E8A-4147-A177-3AD203B41FA5}">
                      <a16:colId xmlns:a16="http://schemas.microsoft.com/office/drawing/2014/main" val="2332243995"/>
                    </a:ext>
                  </a:extLst>
                </a:gridCol>
                <a:gridCol w="742249">
                  <a:extLst>
                    <a:ext uri="{9D8B030D-6E8A-4147-A177-3AD203B41FA5}">
                      <a16:colId xmlns:a16="http://schemas.microsoft.com/office/drawing/2014/main" val="2497872875"/>
                    </a:ext>
                  </a:extLst>
                </a:gridCol>
                <a:gridCol w="742249">
                  <a:extLst>
                    <a:ext uri="{9D8B030D-6E8A-4147-A177-3AD203B41FA5}">
                      <a16:colId xmlns:a16="http://schemas.microsoft.com/office/drawing/2014/main" val="735533994"/>
                    </a:ext>
                  </a:extLst>
                </a:gridCol>
                <a:gridCol w="742249">
                  <a:extLst>
                    <a:ext uri="{9D8B030D-6E8A-4147-A177-3AD203B41FA5}">
                      <a16:colId xmlns:a16="http://schemas.microsoft.com/office/drawing/2014/main" val="2229476667"/>
                    </a:ext>
                  </a:extLst>
                </a:gridCol>
                <a:gridCol w="742249">
                  <a:extLst>
                    <a:ext uri="{9D8B030D-6E8A-4147-A177-3AD203B41FA5}">
                      <a16:colId xmlns:a16="http://schemas.microsoft.com/office/drawing/2014/main" val="1722833390"/>
                    </a:ext>
                  </a:extLst>
                </a:gridCol>
                <a:gridCol w="742249">
                  <a:extLst>
                    <a:ext uri="{9D8B030D-6E8A-4147-A177-3AD203B41FA5}">
                      <a16:colId xmlns:a16="http://schemas.microsoft.com/office/drawing/2014/main" val="2696902906"/>
                    </a:ext>
                  </a:extLst>
                </a:gridCol>
                <a:gridCol w="836006">
                  <a:extLst>
                    <a:ext uri="{9D8B030D-6E8A-4147-A177-3AD203B41FA5}">
                      <a16:colId xmlns:a16="http://schemas.microsoft.com/office/drawing/2014/main" val="170133258"/>
                    </a:ext>
                  </a:extLst>
                </a:gridCol>
                <a:gridCol w="1117279">
                  <a:extLst>
                    <a:ext uri="{9D8B030D-6E8A-4147-A177-3AD203B41FA5}">
                      <a16:colId xmlns:a16="http://schemas.microsoft.com/office/drawing/2014/main" val="2195709938"/>
                    </a:ext>
                  </a:extLst>
                </a:gridCol>
                <a:gridCol w="1101653">
                  <a:extLst>
                    <a:ext uri="{9D8B030D-6E8A-4147-A177-3AD203B41FA5}">
                      <a16:colId xmlns:a16="http://schemas.microsoft.com/office/drawing/2014/main" val="3910489813"/>
                    </a:ext>
                  </a:extLst>
                </a:gridCol>
              </a:tblGrid>
              <a:tr h="159585">
                <a:tc rowSpan="2">
                  <a:txBody>
                    <a:bodyPr/>
                    <a:lstStyle/>
                    <a:p>
                      <a:pPr algn="ctr" fontAlgn="ctr">
                        <a:buNone/>
                      </a:pPr>
                      <a:r>
                        <a:rPr lang="zh-CN" altLang="en-US" sz="1000" u="none" strike="noStrike">
                          <a:effectLst/>
                        </a:rPr>
                        <a:t>容量</a:t>
                      </a:r>
                      <a:endParaRPr lang="zh-CN" altLang="en-US" sz="1000" b="1" i="0" u="none" strike="noStrike">
                        <a:solidFill>
                          <a:srgbClr val="000000"/>
                        </a:solidFill>
                        <a:effectLst/>
                        <a:latin typeface="Calibri" panose="020F0502020204030204" pitchFamily="34" charset="0"/>
                      </a:endParaRPr>
                    </a:p>
                  </a:txBody>
                  <a:tcPr marL="6649" marR="6649" marT="6649" marB="0" anchor="ctr"/>
                </a:tc>
                <a:tc rowSpan="2">
                  <a:txBody>
                    <a:bodyPr/>
                    <a:lstStyle/>
                    <a:p>
                      <a:pPr algn="ctr" fontAlgn="ctr">
                        <a:buNone/>
                      </a:pPr>
                      <a:r>
                        <a:rPr lang="zh-CN" altLang="en-US" sz="1000" u="none" strike="noStrike">
                          <a:effectLst/>
                        </a:rPr>
                        <a:t>规格</a:t>
                      </a:r>
                      <a:r>
                        <a:rPr lang="en-US" altLang="zh-CN" sz="1000" u="none" strike="noStrike">
                          <a:effectLst/>
                        </a:rPr>
                        <a:t>/Intel</a:t>
                      </a:r>
                      <a:r>
                        <a:rPr lang="zh-CN" altLang="en-US" sz="1000" u="none" strike="noStrike">
                          <a:effectLst/>
                        </a:rPr>
                        <a:t>平台</a:t>
                      </a:r>
                      <a:r>
                        <a:rPr lang="en-US" altLang="zh-CN" sz="1000" u="none" strike="noStrike">
                          <a:effectLst/>
                        </a:rPr>
                        <a:t>16</a:t>
                      </a:r>
                      <a:r>
                        <a:rPr lang="zh-CN" altLang="en-US" sz="1000" u="none" strike="noStrike">
                          <a:effectLst/>
                        </a:rPr>
                        <a:t>盘实测</a:t>
                      </a:r>
                      <a:endParaRPr lang="zh-CN" altLang="en-US" sz="1000" b="1" i="0" u="none" strike="noStrike">
                        <a:solidFill>
                          <a:srgbClr val="000000"/>
                        </a:solidFill>
                        <a:effectLst/>
                        <a:latin typeface="Calibri" panose="020F0502020204030204" pitchFamily="34" charset="0"/>
                      </a:endParaRPr>
                    </a:p>
                  </a:txBody>
                  <a:tcPr marL="6649" marR="6649" marT="6649" marB="0" anchor="ctr"/>
                </a:tc>
                <a:tc gridSpan="2">
                  <a:txBody>
                    <a:bodyPr/>
                    <a:lstStyle/>
                    <a:p>
                      <a:pPr algn="ctr" fontAlgn="ctr">
                        <a:buNone/>
                      </a:pPr>
                      <a:r>
                        <a:rPr lang="zh-CN" altLang="en-US" sz="1000" u="none" strike="noStrike">
                          <a:effectLst/>
                        </a:rPr>
                        <a:t>随机读（</a:t>
                      </a:r>
                      <a:r>
                        <a:rPr lang="en-US" altLang="zh-CN" sz="1000" u="none" strike="noStrike">
                          <a:effectLst/>
                        </a:rPr>
                        <a:t>4</a:t>
                      </a:r>
                      <a:r>
                        <a:rPr lang="en-US" sz="1000" u="none" strike="noStrike">
                          <a:effectLst/>
                        </a:rPr>
                        <a:t>k)(QD=1,job=1)</a:t>
                      </a:r>
                      <a:endParaRPr lang="en-US" sz="1000" b="1" i="0" u="none" strike="noStrike">
                        <a:solidFill>
                          <a:srgbClr val="000000"/>
                        </a:solidFill>
                        <a:effectLst/>
                        <a:latin typeface="Calibri" panose="020F0502020204030204" pitchFamily="34" charset="0"/>
                      </a:endParaRPr>
                    </a:p>
                  </a:txBody>
                  <a:tcPr marL="6649" marR="6649" marT="6649" marB="0" anchor="ctr"/>
                </a:tc>
                <a:tc hMerge="1">
                  <a:txBody>
                    <a:bodyPr/>
                    <a:lstStyle/>
                    <a:p>
                      <a:endParaRPr lang="en-US"/>
                    </a:p>
                  </a:txBody>
                  <a:tcPr/>
                </a:tc>
                <a:tc gridSpan="2">
                  <a:txBody>
                    <a:bodyPr/>
                    <a:lstStyle/>
                    <a:p>
                      <a:pPr algn="ctr" fontAlgn="ctr">
                        <a:buNone/>
                      </a:pPr>
                      <a:r>
                        <a:rPr lang="zh-CN" altLang="en-US" sz="1000" u="none" strike="noStrike">
                          <a:effectLst/>
                        </a:rPr>
                        <a:t>随机读（</a:t>
                      </a:r>
                      <a:r>
                        <a:rPr lang="en-US" altLang="zh-CN" sz="1000" u="none" strike="noStrike">
                          <a:effectLst/>
                        </a:rPr>
                        <a:t>4</a:t>
                      </a:r>
                      <a:r>
                        <a:rPr lang="en-US" sz="1000" u="none" strike="noStrike">
                          <a:effectLst/>
                        </a:rPr>
                        <a:t>k)(QD=32,job=1)</a:t>
                      </a:r>
                      <a:endParaRPr lang="en-US" sz="1000" b="1" i="0" u="none" strike="noStrike">
                        <a:solidFill>
                          <a:srgbClr val="000000"/>
                        </a:solidFill>
                        <a:effectLst/>
                        <a:latin typeface="Calibri" panose="020F0502020204030204" pitchFamily="34" charset="0"/>
                      </a:endParaRPr>
                    </a:p>
                  </a:txBody>
                  <a:tcPr marL="6649" marR="6649" marT="6649" marB="0" anchor="ctr"/>
                </a:tc>
                <a:tc hMerge="1">
                  <a:txBody>
                    <a:bodyPr/>
                    <a:lstStyle/>
                    <a:p>
                      <a:endParaRPr lang="en-US"/>
                    </a:p>
                  </a:txBody>
                  <a:tcPr/>
                </a:tc>
                <a:tc gridSpan="2">
                  <a:txBody>
                    <a:bodyPr/>
                    <a:lstStyle/>
                    <a:p>
                      <a:pPr algn="ctr" fontAlgn="ctr">
                        <a:buNone/>
                      </a:pPr>
                      <a:r>
                        <a:rPr lang="zh-CN" altLang="en-US" sz="1000" u="none" strike="noStrike">
                          <a:effectLst/>
                        </a:rPr>
                        <a:t>随机写（</a:t>
                      </a:r>
                      <a:r>
                        <a:rPr lang="en-US" altLang="zh-CN" sz="1000" u="none" strike="noStrike">
                          <a:effectLst/>
                        </a:rPr>
                        <a:t>4</a:t>
                      </a:r>
                      <a:r>
                        <a:rPr lang="en-US" sz="1000" u="none" strike="noStrike">
                          <a:effectLst/>
                        </a:rPr>
                        <a:t>k)(QD=1,job=1)</a:t>
                      </a:r>
                      <a:endParaRPr lang="en-US" sz="1000" b="1" i="0" u="none" strike="noStrike">
                        <a:solidFill>
                          <a:srgbClr val="000000"/>
                        </a:solidFill>
                        <a:effectLst/>
                        <a:latin typeface="Calibri" panose="020F0502020204030204" pitchFamily="34" charset="0"/>
                      </a:endParaRPr>
                    </a:p>
                  </a:txBody>
                  <a:tcPr marL="6649" marR="6649" marT="6649" marB="0" anchor="ctr"/>
                </a:tc>
                <a:tc hMerge="1">
                  <a:txBody>
                    <a:bodyPr/>
                    <a:lstStyle/>
                    <a:p>
                      <a:endParaRPr lang="en-US"/>
                    </a:p>
                  </a:txBody>
                  <a:tcPr/>
                </a:tc>
                <a:tc gridSpan="2">
                  <a:txBody>
                    <a:bodyPr/>
                    <a:lstStyle/>
                    <a:p>
                      <a:pPr algn="ctr" fontAlgn="ctr">
                        <a:buNone/>
                      </a:pPr>
                      <a:r>
                        <a:rPr lang="zh-CN" altLang="en-US" sz="1000" u="none" strike="noStrike">
                          <a:effectLst/>
                        </a:rPr>
                        <a:t>随机写（</a:t>
                      </a:r>
                      <a:r>
                        <a:rPr lang="en-US" altLang="zh-CN" sz="1000" u="none" strike="noStrike">
                          <a:effectLst/>
                        </a:rPr>
                        <a:t>4</a:t>
                      </a:r>
                      <a:r>
                        <a:rPr lang="en-US" sz="1000" u="none" strike="noStrike">
                          <a:effectLst/>
                        </a:rPr>
                        <a:t>k)(QD=32,job=1)</a:t>
                      </a:r>
                      <a:endParaRPr lang="en-US" sz="1000" b="1" i="0" u="none" strike="noStrike">
                        <a:solidFill>
                          <a:srgbClr val="000000"/>
                        </a:solidFill>
                        <a:effectLst/>
                        <a:latin typeface="Calibri" panose="020F0502020204030204" pitchFamily="34" charset="0"/>
                      </a:endParaRPr>
                    </a:p>
                  </a:txBody>
                  <a:tcPr marL="6649" marR="6649" marT="6649" marB="0" anchor="ctr"/>
                </a:tc>
                <a:tc hMerge="1">
                  <a:txBody>
                    <a:bodyPr/>
                    <a:lstStyle/>
                    <a:p>
                      <a:endParaRPr lang="en-US"/>
                    </a:p>
                  </a:txBody>
                  <a:tcPr/>
                </a:tc>
                <a:tc gridSpan="2">
                  <a:txBody>
                    <a:bodyPr/>
                    <a:lstStyle/>
                    <a:p>
                      <a:pPr algn="ctr" fontAlgn="ctr">
                        <a:buNone/>
                      </a:pPr>
                      <a:r>
                        <a:rPr lang="zh-CN" altLang="en-US" sz="1000" u="none" strike="noStrike">
                          <a:effectLst/>
                        </a:rPr>
                        <a:t>随机混合读写（</a:t>
                      </a:r>
                      <a:r>
                        <a:rPr lang="en-US" altLang="zh-CN" sz="1000" u="none" strike="noStrike">
                          <a:effectLst/>
                        </a:rPr>
                        <a:t>4</a:t>
                      </a:r>
                      <a:r>
                        <a:rPr lang="en-US" sz="1000" u="none" strike="noStrike">
                          <a:effectLst/>
                        </a:rPr>
                        <a:t>k)(QD=16,job=1)</a:t>
                      </a:r>
                      <a:endParaRPr lang="en-US" sz="1000" b="1" i="0" u="none" strike="noStrike">
                        <a:solidFill>
                          <a:srgbClr val="000000"/>
                        </a:solidFill>
                        <a:effectLst/>
                        <a:latin typeface="Calibri" panose="020F0502020204030204" pitchFamily="34" charset="0"/>
                      </a:endParaRPr>
                    </a:p>
                  </a:txBody>
                  <a:tcPr marL="6649" marR="6649" marT="6649" marB="0" anchor="ctr"/>
                </a:tc>
                <a:tc hMerge="1">
                  <a:txBody>
                    <a:bodyPr/>
                    <a:lstStyle/>
                    <a:p>
                      <a:endParaRPr lang="en-US"/>
                    </a:p>
                  </a:txBody>
                  <a:tcPr/>
                </a:tc>
                <a:extLst>
                  <a:ext uri="{0D108BD9-81ED-4DB2-BD59-A6C34878D82A}">
                    <a16:rowId xmlns:a16="http://schemas.microsoft.com/office/drawing/2014/main" val="2695503836"/>
                  </a:ext>
                </a:extLst>
              </a:tr>
              <a:tr h="159585">
                <a:tc vMerge="1">
                  <a:txBody>
                    <a:bodyPr/>
                    <a:lstStyle/>
                    <a:p>
                      <a:endParaRPr lang="en-US"/>
                    </a:p>
                  </a:txBody>
                  <a:tcPr/>
                </a:tc>
                <a:tc vMerge="1">
                  <a:txBody>
                    <a:bodyPr/>
                    <a:lstStyle/>
                    <a:p>
                      <a:endParaRPr lang="en-US"/>
                    </a:p>
                  </a:txBody>
                  <a:tcPr/>
                </a:tc>
                <a:tc>
                  <a:txBody>
                    <a:bodyPr/>
                    <a:lstStyle/>
                    <a:p>
                      <a:pPr algn="r" fontAlgn="ctr">
                        <a:buNone/>
                      </a:pPr>
                      <a:r>
                        <a:rPr lang="en-US" sz="1000" u="none" strike="noStrike">
                          <a:effectLst/>
                        </a:rPr>
                        <a:t>99%</a:t>
                      </a:r>
                      <a:endParaRPr lang="en-US" sz="1000" b="1" i="0" u="none" strike="noStrike">
                        <a:solidFill>
                          <a:srgbClr val="00000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99.99%</a:t>
                      </a:r>
                      <a:endParaRPr lang="en-US" sz="1000" b="1" i="0" u="none" strike="noStrike">
                        <a:solidFill>
                          <a:srgbClr val="00000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99%</a:t>
                      </a:r>
                      <a:endParaRPr lang="en-US" sz="1000" b="1" i="0" u="none" strike="noStrike">
                        <a:solidFill>
                          <a:srgbClr val="00000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99.99%</a:t>
                      </a:r>
                      <a:endParaRPr lang="en-US" sz="1000" b="1" i="0" u="none" strike="noStrike">
                        <a:solidFill>
                          <a:srgbClr val="00000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99%</a:t>
                      </a:r>
                      <a:endParaRPr lang="en-US" sz="1000" b="1" i="0" u="none" strike="noStrike">
                        <a:solidFill>
                          <a:srgbClr val="00000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99.99%</a:t>
                      </a:r>
                      <a:endParaRPr lang="en-US" sz="1000" b="1" i="0" u="none" strike="noStrike">
                        <a:solidFill>
                          <a:srgbClr val="00000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99%</a:t>
                      </a:r>
                      <a:endParaRPr lang="en-US" sz="1000" b="1" i="0" u="none" strike="noStrike">
                        <a:solidFill>
                          <a:srgbClr val="00000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99.99%</a:t>
                      </a:r>
                      <a:endParaRPr lang="en-US" sz="1000" b="1" i="0" u="none" strike="noStrike">
                        <a:solidFill>
                          <a:srgbClr val="000000"/>
                        </a:solidFill>
                        <a:effectLst/>
                        <a:latin typeface="Calibri" panose="020F0502020204030204" pitchFamily="34" charset="0"/>
                      </a:endParaRPr>
                    </a:p>
                  </a:txBody>
                  <a:tcPr marL="6649" marR="6649" marT="6649" marB="0" anchor="ctr"/>
                </a:tc>
                <a:tc>
                  <a:txBody>
                    <a:bodyPr/>
                    <a:lstStyle/>
                    <a:p>
                      <a:pPr algn="l" fontAlgn="ctr">
                        <a:buNone/>
                      </a:pPr>
                      <a:r>
                        <a:rPr lang="en-US" sz="1000" u="none" strike="noStrike">
                          <a:effectLst/>
                        </a:rPr>
                        <a:t>r_99.9%</a:t>
                      </a:r>
                      <a:endParaRPr lang="en-US" sz="1000" b="1" i="0" u="none" strike="noStrike">
                        <a:solidFill>
                          <a:srgbClr val="000000"/>
                        </a:solidFill>
                        <a:effectLst/>
                        <a:latin typeface="Calibri" panose="020F0502020204030204" pitchFamily="34" charset="0"/>
                      </a:endParaRPr>
                    </a:p>
                  </a:txBody>
                  <a:tcPr marL="6649" marR="6649" marT="6649" marB="0" anchor="ctr"/>
                </a:tc>
                <a:tc>
                  <a:txBody>
                    <a:bodyPr/>
                    <a:lstStyle/>
                    <a:p>
                      <a:pPr algn="l" fontAlgn="ctr">
                        <a:buNone/>
                      </a:pPr>
                      <a:r>
                        <a:rPr lang="en-US" sz="1000" u="none" strike="noStrike">
                          <a:effectLst/>
                        </a:rPr>
                        <a:t>w_99.9%</a:t>
                      </a:r>
                      <a:endParaRPr lang="en-US" sz="1000" b="1" i="0" u="none" strike="noStrike">
                        <a:solidFill>
                          <a:srgbClr val="000000"/>
                        </a:solidFill>
                        <a:effectLst/>
                        <a:latin typeface="Calibri" panose="020F0502020204030204" pitchFamily="34" charset="0"/>
                      </a:endParaRPr>
                    </a:p>
                  </a:txBody>
                  <a:tcPr marL="6649" marR="6649" marT="6649" marB="0" anchor="ctr"/>
                </a:tc>
                <a:extLst>
                  <a:ext uri="{0D108BD9-81ED-4DB2-BD59-A6C34878D82A}">
                    <a16:rowId xmlns:a16="http://schemas.microsoft.com/office/drawing/2014/main" val="2427224240"/>
                  </a:ext>
                </a:extLst>
              </a:tr>
              <a:tr h="159585">
                <a:tc rowSpan="9">
                  <a:txBody>
                    <a:bodyPr/>
                    <a:lstStyle/>
                    <a:p>
                      <a:pPr algn="ctr" fontAlgn="ctr">
                        <a:buNone/>
                      </a:pPr>
                      <a:r>
                        <a:rPr lang="en-US" sz="1000" u="none" strike="noStrike">
                          <a:effectLst/>
                        </a:rPr>
                        <a:t>7680G</a:t>
                      </a:r>
                      <a:endParaRPr lang="en-US" sz="1000" b="1" i="0" u="none" strike="noStrike">
                        <a:solidFill>
                          <a:srgbClr val="000000"/>
                        </a:solidFill>
                        <a:effectLst/>
                        <a:latin typeface="Calibri" panose="020F0502020204030204" pitchFamily="34" charset="0"/>
                      </a:endParaRPr>
                    </a:p>
                  </a:txBody>
                  <a:tcPr marL="6649" marR="6649" marT="6649" marB="0" anchor="ctr"/>
                </a:tc>
                <a:tc>
                  <a:txBody>
                    <a:bodyPr/>
                    <a:lstStyle/>
                    <a:p>
                      <a:pPr algn="l" fontAlgn="ctr">
                        <a:buNone/>
                      </a:pPr>
                      <a:r>
                        <a:rPr lang="zh-CN" altLang="en-US" sz="1000" u="none" strike="noStrike">
                          <a:effectLst/>
                        </a:rPr>
                        <a:t>单盘规格</a:t>
                      </a:r>
                      <a:endParaRPr lang="zh-CN" altLang="en-US" sz="1000" b="0" i="0" u="none" strike="noStrike">
                        <a:solidFill>
                          <a:srgbClr val="00000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85</a:t>
                      </a:r>
                      <a:endParaRPr lang="en-US" sz="1000" b="0" i="0" u="none" strike="noStrike">
                        <a:solidFill>
                          <a:srgbClr val="00000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85</a:t>
                      </a:r>
                      <a:endParaRPr lang="en-US" sz="1000" b="0" i="0" u="none" strike="noStrike">
                        <a:solidFill>
                          <a:srgbClr val="00000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150</a:t>
                      </a:r>
                      <a:endParaRPr lang="en-US" sz="1000" b="0" i="0" u="none" strike="noStrike">
                        <a:solidFill>
                          <a:srgbClr val="00000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210</a:t>
                      </a:r>
                      <a:endParaRPr lang="en-US" sz="1000" b="0" i="0" u="none" strike="noStrike">
                        <a:solidFill>
                          <a:srgbClr val="00000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10</a:t>
                      </a:r>
                      <a:endParaRPr lang="en-US" sz="1000" b="0" i="0" u="none" strike="noStrike">
                        <a:solidFill>
                          <a:srgbClr val="00000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20</a:t>
                      </a:r>
                      <a:endParaRPr lang="en-US" sz="1000" b="0" i="0" u="none" strike="noStrike">
                        <a:solidFill>
                          <a:srgbClr val="00000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160</a:t>
                      </a:r>
                      <a:endParaRPr lang="en-US" sz="1000" b="0" i="0" u="none" strike="noStrike">
                        <a:solidFill>
                          <a:srgbClr val="00000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210</a:t>
                      </a:r>
                      <a:endParaRPr lang="en-US" sz="1000" b="0" i="0" u="none" strike="noStrike">
                        <a:solidFill>
                          <a:srgbClr val="00000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400</a:t>
                      </a:r>
                      <a:endParaRPr lang="en-US" sz="1000" b="0" i="0" u="none" strike="noStrike">
                        <a:solidFill>
                          <a:srgbClr val="00000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400</a:t>
                      </a:r>
                      <a:endParaRPr lang="en-US" sz="1000" b="0" i="0" u="none" strike="noStrike">
                        <a:solidFill>
                          <a:srgbClr val="000000"/>
                        </a:solidFill>
                        <a:effectLst/>
                        <a:latin typeface="Calibri" panose="020F0502020204030204" pitchFamily="34" charset="0"/>
                      </a:endParaRPr>
                    </a:p>
                  </a:txBody>
                  <a:tcPr marL="6649" marR="6649" marT="6649" marB="0" anchor="ctr"/>
                </a:tc>
                <a:extLst>
                  <a:ext uri="{0D108BD9-81ED-4DB2-BD59-A6C34878D82A}">
                    <a16:rowId xmlns:a16="http://schemas.microsoft.com/office/drawing/2014/main" val="2612731520"/>
                  </a:ext>
                </a:extLst>
              </a:tr>
              <a:tr h="159585">
                <a:tc vMerge="1">
                  <a:txBody>
                    <a:bodyPr/>
                    <a:lstStyle/>
                    <a:p>
                      <a:endParaRPr lang="en-US"/>
                    </a:p>
                  </a:txBody>
                  <a:tcPr/>
                </a:tc>
                <a:tc>
                  <a:txBody>
                    <a:bodyPr/>
                    <a:lstStyle/>
                    <a:p>
                      <a:pPr algn="l" fontAlgn="ctr">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6649" marR="6649" marT="6649" marB="0" anchor="ctr"/>
                </a:tc>
                <a:tc>
                  <a:txBody>
                    <a:bodyPr/>
                    <a:lstStyle/>
                    <a:p>
                      <a:pPr algn="l" fontAlgn="ctr">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6649" marR="6649" marT="6649" marB="0" anchor="ctr"/>
                </a:tc>
                <a:tc>
                  <a:txBody>
                    <a:bodyPr/>
                    <a:lstStyle/>
                    <a:p>
                      <a:pPr algn="l" fontAlgn="ctr">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6649" marR="6649" marT="6649" marB="0" anchor="ctr"/>
                </a:tc>
                <a:tc>
                  <a:txBody>
                    <a:bodyPr/>
                    <a:lstStyle/>
                    <a:p>
                      <a:pPr algn="l" fontAlgn="ctr">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6649" marR="6649" marT="6649" marB="0" anchor="ctr"/>
                </a:tc>
                <a:tc>
                  <a:txBody>
                    <a:bodyPr/>
                    <a:lstStyle/>
                    <a:p>
                      <a:pPr algn="l" fontAlgn="ctr">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6649" marR="6649" marT="6649" marB="0" anchor="ctr"/>
                </a:tc>
                <a:tc>
                  <a:txBody>
                    <a:bodyPr/>
                    <a:lstStyle/>
                    <a:p>
                      <a:pPr algn="l" fontAlgn="ctr">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6649" marR="6649" marT="6649" marB="0" anchor="ctr"/>
                </a:tc>
                <a:tc>
                  <a:txBody>
                    <a:bodyPr/>
                    <a:lstStyle/>
                    <a:p>
                      <a:pPr algn="l" fontAlgn="ctr">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6649" marR="6649" marT="6649" marB="0" anchor="ctr"/>
                </a:tc>
                <a:tc>
                  <a:txBody>
                    <a:bodyPr/>
                    <a:lstStyle/>
                    <a:p>
                      <a:pPr algn="l" fontAlgn="ctr">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6649" marR="6649" marT="6649" marB="0" anchor="ctr"/>
                </a:tc>
                <a:tc>
                  <a:txBody>
                    <a:bodyPr/>
                    <a:lstStyle/>
                    <a:p>
                      <a:pPr algn="l" fontAlgn="ctr">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6649" marR="6649" marT="6649" marB="0" anchor="ctr"/>
                </a:tc>
                <a:tc>
                  <a:txBody>
                    <a:bodyPr/>
                    <a:lstStyle/>
                    <a:p>
                      <a:pPr algn="l" fontAlgn="ctr">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6649" marR="6649" marT="6649" marB="0" anchor="ctr"/>
                </a:tc>
                <a:tc>
                  <a:txBody>
                    <a:bodyPr/>
                    <a:lstStyle/>
                    <a:p>
                      <a:pPr algn="l" fontAlgn="ctr">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6649" marR="6649" marT="6649" marB="0" anchor="ctr"/>
                </a:tc>
                <a:extLst>
                  <a:ext uri="{0D108BD9-81ED-4DB2-BD59-A6C34878D82A}">
                    <a16:rowId xmlns:a16="http://schemas.microsoft.com/office/drawing/2014/main" val="772744806"/>
                  </a:ext>
                </a:extLst>
              </a:tr>
              <a:tr h="159585">
                <a:tc vMerge="1">
                  <a:txBody>
                    <a:bodyPr/>
                    <a:lstStyle/>
                    <a:p>
                      <a:endParaRPr lang="en-US"/>
                    </a:p>
                  </a:txBody>
                  <a:tcPr/>
                </a:tc>
                <a:tc>
                  <a:txBody>
                    <a:bodyPr/>
                    <a:lstStyle/>
                    <a:p>
                      <a:pPr algn="l" fontAlgn="ctr">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6649" marR="6649" marT="6649" marB="0" anchor="ctr"/>
                </a:tc>
                <a:tc>
                  <a:txBody>
                    <a:bodyPr/>
                    <a:lstStyle/>
                    <a:p>
                      <a:pPr algn="l" fontAlgn="ctr">
                        <a:buNone/>
                      </a:pPr>
                      <a:r>
                        <a:rPr lang="en-US" sz="1000" u="none" strike="noStrike">
                          <a:effectLst/>
                        </a:rPr>
                        <a:t> </a:t>
                      </a:r>
                      <a:endParaRPr lang="en-US" sz="1000" b="0" i="0" u="none" strike="noStrike">
                        <a:solidFill>
                          <a:srgbClr val="FF0000"/>
                        </a:solidFill>
                        <a:effectLst/>
                        <a:latin typeface="Calibri" panose="020F0502020204030204" pitchFamily="34" charset="0"/>
                      </a:endParaRPr>
                    </a:p>
                  </a:txBody>
                  <a:tcPr marL="6649" marR="6649" marT="6649" marB="0" anchor="ctr"/>
                </a:tc>
                <a:tc>
                  <a:txBody>
                    <a:bodyPr/>
                    <a:lstStyle/>
                    <a:p>
                      <a:pPr algn="l" fontAlgn="ctr">
                        <a:buNone/>
                      </a:pPr>
                      <a:r>
                        <a:rPr lang="en-US" sz="1000" u="none" strike="noStrike">
                          <a:effectLst/>
                        </a:rPr>
                        <a:t> </a:t>
                      </a:r>
                      <a:endParaRPr lang="en-US" sz="1000" b="0" i="0" u="none" strike="noStrike">
                        <a:solidFill>
                          <a:srgbClr val="FF0000"/>
                        </a:solidFill>
                        <a:effectLst/>
                        <a:latin typeface="Calibri" panose="020F0502020204030204" pitchFamily="34" charset="0"/>
                      </a:endParaRPr>
                    </a:p>
                  </a:txBody>
                  <a:tcPr marL="6649" marR="6649" marT="6649" marB="0" anchor="ctr"/>
                </a:tc>
                <a:tc>
                  <a:txBody>
                    <a:bodyPr/>
                    <a:lstStyle/>
                    <a:p>
                      <a:pPr algn="l" fontAlgn="ctr">
                        <a:buNone/>
                      </a:pPr>
                      <a:r>
                        <a:rPr lang="en-US" sz="1000" u="none" strike="noStrike">
                          <a:effectLst/>
                        </a:rPr>
                        <a:t> </a:t>
                      </a:r>
                      <a:endParaRPr lang="en-US" sz="1000" b="0" i="0" u="none" strike="noStrike">
                        <a:solidFill>
                          <a:srgbClr val="FF0000"/>
                        </a:solidFill>
                        <a:effectLst/>
                        <a:latin typeface="Calibri" panose="020F0502020204030204" pitchFamily="34" charset="0"/>
                      </a:endParaRPr>
                    </a:p>
                  </a:txBody>
                  <a:tcPr marL="6649" marR="6649" marT="6649" marB="0" anchor="ctr"/>
                </a:tc>
                <a:tc>
                  <a:txBody>
                    <a:bodyPr/>
                    <a:lstStyle/>
                    <a:p>
                      <a:pPr algn="l" fontAlgn="ctr">
                        <a:buNone/>
                      </a:pPr>
                      <a:r>
                        <a:rPr lang="en-US" sz="1000" u="none" strike="noStrike">
                          <a:effectLst/>
                        </a:rPr>
                        <a:t> </a:t>
                      </a:r>
                      <a:endParaRPr lang="en-US" sz="1000" b="0" i="0" u="none" strike="noStrike">
                        <a:solidFill>
                          <a:srgbClr val="FF0000"/>
                        </a:solidFill>
                        <a:effectLst/>
                        <a:latin typeface="Calibri" panose="020F0502020204030204" pitchFamily="34" charset="0"/>
                      </a:endParaRPr>
                    </a:p>
                  </a:txBody>
                  <a:tcPr marL="6649" marR="6649" marT="6649" marB="0" anchor="ctr"/>
                </a:tc>
                <a:tc>
                  <a:txBody>
                    <a:bodyPr/>
                    <a:lstStyle/>
                    <a:p>
                      <a:pPr algn="l" fontAlgn="ctr">
                        <a:buNone/>
                      </a:pPr>
                      <a:r>
                        <a:rPr lang="en-US" sz="1000" u="none" strike="noStrike">
                          <a:effectLst/>
                        </a:rPr>
                        <a:t> </a:t>
                      </a:r>
                      <a:endParaRPr lang="en-US" sz="1000" b="0" i="0" u="none" strike="noStrike">
                        <a:solidFill>
                          <a:srgbClr val="FF0000"/>
                        </a:solidFill>
                        <a:effectLst/>
                        <a:latin typeface="Calibri" panose="020F0502020204030204" pitchFamily="34" charset="0"/>
                      </a:endParaRPr>
                    </a:p>
                  </a:txBody>
                  <a:tcPr marL="6649" marR="6649" marT="6649" marB="0" anchor="ctr"/>
                </a:tc>
                <a:tc>
                  <a:txBody>
                    <a:bodyPr/>
                    <a:lstStyle/>
                    <a:p>
                      <a:pPr algn="l" fontAlgn="ctr">
                        <a:buNone/>
                      </a:pPr>
                      <a:r>
                        <a:rPr lang="en-US" sz="1000" u="none" strike="noStrike">
                          <a:effectLst/>
                        </a:rPr>
                        <a:t> </a:t>
                      </a:r>
                      <a:endParaRPr lang="en-US" sz="1000" b="0" i="0" u="none" strike="noStrike">
                        <a:solidFill>
                          <a:srgbClr val="FF0000"/>
                        </a:solidFill>
                        <a:effectLst/>
                        <a:latin typeface="Calibri" panose="020F0502020204030204" pitchFamily="34" charset="0"/>
                      </a:endParaRPr>
                    </a:p>
                  </a:txBody>
                  <a:tcPr marL="6649" marR="6649" marT="6649" marB="0" anchor="ctr"/>
                </a:tc>
                <a:tc>
                  <a:txBody>
                    <a:bodyPr/>
                    <a:lstStyle/>
                    <a:p>
                      <a:pPr algn="l" fontAlgn="ctr">
                        <a:buNone/>
                      </a:pPr>
                      <a:r>
                        <a:rPr lang="en-US" sz="1000" u="none" strike="noStrike">
                          <a:effectLst/>
                        </a:rPr>
                        <a:t> </a:t>
                      </a:r>
                      <a:endParaRPr lang="en-US" sz="1000" b="0" i="0" u="none" strike="noStrike">
                        <a:solidFill>
                          <a:srgbClr val="FF0000"/>
                        </a:solidFill>
                        <a:effectLst/>
                        <a:latin typeface="Calibri" panose="020F0502020204030204" pitchFamily="34" charset="0"/>
                      </a:endParaRPr>
                    </a:p>
                  </a:txBody>
                  <a:tcPr marL="6649" marR="6649" marT="6649" marB="0" anchor="ctr"/>
                </a:tc>
                <a:tc>
                  <a:txBody>
                    <a:bodyPr/>
                    <a:lstStyle/>
                    <a:p>
                      <a:pPr algn="l" fontAlgn="ctr">
                        <a:buNone/>
                      </a:pPr>
                      <a:r>
                        <a:rPr lang="en-US" sz="1000" u="none" strike="noStrike">
                          <a:effectLst/>
                        </a:rPr>
                        <a:t> </a:t>
                      </a:r>
                      <a:endParaRPr lang="en-US" sz="1000" b="0" i="0" u="none" strike="noStrike">
                        <a:solidFill>
                          <a:srgbClr val="FF0000"/>
                        </a:solidFill>
                        <a:effectLst/>
                        <a:latin typeface="Calibri" panose="020F0502020204030204" pitchFamily="34" charset="0"/>
                      </a:endParaRPr>
                    </a:p>
                  </a:txBody>
                  <a:tcPr marL="6649" marR="6649" marT="6649" marB="0" anchor="ctr"/>
                </a:tc>
                <a:tc>
                  <a:txBody>
                    <a:bodyPr/>
                    <a:lstStyle/>
                    <a:p>
                      <a:pPr algn="l" fontAlgn="ctr">
                        <a:buNone/>
                      </a:pPr>
                      <a:r>
                        <a:rPr lang="en-US" sz="1000" u="none" strike="noStrike">
                          <a:effectLst/>
                        </a:rPr>
                        <a:t> </a:t>
                      </a:r>
                      <a:endParaRPr lang="en-US" sz="1000" b="0" i="0" u="none" strike="noStrike">
                        <a:solidFill>
                          <a:srgbClr val="FF0000"/>
                        </a:solidFill>
                        <a:effectLst/>
                        <a:latin typeface="Calibri" panose="020F0502020204030204" pitchFamily="34" charset="0"/>
                      </a:endParaRPr>
                    </a:p>
                  </a:txBody>
                  <a:tcPr marL="6649" marR="6649" marT="6649" marB="0" anchor="ctr"/>
                </a:tc>
                <a:tc>
                  <a:txBody>
                    <a:bodyPr/>
                    <a:lstStyle/>
                    <a:p>
                      <a:pPr algn="l" fontAlgn="ctr">
                        <a:buNone/>
                      </a:pPr>
                      <a:r>
                        <a:rPr lang="en-US" sz="1000" u="none" strike="noStrike">
                          <a:effectLst/>
                        </a:rPr>
                        <a:t> </a:t>
                      </a:r>
                      <a:endParaRPr lang="en-US" sz="1000" b="0" i="0" u="none" strike="noStrike">
                        <a:solidFill>
                          <a:srgbClr val="FF0000"/>
                        </a:solidFill>
                        <a:effectLst/>
                        <a:latin typeface="Calibri" panose="020F0502020204030204" pitchFamily="34" charset="0"/>
                      </a:endParaRPr>
                    </a:p>
                  </a:txBody>
                  <a:tcPr marL="6649" marR="6649" marT="6649" marB="0" anchor="ctr"/>
                </a:tc>
                <a:extLst>
                  <a:ext uri="{0D108BD9-81ED-4DB2-BD59-A6C34878D82A}">
                    <a16:rowId xmlns:a16="http://schemas.microsoft.com/office/drawing/2014/main" val="1586279834"/>
                  </a:ext>
                </a:extLst>
              </a:tr>
              <a:tr h="159585">
                <a:tc vMerge="1">
                  <a:txBody>
                    <a:bodyPr/>
                    <a:lstStyle/>
                    <a:p>
                      <a:endParaRPr lang="en-US"/>
                    </a:p>
                  </a:txBody>
                  <a:tcPr/>
                </a:tc>
                <a:tc gridSpan="11">
                  <a:txBody>
                    <a:bodyPr/>
                    <a:lstStyle/>
                    <a:p>
                      <a:pPr algn="l" fontAlgn="ctr">
                        <a:buNone/>
                      </a:pPr>
                      <a:r>
                        <a:rPr lang="en-US" sz="1000" u="none" strike="noStrike">
                          <a:effectLst/>
                        </a:rPr>
                        <a:t>kernel</a:t>
                      </a:r>
                      <a:endParaRPr lang="en-US" sz="1000" b="1" i="0" u="none" strike="noStrike">
                        <a:solidFill>
                          <a:srgbClr val="FF0000"/>
                        </a:solidFill>
                        <a:effectLst/>
                        <a:latin typeface="Calibri" panose="020F0502020204030204" pitchFamily="34" charset="0"/>
                      </a:endParaRPr>
                    </a:p>
                  </a:txBody>
                  <a:tcPr marL="6649" marR="6649" marT="6649"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935296471"/>
                  </a:ext>
                </a:extLst>
              </a:tr>
              <a:tr h="159585">
                <a:tc vMerge="1">
                  <a:txBody>
                    <a:bodyPr/>
                    <a:lstStyle/>
                    <a:p>
                      <a:endParaRPr lang="en-US"/>
                    </a:p>
                  </a:txBody>
                  <a:tcPr/>
                </a:tc>
                <a:tc>
                  <a:txBody>
                    <a:bodyPr/>
                    <a:lstStyle/>
                    <a:p>
                      <a:pPr algn="l" fontAlgn="ctr">
                        <a:buNone/>
                      </a:pPr>
                      <a:r>
                        <a:rPr lang="en-US" altLang="zh-CN" sz="1000" u="none" strike="noStrike">
                          <a:effectLst/>
                        </a:rPr>
                        <a:t>Intel</a:t>
                      </a:r>
                      <a:r>
                        <a:rPr lang="zh-CN" altLang="en-US" sz="1000" u="none" strike="noStrike">
                          <a:effectLst/>
                        </a:rPr>
                        <a:t>平台</a:t>
                      </a:r>
                      <a:r>
                        <a:rPr lang="en-US" altLang="zh-CN" sz="1000" u="none" strike="noStrike">
                          <a:effectLst/>
                        </a:rPr>
                        <a:t>16</a:t>
                      </a:r>
                      <a:r>
                        <a:rPr lang="zh-CN" altLang="en-US" sz="1000" u="none" strike="noStrike">
                          <a:effectLst/>
                        </a:rPr>
                        <a:t>盘实测</a:t>
                      </a:r>
                      <a:r>
                        <a:rPr lang="en-US" altLang="zh-CN" sz="1000" u="none" strike="noStrike">
                          <a:effectLst/>
                        </a:rPr>
                        <a:t>-1</a:t>
                      </a:r>
                      <a:endParaRPr lang="en-US" altLang="zh-CN" sz="1000" b="0" i="0" u="none" strike="noStrike">
                        <a:solidFill>
                          <a:srgbClr val="00000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61</a:t>
                      </a:r>
                      <a:endParaRPr lang="en-US" sz="1000" b="0" i="0" u="none" strike="noStrike">
                        <a:solidFill>
                          <a:srgbClr val="00000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72.81</a:t>
                      </a:r>
                      <a:endParaRPr lang="en-US" sz="1000" b="0" i="0" u="none" strike="noStrike">
                        <a:solidFill>
                          <a:srgbClr val="00000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95.5</a:t>
                      </a:r>
                      <a:endParaRPr lang="en-US" sz="1000" b="0" i="0" u="none" strike="noStrike">
                        <a:solidFill>
                          <a:srgbClr val="00000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140.62</a:t>
                      </a:r>
                      <a:endParaRPr lang="en-US" sz="1000" b="0" i="0" u="none" strike="noStrike">
                        <a:solidFill>
                          <a:srgbClr val="00000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5.29</a:t>
                      </a:r>
                      <a:endParaRPr lang="en-US" sz="1000" b="0" i="0" u="none" strike="noStrike">
                        <a:solidFill>
                          <a:srgbClr val="00000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16.38</a:t>
                      </a:r>
                      <a:endParaRPr lang="en-US" sz="1000" b="0" i="0" u="none" strike="noStrike">
                        <a:solidFill>
                          <a:srgbClr val="00000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74.69</a:t>
                      </a:r>
                      <a:endParaRPr lang="en-US" sz="1000" b="0" i="0" u="none" strike="noStrike">
                        <a:solidFill>
                          <a:srgbClr val="00000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88.75</a:t>
                      </a:r>
                      <a:endParaRPr lang="en-US" sz="1000" b="0" i="0" u="none" strike="noStrike">
                        <a:solidFill>
                          <a:srgbClr val="00000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293.56</a:t>
                      </a:r>
                      <a:endParaRPr lang="en-US" sz="1000" b="0" i="0" u="none" strike="noStrike">
                        <a:solidFill>
                          <a:srgbClr val="00000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16.35</a:t>
                      </a:r>
                      <a:endParaRPr lang="en-US" sz="1000" b="0" i="0" u="none" strike="noStrike">
                        <a:solidFill>
                          <a:srgbClr val="000000"/>
                        </a:solidFill>
                        <a:effectLst/>
                        <a:latin typeface="Calibri" panose="020F0502020204030204" pitchFamily="34" charset="0"/>
                      </a:endParaRPr>
                    </a:p>
                  </a:txBody>
                  <a:tcPr marL="6649" marR="6649" marT="6649" marB="0" anchor="ctr"/>
                </a:tc>
                <a:extLst>
                  <a:ext uri="{0D108BD9-81ED-4DB2-BD59-A6C34878D82A}">
                    <a16:rowId xmlns:a16="http://schemas.microsoft.com/office/drawing/2014/main" val="2567928772"/>
                  </a:ext>
                </a:extLst>
              </a:tr>
              <a:tr h="159585">
                <a:tc vMerge="1">
                  <a:txBody>
                    <a:bodyPr/>
                    <a:lstStyle/>
                    <a:p>
                      <a:endParaRPr lang="en-US"/>
                    </a:p>
                  </a:txBody>
                  <a:tcPr/>
                </a:tc>
                <a:tc>
                  <a:txBody>
                    <a:bodyPr/>
                    <a:lstStyle/>
                    <a:p>
                      <a:pPr algn="l" fontAlgn="ctr">
                        <a:buNone/>
                      </a:pPr>
                      <a:r>
                        <a:rPr lang="en-US" altLang="zh-CN" sz="1000" u="none" strike="noStrike">
                          <a:effectLst/>
                        </a:rPr>
                        <a:t>Intel</a:t>
                      </a:r>
                      <a:r>
                        <a:rPr lang="zh-CN" altLang="en-US" sz="1000" u="none" strike="noStrike">
                          <a:effectLst/>
                        </a:rPr>
                        <a:t>平台</a:t>
                      </a:r>
                      <a:r>
                        <a:rPr lang="en-US" altLang="zh-CN" sz="1000" u="none" strike="noStrike">
                          <a:effectLst/>
                        </a:rPr>
                        <a:t>16</a:t>
                      </a:r>
                      <a:r>
                        <a:rPr lang="zh-CN" altLang="en-US" sz="1000" u="none" strike="noStrike">
                          <a:effectLst/>
                        </a:rPr>
                        <a:t>盘实测</a:t>
                      </a:r>
                      <a:r>
                        <a:rPr lang="en-US" altLang="zh-CN" sz="1000" u="none" strike="noStrike">
                          <a:effectLst/>
                        </a:rPr>
                        <a:t>-2</a:t>
                      </a:r>
                      <a:endParaRPr lang="en-US" altLang="zh-CN" sz="1000" b="0" i="0" u="none" strike="noStrike">
                        <a:solidFill>
                          <a:srgbClr val="00000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61</a:t>
                      </a:r>
                      <a:endParaRPr lang="en-US" sz="1000" b="0" i="0" u="none" strike="noStrike">
                        <a:solidFill>
                          <a:srgbClr val="00000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72.75</a:t>
                      </a:r>
                      <a:endParaRPr lang="en-US" sz="1000" b="0" i="0" u="none" strike="noStrike">
                        <a:solidFill>
                          <a:srgbClr val="00000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95.44</a:t>
                      </a:r>
                      <a:endParaRPr lang="en-US" sz="1000" b="0" i="0" u="none" strike="noStrike">
                        <a:solidFill>
                          <a:srgbClr val="00000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140</a:t>
                      </a:r>
                      <a:endParaRPr lang="en-US" sz="1000" b="0" i="0" u="none" strike="noStrike">
                        <a:solidFill>
                          <a:srgbClr val="00000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5.29</a:t>
                      </a:r>
                      <a:endParaRPr lang="en-US" sz="1000" b="0" i="0" u="none" strike="noStrike">
                        <a:solidFill>
                          <a:srgbClr val="00000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16.41</a:t>
                      </a:r>
                      <a:endParaRPr lang="en-US" sz="1000" b="0" i="0" u="none" strike="noStrike">
                        <a:solidFill>
                          <a:srgbClr val="00000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68.88</a:t>
                      </a:r>
                      <a:endParaRPr lang="en-US" sz="1000" b="0" i="0" u="none" strike="noStrike">
                        <a:solidFill>
                          <a:srgbClr val="00000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79.56</a:t>
                      </a:r>
                      <a:endParaRPr lang="en-US" sz="1000" b="0" i="0" u="none" strike="noStrike">
                        <a:solidFill>
                          <a:srgbClr val="00000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292.88</a:t>
                      </a:r>
                      <a:endParaRPr lang="en-US" sz="1000" b="0" i="0" u="none" strike="noStrike">
                        <a:solidFill>
                          <a:srgbClr val="00000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16.42</a:t>
                      </a:r>
                      <a:endParaRPr lang="en-US" sz="1000" b="0" i="0" u="none" strike="noStrike">
                        <a:solidFill>
                          <a:srgbClr val="000000"/>
                        </a:solidFill>
                        <a:effectLst/>
                        <a:latin typeface="Calibri" panose="020F0502020204030204" pitchFamily="34" charset="0"/>
                      </a:endParaRPr>
                    </a:p>
                  </a:txBody>
                  <a:tcPr marL="6649" marR="6649" marT="6649" marB="0" anchor="ctr"/>
                </a:tc>
                <a:extLst>
                  <a:ext uri="{0D108BD9-81ED-4DB2-BD59-A6C34878D82A}">
                    <a16:rowId xmlns:a16="http://schemas.microsoft.com/office/drawing/2014/main" val="3447957020"/>
                  </a:ext>
                </a:extLst>
              </a:tr>
              <a:tr h="159585">
                <a:tc vMerge="1">
                  <a:txBody>
                    <a:bodyPr/>
                    <a:lstStyle/>
                    <a:p>
                      <a:endParaRPr lang="en-US"/>
                    </a:p>
                  </a:txBody>
                  <a:tcPr/>
                </a:tc>
                <a:tc>
                  <a:txBody>
                    <a:bodyPr/>
                    <a:lstStyle/>
                    <a:p>
                      <a:pPr algn="l" fontAlgn="ctr">
                        <a:buNone/>
                      </a:pPr>
                      <a:r>
                        <a:rPr lang="en-US" altLang="zh-CN" sz="1000" u="none" strike="noStrike">
                          <a:effectLst/>
                        </a:rPr>
                        <a:t>Intel</a:t>
                      </a:r>
                      <a:r>
                        <a:rPr lang="zh-CN" altLang="en-US" sz="1000" u="none" strike="noStrike">
                          <a:effectLst/>
                        </a:rPr>
                        <a:t>平台</a:t>
                      </a:r>
                      <a:r>
                        <a:rPr lang="en-US" altLang="zh-CN" sz="1000" u="none" strike="noStrike">
                          <a:effectLst/>
                        </a:rPr>
                        <a:t>16</a:t>
                      </a:r>
                      <a:r>
                        <a:rPr lang="zh-CN" altLang="en-US" sz="1000" u="none" strike="noStrike">
                          <a:effectLst/>
                        </a:rPr>
                        <a:t>盘实测</a:t>
                      </a:r>
                      <a:r>
                        <a:rPr lang="en-US" altLang="zh-CN" sz="1000" u="none" strike="noStrike">
                          <a:effectLst/>
                        </a:rPr>
                        <a:t>-3</a:t>
                      </a:r>
                      <a:endParaRPr lang="en-US" altLang="zh-CN" sz="1000" b="0" i="0" u="none" strike="noStrike">
                        <a:solidFill>
                          <a:srgbClr val="00000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61</a:t>
                      </a:r>
                      <a:endParaRPr lang="en-US" sz="1000" b="0" i="0" u="none" strike="noStrike">
                        <a:solidFill>
                          <a:srgbClr val="00000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72.88</a:t>
                      </a:r>
                      <a:endParaRPr lang="en-US" sz="1000" b="0" i="0" u="none" strike="noStrike">
                        <a:solidFill>
                          <a:srgbClr val="00000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95.31</a:t>
                      </a:r>
                      <a:endParaRPr lang="en-US" sz="1000" b="0" i="0" u="none" strike="noStrike">
                        <a:solidFill>
                          <a:srgbClr val="00000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140</a:t>
                      </a:r>
                      <a:endParaRPr lang="en-US" sz="1000" b="0" i="0" u="none" strike="noStrike">
                        <a:solidFill>
                          <a:srgbClr val="00000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5.29</a:t>
                      </a:r>
                      <a:endParaRPr lang="en-US" sz="1000" b="0" i="0" u="none" strike="noStrike">
                        <a:solidFill>
                          <a:srgbClr val="00000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16.16</a:t>
                      </a:r>
                      <a:endParaRPr lang="en-US" sz="1000" b="0" i="0" u="none" strike="noStrike">
                        <a:solidFill>
                          <a:srgbClr val="00000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64.44</a:t>
                      </a:r>
                      <a:endParaRPr lang="en-US" sz="1000" b="0" i="0" u="none" strike="noStrike">
                        <a:solidFill>
                          <a:srgbClr val="00000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78.81</a:t>
                      </a:r>
                      <a:endParaRPr lang="en-US" sz="1000" b="0" i="0" u="none" strike="noStrike">
                        <a:solidFill>
                          <a:srgbClr val="00000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291.06</a:t>
                      </a:r>
                      <a:endParaRPr lang="en-US" sz="1000" b="0" i="0" u="none" strike="noStrike">
                        <a:solidFill>
                          <a:srgbClr val="00000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16.42</a:t>
                      </a:r>
                      <a:endParaRPr lang="en-US" sz="1000" b="0" i="0" u="none" strike="noStrike">
                        <a:solidFill>
                          <a:srgbClr val="000000"/>
                        </a:solidFill>
                        <a:effectLst/>
                        <a:latin typeface="Calibri" panose="020F0502020204030204" pitchFamily="34" charset="0"/>
                      </a:endParaRPr>
                    </a:p>
                  </a:txBody>
                  <a:tcPr marL="6649" marR="6649" marT="6649" marB="0" anchor="ctr"/>
                </a:tc>
                <a:extLst>
                  <a:ext uri="{0D108BD9-81ED-4DB2-BD59-A6C34878D82A}">
                    <a16:rowId xmlns:a16="http://schemas.microsoft.com/office/drawing/2014/main" val="680966571"/>
                  </a:ext>
                </a:extLst>
              </a:tr>
              <a:tr h="159585">
                <a:tc vMerge="1">
                  <a:txBody>
                    <a:bodyPr/>
                    <a:lstStyle/>
                    <a:p>
                      <a:endParaRPr lang="en-US"/>
                    </a:p>
                  </a:txBody>
                  <a:tcPr/>
                </a:tc>
                <a:tc>
                  <a:txBody>
                    <a:bodyPr/>
                    <a:lstStyle/>
                    <a:p>
                      <a:pPr algn="l" fontAlgn="ctr">
                        <a:buNone/>
                      </a:pPr>
                      <a:r>
                        <a:rPr lang="en-US" altLang="zh-CN" sz="1000" u="none" strike="noStrike">
                          <a:effectLst/>
                        </a:rPr>
                        <a:t>3</a:t>
                      </a:r>
                      <a:r>
                        <a:rPr lang="zh-CN" altLang="en-US" sz="1000" u="none" strike="noStrike">
                          <a:effectLst/>
                        </a:rPr>
                        <a:t>轮平均值</a:t>
                      </a:r>
                      <a:endParaRPr lang="zh-CN" altLang="en-US" sz="1000" b="0" i="0" u="none" strike="noStrike">
                        <a:solidFill>
                          <a:srgbClr val="00000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61</a:t>
                      </a:r>
                      <a:endParaRPr lang="en-US" sz="1000" b="0" i="0" u="none" strike="noStrike">
                        <a:solidFill>
                          <a:srgbClr val="00000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72.81333333</a:t>
                      </a:r>
                      <a:endParaRPr lang="en-US" sz="1000" b="0" i="0" u="none" strike="noStrike">
                        <a:solidFill>
                          <a:srgbClr val="00000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95.41666667</a:t>
                      </a:r>
                      <a:endParaRPr lang="en-US" sz="1000" b="0" i="0" u="none" strike="noStrike">
                        <a:solidFill>
                          <a:srgbClr val="00000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140.2066667</a:t>
                      </a:r>
                      <a:endParaRPr lang="en-US" sz="1000" b="0" i="0" u="none" strike="noStrike">
                        <a:solidFill>
                          <a:srgbClr val="00000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5.29</a:t>
                      </a:r>
                      <a:endParaRPr lang="en-US" sz="1000" b="0" i="0" u="none" strike="noStrike">
                        <a:solidFill>
                          <a:srgbClr val="00000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16.31666667</a:t>
                      </a:r>
                      <a:endParaRPr lang="en-US" sz="1000" b="0" i="0" u="none" strike="noStrike">
                        <a:solidFill>
                          <a:srgbClr val="00000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69.33666667</a:t>
                      </a:r>
                      <a:endParaRPr lang="en-US" sz="1000" b="0" i="0" u="none" strike="noStrike">
                        <a:solidFill>
                          <a:srgbClr val="00000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82.37333333</a:t>
                      </a:r>
                      <a:endParaRPr lang="en-US" sz="1000" b="0" i="0" u="none" strike="noStrike">
                        <a:solidFill>
                          <a:srgbClr val="00000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292.5</a:t>
                      </a:r>
                      <a:endParaRPr lang="en-US" sz="1000" b="0" i="0" u="none" strike="noStrike">
                        <a:solidFill>
                          <a:srgbClr val="00000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16.39666667</a:t>
                      </a:r>
                      <a:endParaRPr lang="en-US" sz="1000" b="0" i="0" u="none" strike="noStrike">
                        <a:solidFill>
                          <a:srgbClr val="000000"/>
                        </a:solidFill>
                        <a:effectLst/>
                        <a:latin typeface="Calibri" panose="020F0502020204030204" pitchFamily="34" charset="0"/>
                      </a:endParaRPr>
                    </a:p>
                  </a:txBody>
                  <a:tcPr marL="6649" marR="6649" marT="6649" marB="0" anchor="ctr"/>
                </a:tc>
                <a:extLst>
                  <a:ext uri="{0D108BD9-81ED-4DB2-BD59-A6C34878D82A}">
                    <a16:rowId xmlns:a16="http://schemas.microsoft.com/office/drawing/2014/main" val="2792760717"/>
                  </a:ext>
                </a:extLst>
              </a:tr>
              <a:tr h="159585">
                <a:tc vMerge="1">
                  <a:txBody>
                    <a:bodyPr/>
                    <a:lstStyle/>
                    <a:p>
                      <a:endParaRPr lang="en-US"/>
                    </a:p>
                  </a:txBody>
                  <a:tcPr/>
                </a:tc>
                <a:tc>
                  <a:txBody>
                    <a:bodyPr/>
                    <a:lstStyle/>
                    <a:p>
                      <a:pPr algn="l" fontAlgn="ctr">
                        <a:buNone/>
                      </a:pPr>
                      <a:r>
                        <a:rPr lang="en-US" altLang="zh-CN" sz="1000" u="none" strike="noStrike">
                          <a:effectLst/>
                        </a:rPr>
                        <a:t>3</a:t>
                      </a:r>
                      <a:r>
                        <a:rPr lang="zh-CN" altLang="en-US" sz="1000" u="none" strike="noStrike">
                          <a:effectLst/>
                        </a:rPr>
                        <a:t>轮平均值</a:t>
                      </a:r>
                      <a:r>
                        <a:rPr lang="en-US" altLang="zh-CN" sz="1000" u="none" strike="noStrike">
                          <a:effectLst/>
                        </a:rPr>
                        <a:t>-</a:t>
                      </a:r>
                      <a:r>
                        <a:rPr lang="zh-CN" altLang="en-US" sz="1000" u="none" strike="noStrike">
                          <a:effectLst/>
                        </a:rPr>
                        <a:t>规格达成</a:t>
                      </a:r>
                      <a:endParaRPr lang="zh-CN" altLang="en-US" sz="1000" b="0" i="0" u="none" strike="noStrike">
                        <a:solidFill>
                          <a:srgbClr val="00000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139.34%</a:t>
                      </a:r>
                      <a:endParaRPr lang="en-US" sz="1000" b="0" i="0" u="none" strike="noStrike">
                        <a:solidFill>
                          <a:srgbClr val="00B05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116.74%</a:t>
                      </a:r>
                      <a:endParaRPr lang="en-US" sz="1000" b="0" i="0" u="none" strike="noStrike">
                        <a:solidFill>
                          <a:srgbClr val="00B05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157.21%</a:t>
                      </a:r>
                      <a:endParaRPr lang="en-US" sz="1000" b="0" i="0" u="none" strike="noStrike">
                        <a:solidFill>
                          <a:srgbClr val="00B05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149.78%</a:t>
                      </a:r>
                      <a:endParaRPr lang="en-US" sz="1000" b="0" i="0" u="none" strike="noStrike">
                        <a:solidFill>
                          <a:srgbClr val="00B05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189.04%</a:t>
                      </a:r>
                      <a:endParaRPr lang="en-US" sz="1000" b="0" i="0" u="none" strike="noStrike">
                        <a:solidFill>
                          <a:srgbClr val="00B05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122.57%</a:t>
                      </a:r>
                      <a:endParaRPr lang="en-US" sz="1000" b="0" i="0" u="none" strike="noStrike">
                        <a:solidFill>
                          <a:srgbClr val="00B05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230.76%</a:t>
                      </a:r>
                      <a:endParaRPr lang="en-US" sz="1000" b="0" i="0" u="none" strike="noStrike">
                        <a:solidFill>
                          <a:srgbClr val="00B05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254.94%</a:t>
                      </a:r>
                      <a:endParaRPr lang="en-US" sz="1000" b="0" i="0" u="none" strike="noStrike">
                        <a:solidFill>
                          <a:srgbClr val="00B05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a:effectLst/>
                        </a:rPr>
                        <a:t>136.75%</a:t>
                      </a:r>
                      <a:endParaRPr lang="en-US" sz="1000" b="0" i="0" u="none" strike="noStrike">
                        <a:solidFill>
                          <a:srgbClr val="00B050"/>
                        </a:solidFill>
                        <a:effectLst/>
                        <a:latin typeface="Calibri" panose="020F0502020204030204" pitchFamily="34" charset="0"/>
                      </a:endParaRPr>
                    </a:p>
                  </a:txBody>
                  <a:tcPr marL="6649" marR="6649" marT="6649" marB="0" anchor="ctr"/>
                </a:tc>
                <a:tc>
                  <a:txBody>
                    <a:bodyPr/>
                    <a:lstStyle/>
                    <a:p>
                      <a:pPr algn="r" fontAlgn="ctr">
                        <a:buNone/>
                      </a:pPr>
                      <a:r>
                        <a:rPr lang="en-US" sz="1000" u="none" strike="noStrike" dirty="0">
                          <a:effectLst/>
                        </a:rPr>
                        <a:t>2439.52%</a:t>
                      </a:r>
                      <a:endParaRPr lang="en-US" sz="1000" b="0" i="0" u="none" strike="noStrike" dirty="0">
                        <a:solidFill>
                          <a:srgbClr val="00B050"/>
                        </a:solidFill>
                        <a:effectLst/>
                        <a:latin typeface="Calibri" panose="020F0502020204030204" pitchFamily="34" charset="0"/>
                      </a:endParaRPr>
                    </a:p>
                  </a:txBody>
                  <a:tcPr marL="6649" marR="6649" marT="6649" marB="0" anchor="ctr"/>
                </a:tc>
                <a:extLst>
                  <a:ext uri="{0D108BD9-81ED-4DB2-BD59-A6C34878D82A}">
                    <a16:rowId xmlns:a16="http://schemas.microsoft.com/office/drawing/2014/main" val="1399669070"/>
                  </a:ext>
                </a:extLst>
              </a:tr>
            </a:tbl>
          </a:graphicData>
        </a:graphic>
      </p:graphicFrame>
      <p:sp>
        <p:nvSpPr>
          <p:cNvPr id="3" name="Title 2">
            <a:extLst>
              <a:ext uri="{FF2B5EF4-FFF2-40B4-BE49-F238E27FC236}">
                <a16:creationId xmlns:a16="http://schemas.microsoft.com/office/drawing/2014/main" id="{07337865-392F-D6C6-EEE7-0C7215B662A3}"/>
              </a:ext>
            </a:extLst>
          </p:cNvPr>
          <p:cNvSpPr>
            <a:spLocks noGrp="1"/>
          </p:cNvSpPr>
          <p:nvPr>
            <p:ph type="title"/>
          </p:nvPr>
        </p:nvSpPr>
        <p:spPr/>
        <p:txBody>
          <a:bodyPr/>
          <a:lstStyle/>
          <a:p>
            <a:r>
              <a:rPr lang="en-US" dirty="0"/>
              <a:t>Patch with 16x UMIS UH812a PCIe Gen5 Reference Performance Data</a:t>
            </a:r>
          </a:p>
        </p:txBody>
      </p:sp>
      <p:graphicFrame>
        <p:nvGraphicFramePr>
          <p:cNvPr id="5" name="Table 4">
            <a:extLst>
              <a:ext uri="{FF2B5EF4-FFF2-40B4-BE49-F238E27FC236}">
                <a16:creationId xmlns:a16="http://schemas.microsoft.com/office/drawing/2014/main" id="{AC251140-AA0D-6500-EEC5-2B203C2B0401}"/>
              </a:ext>
            </a:extLst>
          </p:cNvPr>
          <p:cNvGraphicFramePr>
            <a:graphicFrameLocks noGrp="1"/>
          </p:cNvGraphicFramePr>
          <p:nvPr>
            <p:extLst>
              <p:ext uri="{D42A27DB-BD31-4B8C-83A1-F6EECF244321}">
                <p14:modId xmlns:p14="http://schemas.microsoft.com/office/powerpoint/2010/main" val="1776367340"/>
              </p:ext>
            </p:extLst>
          </p:nvPr>
        </p:nvGraphicFramePr>
        <p:xfrm>
          <a:off x="310244" y="4070235"/>
          <a:ext cx="11653836" cy="1522405"/>
        </p:xfrm>
        <a:graphic>
          <a:graphicData uri="http://schemas.openxmlformats.org/drawingml/2006/table">
            <a:tbl>
              <a:tblPr>
                <a:tableStyleId>{5C22544A-7EE6-4342-B048-85BDC9FD1C3A}</a:tableStyleId>
              </a:tblPr>
              <a:tblGrid>
                <a:gridCol w="387902">
                  <a:extLst>
                    <a:ext uri="{9D8B030D-6E8A-4147-A177-3AD203B41FA5}">
                      <a16:colId xmlns:a16="http://schemas.microsoft.com/office/drawing/2014/main" val="1288928377"/>
                    </a:ext>
                  </a:extLst>
                </a:gridCol>
                <a:gridCol w="2547573">
                  <a:extLst>
                    <a:ext uri="{9D8B030D-6E8A-4147-A177-3AD203B41FA5}">
                      <a16:colId xmlns:a16="http://schemas.microsoft.com/office/drawing/2014/main" val="2036823084"/>
                    </a:ext>
                  </a:extLst>
                </a:gridCol>
                <a:gridCol w="874352">
                  <a:extLst>
                    <a:ext uri="{9D8B030D-6E8A-4147-A177-3AD203B41FA5}">
                      <a16:colId xmlns:a16="http://schemas.microsoft.com/office/drawing/2014/main" val="905194409"/>
                    </a:ext>
                  </a:extLst>
                </a:gridCol>
                <a:gridCol w="874352">
                  <a:extLst>
                    <a:ext uri="{9D8B030D-6E8A-4147-A177-3AD203B41FA5}">
                      <a16:colId xmlns:a16="http://schemas.microsoft.com/office/drawing/2014/main" val="2812828821"/>
                    </a:ext>
                  </a:extLst>
                </a:gridCol>
                <a:gridCol w="811449">
                  <a:extLst>
                    <a:ext uri="{9D8B030D-6E8A-4147-A177-3AD203B41FA5}">
                      <a16:colId xmlns:a16="http://schemas.microsoft.com/office/drawing/2014/main" val="955731527"/>
                    </a:ext>
                  </a:extLst>
                </a:gridCol>
                <a:gridCol w="811449">
                  <a:extLst>
                    <a:ext uri="{9D8B030D-6E8A-4147-A177-3AD203B41FA5}">
                      <a16:colId xmlns:a16="http://schemas.microsoft.com/office/drawing/2014/main" val="3040276287"/>
                    </a:ext>
                  </a:extLst>
                </a:gridCol>
                <a:gridCol w="1352416">
                  <a:extLst>
                    <a:ext uri="{9D8B030D-6E8A-4147-A177-3AD203B41FA5}">
                      <a16:colId xmlns:a16="http://schemas.microsoft.com/office/drawing/2014/main" val="3773658073"/>
                    </a:ext>
                  </a:extLst>
                </a:gridCol>
                <a:gridCol w="1000158">
                  <a:extLst>
                    <a:ext uri="{9D8B030D-6E8A-4147-A177-3AD203B41FA5}">
                      <a16:colId xmlns:a16="http://schemas.microsoft.com/office/drawing/2014/main" val="2726056113"/>
                    </a:ext>
                  </a:extLst>
                </a:gridCol>
                <a:gridCol w="993868">
                  <a:extLst>
                    <a:ext uri="{9D8B030D-6E8A-4147-A177-3AD203B41FA5}">
                      <a16:colId xmlns:a16="http://schemas.microsoft.com/office/drawing/2014/main" val="1674292694"/>
                    </a:ext>
                  </a:extLst>
                </a:gridCol>
                <a:gridCol w="1031610">
                  <a:extLst>
                    <a:ext uri="{9D8B030D-6E8A-4147-A177-3AD203B41FA5}">
                      <a16:colId xmlns:a16="http://schemas.microsoft.com/office/drawing/2014/main" val="2956205650"/>
                    </a:ext>
                  </a:extLst>
                </a:gridCol>
                <a:gridCol w="968707">
                  <a:extLst>
                    <a:ext uri="{9D8B030D-6E8A-4147-A177-3AD203B41FA5}">
                      <a16:colId xmlns:a16="http://schemas.microsoft.com/office/drawing/2014/main" val="2416594178"/>
                    </a:ext>
                  </a:extLst>
                </a:gridCol>
              </a:tblGrid>
              <a:tr h="127326">
                <a:tc rowSpan="2">
                  <a:txBody>
                    <a:bodyPr/>
                    <a:lstStyle/>
                    <a:p>
                      <a:pPr algn="ctr" fontAlgn="ctr">
                        <a:buNone/>
                      </a:pPr>
                      <a:r>
                        <a:rPr lang="zh-CN" altLang="en-US" sz="800" u="none" strike="noStrike">
                          <a:effectLst/>
                        </a:rPr>
                        <a:t>容量</a:t>
                      </a:r>
                      <a:endParaRPr lang="zh-CN" altLang="en-US" sz="800" b="1" i="0" u="none" strike="noStrike">
                        <a:solidFill>
                          <a:srgbClr val="000000"/>
                        </a:solidFill>
                        <a:effectLst/>
                        <a:latin typeface="Calibri" panose="020F0502020204030204" pitchFamily="34" charset="0"/>
                      </a:endParaRPr>
                    </a:p>
                  </a:txBody>
                  <a:tcPr marL="5305" marR="5305" marT="5305" marB="0" anchor="ctr"/>
                </a:tc>
                <a:tc rowSpan="2">
                  <a:txBody>
                    <a:bodyPr/>
                    <a:lstStyle/>
                    <a:p>
                      <a:pPr algn="ctr" fontAlgn="ctr">
                        <a:buNone/>
                      </a:pPr>
                      <a:r>
                        <a:rPr lang="zh-CN" altLang="en-US" sz="800" u="none" strike="noStrike" dirty="0">
                          <a:effectLst/>
                        </a:rPr>
                        <a:t>规格</a:t>
                      </a:r>
                      <a:r>
                        <a:rPr lang="en-US" altLang="zh-CN" sz="800" u="none" strike="noStrike" dirty="0">
                          <a:effectLst/>
                        </a:rPr>
                        <a:t>/Intel</a:t>
                      </a:r>
                      <a:r>
                        <a:rPr lang="zh-CN" altLang="en-US" sz="800" u="none" strike="noStrike" dirty="0">
                          <a:effectLst/>
                        </a:rPr>
                        <a:t>平台</a:t>
                      </a:r>
                      <a:r>
                        <a:rPr lang="en-US" altLang="zh-CN" sz="800" u="none" strike="noStrike" dirty="0">
                          <a:effectLst/>
                        </a:rPr>
                        <a:t>16</a:t>
                      </a:r>
                      <a:r>
                        <a:rPr lang="zh-CN" altLang="en-US" sz="800" u="none" strike="noStrike" dirty="0">
                          <a:effectLst/>
                        </a:rPr>
                        <a:t>盘实测</a:t>
                      </a:r>
                      <a:endParaRPr lang="zh-CN" altLang="en-US" sz="800" b="1" i="0" u="none" strike="noStrike" dirty="0">
                        <a:solidFill>
                          <a:srgbClr val="000000"/>
                        </a:solidFill>
                        <a:effectLst/>
                        <a:latin typeface="Calibri" panose="020F0502020204030204" pitchFamily="34" charset="0"/>
                      </a:endParaRPr>
                    </a:p>
                  </a:txBody>
                  <a:tcPr marL="5305" marR="5305" marT="5305" marB="0" anchor="ctr"/>
                </a:tc>
                <a:tc gridSpan="9">
                  <a:txBody>
                    <a:bodyPr/>
                    <a:lstStyle/>
                    <a:p>
                      <a:pPr algn="ctr" fontAlgn="ctr">
                        <a:buNone/>
                      </a:pPr>
                      <a:r>
                        <a:rPr lang="en-US" sz="800" u="none" strike="noStrike">
                          <a:effectLst/>
                        </a:rPr>
                        <a:t>IO</a:t>
                      </a:r>
                      <a:r>
                        <a:rPr lang="zh-CN" altLang="en-US" sz="800" u="none" strike="noStrike">
                          <a:effectLst/>
                        </a:rPr>
                        <a:t>场景</a:t>
                      </a:r>
                      <a:endParaRPr lang="zh-CN" altLang="en-US" sz="800" b="1" i="0" u="none" strike="noStrike">
                        <a:solidFill>
                          <a:srgbClr val="000000"/>
                        </a:solidFill>
                        <a:effectLst/>
                        <a:latin typeface="Calibri" panose="020F0502020204030204" pitchFamily="34" charset="0"/>
                      </a:endParaRPr>
                    </a:p>
                  </a:txBody>
                  <a:tcPr marL="5305" marR="5305" marT="5305"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288624550"/>
                  </a:ext>
                </a:extLst>
              </a:tr>
              <a:tr h="238736">
                <a:tc vMerge="1">
                  <a:txBody>
                    <a:bodyPr/>
                    <a:lstStyle/>
                    <a:p>
                      <a:endParaRPr lang="en-US"/>
                    </a:p>
                  </a:txBody>
                  <a:tcPr/>
                </a:tc>
                <a:tc vMerge="1">
                  <a:txBody>
                    <a:bodyPr/>
                    <a:lstStyle/>
                    <a:p>
                      <a:endParaRPr lang="en-US"/>
                    </a:p>
                  </a:txBody>
                  <a:tcPr/>
                </a:tc>
                <a:tc>
                  <a:txBody>
                    <a:bodyPr/>
                    <a:lstStyle/>
                    <a:p>
                      <a:pPr algn="l" fontAlgn="ctr">
                        <a:buNone/>
                      </a:pPr>
                      <a:r>
                        <a:rPr lang="zh-CN" altLang="en-US" sz="800" u="none" strike="noStrike">
                          <a:effectLst/>
                        </a:rPr>
                        <a:t>顺序读（</a:t>
                      </a:r>
                      <a:r>
                        <a:rPr lang="en-US" altLang="zh-CN" sz="800" u="none" strike="noStrike">
                          <a:effectLst/>
                        </a:rPr>
                        <a:t>128</a:t>
                      </a:r>
                      <a:r>
                        <a:rPr lang="en-US" sz="800" u="none" strike="noStrike">
                          <a:effectLst/>
                        </a:rPr>
                        <a:t>k)-MB/s</a:t>
                      </a:r>
                      <a:endParaRPr lang="en-US" sz="800" b="1" i="0" u="none" strike="noStrike">
                        <a:solidFill>
                          <a:srgbClr val="000000"/>
                        </a:solidFill>
                        <a:effectLst/>
                        <a:latin typeface="Calibri" panose="020F0502020204030204" pitchFamily="34" charset="0"/>
                      </a:endParaRPr>
                    </a:p>
                  </a:txBody>
                  <a:tcPr marL="5305" marR="5305" marT="5305" marB="0" anchor="ctr"/>
                </a:tc>
                <a:tc>
                  <a:txBody>
                    <a:bodyPr/>
                    <a:lstStyle/>
                    <a:p>
                      <a:pPr algn="l" fontAlgn="ctr">
                        <a:buNone/>
                      </a:pPr>
                      <a:r>
                        <a:rPr lang="zh-CN" altLang="en-US" sz="800" u="none" strike="noStrike">
                          <a:effectLst/>
                        </a:rPr>
                        <a:t>顺序写（</a:t>
                      </a:r>
                      <a:r>
                        <a:rPr lang="en-US" altLang="zh-CN" sz="800" u="none" strike="noStrike">
                          <a:effectLst/>
                        </a:rPr>
                        <a:t>128</a:t>
                      </a:r>
                      <a:r>
                        <a:rPr lang="en-US" sz="800" u="none" strike="noStrike">
                          <a:effectLst/>
                        </a:rPr>
                        <a:t>k)-MB/s</a:t>
                      </a:r>
                      <a:endParaRPr lang="en-US" sz="800" b="1" i="0" u="none" strike="noStrike">
                        <a:solidFill>
                          <a:srgbClr val="000000"/>
                        </a:solidFill>
                        <a:effectLst/>
                        <a:latin typeface="Calibri" panose="020F0502020204030204" pitchFamily="34" charset="0"/>
                      </a:endParaRPr>
                    </a:p>
                  </a:txBody>
                  <a:tcPr marL="5305" marR="5305" marT="5305" marB="0" anchor="ctr"/>
                </a:tc>
                <a:tc>
                  <a:txBody>
                    <a:bodyPr/>
                    <a:lstStyle/>
                    <a:p>
                      <a:pPr algn="l" fontAlgn="ctr">
                        <a:buNone/>
                      </a:pPr>
                      <a:r>
                        <a:rPr lang="zh-CN" altLang="en-US" sz="800" u="none" strike="noStrike">
                          <a:effectLst/>
                        </a:rPr>
                        <a:t>随机读</a:t>
                      </a:r>
                      <a:r>
                        <a:rPr lang="en-US" sz="800" u="none" strike="noStrike">
                          <a:effectLst/>
                        </a:rPr>
                        <a:t>IOPS（4k)-k</a:t>
                      </a:r>
                      <a:endParaRPr lang="en-US" sz="800" b="1" i="0" u="none" strike="noStrike">
                        <a:solidFill>
                          <a:srgbClr val="000000"/>
                        </a:solidFill>
                        <a:effectLst/>
                        <a:latin typeface="Calibri" panose="020F0502020204030204" pitchFamily="34" charset="0"/>
                      </a:endParaRPr>
                    </a:p>
                  </a:txBody>
                  <a:tcPr marL="5305" marR="5305" marT="5305" marB="0" anchor="ctr"/>
                </a:tc>
                <a:tc>
                  <a:txBody>
                    <a:bodyPr/>
                    <a:lstStyle/>
                    <a:p>
                      <a:pPr algn="l" fontAlgn="ctr">
                        <a:buNone/>
                      </a:pPr>
                      <a:r>
                        <a:rPr lang="zh-CN" altLang="en-US" sz="800" u="none" strike="noStrike">
                          <a:effectLst/>
                        </a:rPr>
                        <a:t>随机写</a:t>
                      </a:r>
                      <a:r>
                        <a:rPr lang="en-US" sz="800" u="none" strike="noStrike">
                          <a:effectLst/>
                        </a:rPr>
                        <a:t>IOPS（4k)-k</a:t>
                      </a:r>
                      <a:endParaRPr lang="en-US" sz="800" b="1" i="0" u="none" strike="noStrike">
                        <a:solidFill>
                          <a:srgbClr val="000000"/>
                        </a:solidFill>
                        <a:effectLst/>
                        <a:latin typeface="Calibri" panose="020F0502020204030204" pitchFamily="34" charset="0"/>
                      </a:endParaRPr>
                    </a:p>
                  </a:txBody>
                  <a:tcPr marL="5305" marR="5305" marT="5305" marB="0" anchor="ctr"/>
                </a:tc>
                <a:tc>
                  <a:txBody>
                    <a:bodyPr/>
                    <a:lstStyle/>
                    <a:p>
                      <a:pPr algn="l" fontAlgn="ctr">
                        <a:buNone/>
                      </a:pPr>
                      <a:r>
                        <a:rPr lang="zh-CN" altLang="en-US" sz="800" u="none" strike="noStrike">
                          <a:effectLst/>
                        </a:rPr>
                        <a:t>随机混合读写</a:t>
                      </a:r>
                      <a:r>
                        <a:rPr lang="en-US" altLang="zh-CN" sz="800" u="none" strike="noStrike">
                          <a:effectLst/>
                        </a:rPr>
                        <a:t>IOPS</a:t>
                      </a:r>
                      <a:r>
                        <a:rPr lang="zh-CN" altLang="en-US" sz="800" u="none" strike="noStrike">
                          <a:effectLst/>
                        </a:rPr>
                        <a:t>（</a:t>
                      </a:r>
                      <a:r>
                        <a:rPr lang="en-US" altLang="zh-CN" sz="800" u="none" strike="noStrike">
                          <a:effectLst/>
                        </a:rPr>
                        <a:t>4k70</a:t>
                      </a:r>
                      <a:r>
                        <a:rPr lang="zh-CN" altLang="en-US" sz="800" u="none" strike="noStrike">
                          <a:effectLst/>
                        </a:rPr>
                        <a:t>读</a:t>
                      </a:r>
                      <a:r>
                        <a:rPr lang="en-US" altLang="zh-CN" sz="800" u="none" strike="noStrike">
                          <a:effectLst/>
                        </a:rPr>
                        <a:t>30</a:t>
                      </a:r>
                      <a:r>
                        <a:rPr lang="zh-CN" altLang="en-US" sz="800" u="none" strike="noStrike">
                          <a:effectLst/>
                        </a:rPr>
                        <a:t>写</a:t>
                      </a:r>
                      <a:r>
                        <a:rPr lang="en-US" altLang="zh-CN" sz="800" u="none" strike="noStrike">
                          <a:effectLst/>
                        </a:rPr>
                        <a:t>)-k</a:t>
                      </a:r>
                      <a:endParaRPr lang="en-US" altLang="zh-CN" sz="800" b="1" i="0" u="none" strike="noStrike">
                        <a:solidFill>
                          <a:srgbClr val="000000"/>
                        </a:solidFill>
                        <a:effectLst/>
                        <a:latin typeface="Calibri" panose="020F0502020204030204" pitchFamily="34" charset="0"/>
                      </a:endParaRPr>
                    </a:p>
                  </a:txBody>
                  <a:tcPr marL="5305" marR="5305" marT="5305" marB="0" anchor="ctr"/>
                </a:tc>
                <a:tc>
                  <a:txBody>
                    <a:bodyPr/>
                    <a:lstStyle/>
                    <a:p>
                      <a:pPr algn="l" fontAlgn="ctr">
                        <a:buNone/>
                      </a:pPr>
                      <a:r>
                        <a:rPr lang="zh-CN" altLang="en-US" sz="800" u="none" strike="noStrike">
                          <a:effectLst/>
                        </a:rPr>
                        <a:t>随机读</a:t>
                      </a:r>
                      <a:r>
                        <a:rPr lang="en-US" sz="800" u="none" strike="noStrike">
                          <a:effectLst/>
                        </a:rPr>
                        <a:t>QD1</a:t>
                      </a:r>
                      <a:r>
                        <a:rPr lang="zh-CN" altLang="en-US" sz="800" u="none" strike="noStrike">
                          <a:effectLst/>
                        </a:rPr>
                        <a:t>时延（</a:t>
                      </a:r>
                      <a:r>
                        <a:rPr lang="en-US" altLang="zh-CN" sz="800" u="none" strike="noStrike">
                          <a:effectLst/>
                        </a:rPr>
                        <a:t>4</a:t>
                      </a:r>
                      <a:r>
                        <a:rPr lang="en-US" sz="800" u="none" strike="noStrike">
                          <a:effectLst/>
                        </a:rPr>
                        <a:t>k)-us</a:t>
                      </a:r>
                      <a:endParaRPr lang="en-US" sz="800" b="1" i="0" u="none" strike="noStrike">
                        <a:solidFill>
                          <a:srgbClr val="000000"/>
                        </a:solidFill>
                        <a:effectLst/>
                        <a:latin typeface="Calibri" panose="020F0502020204030204" pitchFamily="34" charset="0"/>
                      </a:endParaRPr>
                    </a:p>
                  </a:txBody>
                  <a:tcPr marL="5305" marR="5305" marT="5305" marB="0" anchor="ctr"/>
                </a:tc>
                <a:tc>
                  <a:txBody>
                    <a:bodyPr/>
                    <a:lstStyle/>
                    <a:p>
                      <a:pPr algn="l" fontAlgn="ctr">
                        <a:buNone/>
                      </a:pPr>
                      <a:r>
                        <a:rPr lang="zh-CN" altLang="en-US" sz="800" u="none" strike="noStrike">
                          <a:effectLst/>
                        </a:rPr>
                        <a:t>随机写</a:t>
                      </a:r>
                      <a:r>
                        <a:rPr lang="en-US" sz="800" u="none" strike="noStrike">
                          <a:effectLst/>
                        </a:rPr>
                        <a:t>QD1</a:t>
                      </a:r>
                      <a:r>
                        <a:rPr lang="zh-CN" altLang="en-US" sz="800" u="none" strike="noStrike">
                          <a:effectLst/>
                        </a:rPr>
                        <a:t>时延（</a:t>
                      </a:r>
                      <a:r>
                        <a:rPr lang="en-US" altLang="zh-CN" sz="800" u="none" strike="noStrike">
                          <a:effectLst/>
                        </a:rPr>
                        <a:t>4</a:t>
                      </a:r>
                      <a:r>
                        <a:rPr lang="en-US" sz="800" u="none" strike="noStrike">
                          <a:effectLst/>
                        </a:rPr>
                        <a:t>k)-us</a:t>
                      </a:r>
                      <a:endParaRPr lang="en-US" sz="800" b="1" i="0" u="none" strike="noStrike">
                        <a:solidFill>
                          <a:srgbClr val="000000"/>
                        </a:solidFill>
                        <a:effectLst/>
                        <a:latin typeface="Calibri" panose="020F0502020204030204" pitchFamily="34" charset="0"/>
                      </a:endParaRPr>
                    </a:p>
                  </a:txBody>
                  <a:tcPr marL="5305" marR="5305" marT="5305" marB="0" anchor="ctr"/>
                </a:tc>
                <a:tc>
                  <a:txBody>
                    <a:bodyPr/>
                    <a:lstStyle/>
                    <a:p>
                      <a:pPr algn="l" fontAlgn="ctr">
                        <a:buNone/>
                      </a:pPr>
                      <a:r>
                        <a:rPr lang="zh-CN" altLang="en-US" sz="800" u="none" strike="noStrike">
                          <a:effectLst/>
                        </a:rPr>
                        <a:t>顺序读</a:t>
                      </a:r>
                      <a:r>
                        <a:rPr lang="en-US" sz="800" u="none" strike="noStrike">
                          <a:effectLst/>
                        </a:rPr>
                        <a:t>QD1</a:t>
                      </a:r>
                      <a:r>
                        <a:rPr lang="zh-CN" altLang="en-US" sz="800" u="none" strike="noStrike">
                          <a:effectLst/>
                        </a:rPr>
                        <a:t>时延（</a:t>
                      </a:r>
                      <a:r>
                        <a:rPr lang="en-US" altLang="zh-CN" sz="800" u="none" strike="noStrike">
                          <a:effectLst/>
                        </a:rPr>
                        <a:t>4</a:t>
                      </a:r>
                      <a:r>
                        <a:rPr lang="en-US" sz="800" u="none" strike="noStrike">
                          <a:effectLst/>
                        </a:rPr>
                        <a:t>k)-us</a:t>
                      </a:r>
                      <a:endParaRPr lang="en-US" sz="800" b="1" i="0" u="none" strike="noStrike">
                        <a:solidFill>
                          <a:srgbClr val="000000"/>
                        </a:solidFill>
                        <a:effectLst/>
                        <a:latin typeface="Calibri" panose="020F0502020204030204" pitchFamily="34" charset="0"/>
                      </a:endParaRPr>
                    </a:p>
                  </a:txBody>
                  <a:tcPr marL="5305" marR="5305" marT="5305" marB="0" anchor="ctr"/>
                </a:tc>
                <a:tc>
                  <a:txBody>
                    <a:bodyPr/>
                    <a:lstStyle/>
                    <a:p>
                      <a:pPr algn="l" fontAlgn="ctr">
                        <a:buNone/>
                      </a:pPr>
                      <a:r>
                        <a:rPr lang="zh-CN" altLang="en-US" sz="800" u="none" strike="noStrike">
                          <a:effectLst/>
                        </a:rPr>
                        <a:t>顺序写</a:t>
                      </a:r>
                      <a:r>
                        <a:rPr lang="en-US" sz="800" u="none" strike="noStrike">
                          <a:effectLst/>
                        </a:rPr>
                        <a:t>QD1</a:t>
                      </a:r>
                      <a:r>
                        <a:rPr lang="zh-CN" altLang="en-US" sz="800" u="none" strike="noStrike">
                          <a:effectLst/>
                        </a:rPr>
                        <a:t>时延（</a:t>
                      </a:r>
                      <a:r>
                        <a:rPr lang="en-US" altLang="zh-CN" sz="800" u="none" strike="noStrike">
                          <a:effectLst/>
                        </a:rPr>
                        <a:t>4</a:t>
                      </a:r>
                      <a:r>
                        <a:rPr lang="en-US" sz="800" u="none" strike="noStrike">
                          <a:effectLst/>
                        </a:rPr>
                        <a:t>k)-us</a:t>
                      </a:r>
                      <a:endParaRPr lang="en-US" sz="800" b="1" i="0" u="none" strike="noStrike">
                        <a:solidFill>
                          <a:srgbClr val="000000"/>
                        </a:solidFill>
                        <a:effectLst/>
                        <a:latin typeface="Calibri" panose="020F0502020204030204" pitchFamily="34" charset="0"/>
                      </a:endParaRPr>
                    </a:p>
                  </a:txBody>
                  <a:tcPr marL="5305" marR="5305" marT="5305" marB="0" anchor="ctr"/>
                </a:tc>
                <a:extLst>
                  <a:ext uri="{0D108BD9-81ED-4DB2-BD59-A6C34878D82A}">
                    <a16:rowId xmlns:a16="http://schemas.microsoft.com/office/drawing/2014/main" val="4190239758"/>
                  </a:ext>
                </a:extLst>
              </a:tr>
              <a:tr h="127326">
                <a:tc rowSpan="9">
                  <a:txBody>
                    <a:bodyPr/>
                    <a:lstStyle/>
                    <a:p>
                      <a:pPr algn="ctr" fontAlgn="ctr">
                        <a:buNone/>
                      </a:pPr>
                      <a:r>
                        <a:rPr lang="en-US" sz="800" u="none" strike="noStrike">
                          <a:effectLst/>
                        </a:rPr>
                        <a:t>7680G</a:t>
                      </a:r>
                      <a:endParaRPr lang="en-US" sz="800" b="1" i="0" u="none" strike="noStrike">
                        <a:solidFill>
                          <a:srgbClr val="000000"/>
                        </a:solidFill>
                        <a:effectLst/>
                        <a:latin typeface="Calibri" panose="020F0502020204030204" pitchFamily="34" charset="0"/>
                      </a:endParaRPr>
                    </a:p>
                  </a:txBody>
                  <a:tcPr marL="5305" marR="5305" marT="5305" marB="0" anchor="ctr"/>
                </a:tc>
                <a:tc>
                  <a:txBody>
                    <a:bodyPr/>
                    <a:lstStyle/>
                    <a:p>
                      <a:pPr algn="l" fontAlgn="ctr">
                        <a:buNone/>
                      </a:pPr>
                      <a:r>
                        <a:rPr lang="zh-CN" altLang="en-US" sz="800" u="none" strike="noStrike">
                          <a:effectLst/>
                        </a:rPr>
                        <a:t>单盘规格</a:t>
                      </a:r>
                      <a:endParaRPr lang="zh-CN" altLang="en-US" sz="800" b="0" i="0" u="none" strike="noStrike">
                        <a:solidFill>
                          <a:srgbClr val="000000"/>
                        </a:solidFill>
                        <a:effectLst/>
                        <a:latin typeface="Calibri" panose="020F0502020204030204" pitchFamily="34" charset="0"/>
                      </a:endParaRPr>
                    </a:p>
                  </a:txBody>
                  <a:tcPr marL="5305" marR="5305" marT="5305" marB="0" anchor="ctr"/>
                </a:tc>
                <a:tc>
                  <a:txBody>
                    <a:bodyPr/>
                    <a:lstStyle/>
                    <a:p>
                      <a:pPr algn="r" fontAlgn="ctr">
                        <a:buNone/>
                      </a:pPr>
                      <a:r>
                        <a:rPr lang="en-US" sz="800" u="none" strike="noStrike">
                          <a:effectLst/>
                        </a:rPr>
                        <a:t>14800</a:t>
                      </a:r>
                      <a:endParaRPr lang="en-US" sz="800" b="0" i="0" u="none" strike="noStrike">
                        <a:solidFill>
                          <a:srgbClr val="000000"/>
                        </a:solidFill>
                        <a:effectLst/>
                        <a:latin typeface="Calibri" panose="020F0502020204030204" pitchFamily="34" charset="0"/>
                      </a:endParaRPr>
                    </a:p>
                  </a:txBody>
                  <a:tcPr marL="5305" marR="5305" marT="5305" marB="0" anchor="ctr"/>
                </a:tc>
                <a:tc>
                  <a:txBody>
                    <a:bodyPr/>
                    <a:lstStyle/>
                    <a:p>
                      <a:pPr algn="r" fontAlgn="ctr">
                        <a:buNone/>
                      </a:pPr>
                      <a:r>
                        <a:rPr lang="en-US" sz="800" u="none" strike="noStrike">
                          <a:effectLst/>
                        </a:rPr>
                        <a:t>10000</a:t>
                      </a:r>
                      <a:endParaRPr lang="en-US" sz="800" b="0" i="0" u="none" strike="noStrike">
                        <a:solidFill>
                          <a:srgbClr val="000000"/>
                        </a:solidFill>
                        <a:effectLst/>
                        <a:latin typeface="Calibri" panose="020F0502020204030204" pitchFamily="34" charset="0"/>
                      </a:endParaRPr>
                    </a:p>
                  </a:txBody>
                  <a:tcPr marL="5305" marR="5305" marT="5305" marB="0" anchor="ctr"/>
                </a:tc>
                <a:tc>
                  <a:txBody>
                    <a:bodyPr/>
                    <a:lstStyle/>
                    <a:p>
                      <a:pPr algn="r" fontAlgn="ctr">
                        <a:buNone/>
                      </a:pPr>
                      <a:r>
                        <a:rPr lang="en-US" sz="800" u="none" strike="noStrike">
                          <a:effectLst/>
                        </a:rPr>
                        <a:t>3100</a:t>
                      </a:r>
                      <a:endParaRPr lang="en-US" sz="800" b="0" i="0" u="none" strike="noStrike">
                        <a:solidFill>
                          <a:srgbClr val="000000"/>
                        </a:solidFill>
                        <a:effectLst/>
                        <a:latin typeface="Calibri" panose="020F0502020204030204" pitchFamily="34" charset="0"/>
                      </a:endParaRPr>
                    </a:p>
                  </a:txBody>
                  <a:tcPr marL="5305" marR="5305" marT="5305" marB="0" anchor="ctr"/>
                </a:tc>
                <a:tc>
                  <a:txBody>
                    <a:bodyPr/>
                    <a:lstStyle/>
                    <a:p>
                      <a:pPr algn="r" fontAlgn="ctr">
                        <a:buNone/>
                      </a:pPr>
                      <a:r>
                        <a:rPr lang="en-US" sz="800" u="none" strike="noStrike">
                          <a:effectLst/>
                        </a:rPr>
                        <a:t>410</a:t>
                      </a:r>
                      <a:endParaRPr lang="en-US" sz="800" b="0" i="0" u="none" strike="noStrike">
                        <a:solidFill>
                          <a:srgbClr val="000000"/>
                        </a:solidFill>
                        <a:effectLst/>
                        <a:latin typeface="Calibri" panose="020F0502020204030204" pitchFamily="34" charset="0"/>
                      </a:endParaRPr>
                    </a:p>
                  </a:txBody>
                  <a:tcPr marL="5305" marR="5305" marT="5305" marB="0" anchor="ctr"/>
                </a:tc>
                <a:tc>
                  <a:txBody>
                    <a:bodyPr/>
                    <a:lstStyle/>
                    <a:p>
                      <a:pPr algn="r" fontAlgn="ctr">
                        <a:buNone/>
                      </a:pPr>
                      <a:r>
                        <a:rPr lang="en-US" sz="800" u="none" strike="noStrike">
                          <a:effectLst/>
                        </a:rPr>
                        <a:t>696</a:t>
                      </a:r>
                      <a:endParaRPr lang="en-US" sz="800" b="0" i="0" u="none" strike="noStrike">
                        <a:solidFill>
                          <a:srgbClr val="000000"/>
                        </a:solidFill>
                        <a:effectLst/>
                        <a:latin typeface="Calibri" panose="020F0502020204030204" pitchFamily="34" charset="0"/>
                      </a:endParaRPr>
                    </a:p>
                  </a:txBody>
                  <a:tcPr marL="5305" marR="5305" marT="5305" marB="0" anchor="ctr"/>
                </a:tc>
                <a:tc>
                  <a:txBody>
                    <a:bodyPr/>
                    <a:lstStyle/>
                    <a:p>
                      <a:pPr algn="r" fontAlgn="ctr">
                        <a:buNone/>
                      </a:pPr>
                      <a:r>
                        <a:rPr lang="en-US" sz="800" u="none" strike="noStrike">
                          <a:effectLst/>
                        </a:rPr>
                        <a:t>55</a:t>
                      </a:r>
                      <a:endParaRPr lang="en-US" sz="800" b="0" i="0" u="none" strike="noStrike">
                        <a:solidFill>
                          <a:srgbClr val="000000"/>
                        </a:solidFill>
                        <a:effectLst/>
                        <a:latin typeface="Calibri" panose="020F0502020204030204" pitchFamily="34" charset="0"/>
                      </a:endParaRPr>
                    </a:p>
                  </a:txBody>
                  <a:tcPr marL="5305" marR="5305" marT="5305" marB="0" anchor="ctr"/>
                </a:tc>
                <a:tc>
                  <a:txBody>
                    <a:bodyPr/>
                    <a:lstStyle/>
                    <a:p>
                      <a:pPr algn="r" fontAlgn="ctr">
                        <a:buNone/>
                      </a:pPr>
                      <a:r>
                        <a:rPr lang="en-US" sz="800" u="none" strike="noStrike">
                          <a:effectLst/>
                        </a:rPr>
                        <a:t>9</a:t>
                      </a:r>
                      <a:endParaRPr lang="en-US" sz="800" b="0" i="0" u="none" strike="noStrike">
                        <a:solidFill>
                          <a:srgbClr val="000000"/>
                        </a:solidFill>
                        <a:effectLst/>
                        <a:latin typeface="Calibri" panose="020F0502020204030204" pitchFamily="34" charset="0"/>
                      </a:endParaRPr>
                    </a:p>
                  </a:txBody>
                  <a:tcPr marL="5305" marR="5305" marT="5305" marB="0" anchor="ctr"/>
                </a:tc>
                <a:tc>
                  <a:txBody>
                    <a:bodyPr/>
                    <a:lstStyle/>
                    <a:p>
                      <a:pPr algn="r" fontAlgn="ctr">
                        <a:buNone/>
                      </a:pPr>
                      <a:r>
                        <a:rPr lang="en-US" sz="800" u="none" strike="noStrike">
                          <a:effectLst/>
                        </a:rPr>
                        <a:t>8</a:t>
                      </a:r>
                      <a:endParaRPr lang="en-US" sz="800" b="0" i="0" u="none" strike="noStrike">
                        <a:solidFill>
                          <a:srgbClr val="000000"/>
                        </a:solidFill>
                        <a:effectLst/>
                        <a:latin typeface="Calibri" panose="020F0502020204030204" pitchFamily="34" charset="0"/>
                      </a:endParaRPr>
                    </a:p>
                  </a:txBody>
                  <a:tcPr marL="5305" marR="5305" marT="5305" marB="0" anchor="ctr"/>
                </a:tc>
                <a:tc>
                  <a:txBody>
                    <a:bodyPr/>
                    <a:lstStyle/>
                    <a:p>
                      <a:pPr algn="r" fontAlgn="ctr">
                        <a:buNone/>
                      </a:pPr>
                      <a:r>
                        <a:rPr lang="en-US" sz="800" u="none" strike="noStrike">
                          <a:effectLst/>
                        </a:rPr>
                        <a:t>9</a:t>
                      </a:r>
                      <a:endParaRPr lang="en-US" sz="800" b="0" i="0" u="none" strike="noStrike">
                        <a:solidFill>
                          <a:srgbClr val="000000"/>
                        </a:solidFill>
                        <a:effectLst/>
                        <a:latin typeface="Calibri" panose="020F0502020204030204" pitchFamily="34" charset="0"/>
                      </a:endParaRPr>
                    </a:p>
                  </a:txBody>
                  <a:tcPr marL="5305" marR="5305" marT="5305" marB="0" anchor="ctr"/>
                </a:tc>
                <a:extLst>
                  <a:ext uri="{0D108BD9-81ED-4DB2-BD59-A6C34878D82A}">
                    <a16:rowId xmlns:a16="http://schemas.microsoft.com/office/drawing/2014/main" val="259037962"/>
                  </a:ext>
                </a:extLst>
              </a:tr>
              <a:tr h="127326">
                <a:tc vMerge="1">
                  <a:txBody>
                    <a:bodyPr/>
                    <a:lstStyle/>
                    <a:p>
                      <a:endParaRPr lang="en-US"/>
                    </a:p>
                  </a:txBody>
                  <a:tcPr/>
                </a:tc>
                <a:tc>
                  <a:txBody>
                    <a:bodyPr/>
                    <a:lstStyle/>
                    <a:p>
                      <a:pPr algn="l" fontAlgn="ctr">
                        <a:buNone/>
                      </a:pPr>
                      <a:r>
                        <a:rPr lang="en-US" altLang="zh-CN" sz="800" u="none" strike="noStrike">
                          <a:effectLst/>
                        </a:rPr>
                        <a:t>16</a:t>
                      </a:r>
                      <a:r>
                        <a:rPr lang="zh-CN" altLang="en-US" sz="800" u="none" strike="noStrike">
                          <a:effectLst/>
                        </a:rPr>
                        <a:t>盘规格</a:t>
                      </a:r>
                      <a:endParaRPr lang="zh-CN" altLang="en-US" sz="800" b="0" i="0" u="none" strike="noStrike">
                        <a:solidFill>
                          <a:srgbClr val="000000"/>
                        </a:solidFill>
                        <a:effectLst/>
                        <a:latin typeface="Calibri" panose="020F0502020204030204" pitchFamily="34" charset="0"/>
                      </a:endParaRPr>
                    </a:p>
                  </a:txBody>
                  <a:tcPr marL="5305" marR="5305" marT="5305" marB="0" anchor="ctr"/>
                </a:tc>
                <a:tc>
                  <a:txBody>
                    <a:bodyPr/>
                    <a:lstStyle/>
                    <a:p>
                      <a:pPr algn="r" fontAlgn="ctr">
                        <a:buNone/>
                      </a:pPr>
                      <a:r>
                        <a:rPr lang="en-US" sz="800" u="none" strike="noStrike">
                          <a:effectLst/>
                        </a:rPr>
                        <a:t>236800</a:t>
                      </a:r>
                      <a:endParaRPr lang="en-US" sz="800" b="0" i="0" u="none" strike="noStrike">
                        <a:solidFill>
                          <a:srgbClr val="000000"/>
                        </a:solidFill>
                        <a:effectLst/>
                        <a:latin typeface="Calibri" panose="020F0502020204030204" pitchFamily="34" charset="0"/>
                      </a:endParaRPr>
                    </a:p>
                  </a:txBody>
                  <a:tcPr marL="5305" marR="5305" marT="5305" marB="0" anchor="ctr"/>
                </a:tc>
                <a:tc>
                  <a:txBody>
                    <a:bodyPr/>
                    <a:lstStyle/>
                    <a:p>
                      <a:pPr algn="r" fontAlgn="ctr">
                        <a:buNone/>
                      </a:pPr>
                      <a:r>
                        <a:rPr lang="en-US" sz="800" u="none" strike="noStrike">
                          <a:effectLst/>
                        </a:rPr>
                        <a:t>160000</a:t>
                      </a:r>
                      <a:endParaRPr lang="en-US" sz="800" b="0" i="0" u="none" strike="noStrike">
                        <a:solidFill>
                          <a:srgbClr val="000000"/>
                        </a:solidFill>
                        <a:effectLst/>
                        <a:latin typeface="Calibri" panose="020F0502020204030204" pitchFamily="34" charset="0"/>
                      </a:endParaRPr>
                    </a:p>
                  </a:txBody>
                  <a:tcPr marL="5305" marR="5305" marT="5305" marB="0" anchor="ctr"/>
                </a:tc>
                <a:tc>
                  <a:txBody>
                    <a:bodyPr/>
                    <a:lstStyle/>
                    <a:p>
                      <a:pPr algn="r" fontAlgn="ctr">
                        <a:buNone/>
                      </a:pPr>
                      <a:r>
                        <a:rPr lang="en-US" sz="800" u="none" strike="noStrike">
                          <a:effectLst/>
                        </a:rPr>
                        <a:t>49600</a:t>
                      </a:r>
                      <a:endParaRPr lang="en-US" sz="800" b="0" i="0" u="none" strike="noStrike">
                        <a:solidFill>
                          <a:srgbClr val="000000"/>
                        </a:solidFill>
                        <a:effectLst/>
                        <a:latin typeface="Calibri" panose="020F0502020204030204" pitchFamily="34" charset="0"/>
                      </a:endParaRPr>
                    </a:p>
                  </a:txBody>
                  <a:tcPr marL="5305" marR="5305" marT="5305" marB="0" anchor="ctr"/>
                </a:tc>
                <a:tc>
                  <a:txBody>
                    <a:bodyPr/>
                    <a:lstStyle/>
                    <a:p>
                      <a:pPr algn="r" fontAlgn="ctr">
                        <a:buNone/>
                      </a:pPr>
                      <a:r>
                        <a:rPr lang="en-US" sz="800" u="none" strike="noStrike">
                          <a:effectLst/>
                        </a:rPr>
                        <a:t>6560</a:t>
                      </a:r>
                      <a:endParaRPr lang="en-US" sz="800" b="0" i="0" u="none" strike="noStrike">
                        <a:solidFill>
                          <a:srgbClr val="000000"/>
                        </a:solidFill>
                        <a:effectLst/>
                        <a:latin typeface="Calibri" panose="020F0502020204030204" pitchFamily="34" charset="0"/>
                      </a:endParaRPr>
                    </a:p>
                  </a:txBody>
                  <a:tcPr marL="5305" marR="5305" marT="5305" marB="0" anchor="ctr"/>
                </a:tc>
                <a:tc>
                  <a:txBody>
                    <a:bodyPr/>
                    <a:lstStyle/>
                    <a:p>
                      <a:pPr algn="r" fontAlgn="ctr">
                        <a:buNone/>
                      </a:pPr>
                      <a:r>
                        <a:rPr lang="en-US" sz="800" u="none" strike="noStrike">
                          <a:effectLst/>
                        </a:rPr>
                        <a:t>11136</a:t>
                      </a:r>
                      <a:endParaRPr lang="en-US" sz="800" b="0" i="0" u="none" strike="noStrike">
                        <a:solidFill>
                          <a:srgbClr val="000000"/>
                        </a:solidFill>
                        <a:effectLst/>
                        <a:latin typeface="Calibri" panose="020F0502020204030204" pitchFamily="34" charset="0"/>
                      </a:endParaRPr>
                    </a:p>
                  </a:txBody>
                  <a:tcPr marL="5305" marR="5305" marT="5305" marB="0" anchor="ctr"/>
                </a:tc>
                <a:tc>
                  <a:txBody>
                    <a:bodyPr/>
                    <a:lstStyle/>
                    <a:p>
                      <a:pPr algn="r" fontAlgn="ctr">
                        <a:buNone/>
                      </a:pPr>
                      <a:r>
                        <a:rPr lang="en-US" sz="800" u="none" strike="noStrike">
                          <a:effectLst/>
                        </a:rPr>
                        <a:t>55</a:t>
                      </a:r>
                      <a:endParaRPr lang="en-US" sz="800" b="0" i="0" u="none" strike="noStrike">
                        <a:solidFill>
                          <a:srgbClr val="000000"/>
                        </a:solidFill>
                        <a:effectLst/>
                        <a:latin typeface="Calibri" panose="020F0502020204030204" pitchFamily="34" charset="0"/>
                      </a:endParaRPr>
                    </a:p>
                  </a:txBody>
                  <a:tcPr marL="5305" marR="5305" marT="5305" marB="0" anchor="ctr"/>
                </a:tc>
                <a:tc>
                  <a:txBody>
                    <a:bodyPr/>
                    <a:lstStyle/>
                    <a:p>
                      <a:pPr algn="r" fontAlgn="ctr">
                        <a:buNone/>
                      </a:pPr>
                      <a:r>
                        <a:rPr lang="en-US" sz="800" u="none" strike="noStrike">
                          <a:effectLst/>
                        </a:rPr>
                        <a:t>9</a:t>
                      </a:r>
                      <a:endParaRPr lang="en-US" sz="800" b="0" i="0" u="none" strike="noStrike">
                        <a:solidFill>
                          <a:srgbClr val="000000"/>
                        </a:solidFill>
                        <a:effectLst/>
                        <a:latin typeface="Calibri" panose="020F0502020204030204" pitchFamily="34" charset="0"/>
                      </a:endParaRPr>
                    </a:p>
                  </a:txBody>
                  <a:tcPr marL="5305" marR="5305" marT="5305" marB="0" anchor="ctr"/>
                </a:tc>
                <a:tc>
                  <a:txBody>
                    <a:bodyPr/>
                    <a:lstStyle/>
                    <a:p>
                      <a:pPr algn="r" fontAlgn="ctr">
                        <a:buNone/>
                      </a:pPr>
                      <a:r>
                        <a:rPr lang="en-US" sz="800" u="none" strike="noStrike">
                          <a:effectLst/>
                        </a:rPr>
                        <a:t>8</a:t>
                      </a:r>
                      <a:endParaRPr lang="en-US" sz="800" b="0" i="0" u="none" strike="noStrike">
                        <a:solidFill>
                          <a:srgbClr val="000000"/>
                        </a:solidFill>
                        <a:effectLst/>
                        <a:latin typeface="Calibri" panose="020F0502020204030204" pitchFamily="34" charset="0"/>
                      </a:endParaRPr>
                    </a:p>
                  </a:txBody>
                  <a:tcPr marL="5305" marR="5305" marT="5305" marB="0" anchor="ctr"/>
                </a:tc>
                <a:tc>
                  <a:txBody>
                    <a:bodyPr/>
                    <a:lstStyle/>
                    <a:p>
                      <a:pPr algn="r" fontAlgn="ctr">
                        <a:buNone/>
                      </a:pPr>
                      <a:r>
                        <a:rPr lang="en-US" sz="800" u="none" strike="noStrike">
                          <a:effectLst/>
                        </a:rPr>
                        <a:t>9</a:t>
                      </a:r>
                      <a:endParaRPr lang="en-US" sz="800" b="0" i="0" u="none" strike="noStrike">
                        <a:solidFill>
                          <a:srgbClr val="000000"/>
                        </a:solidFill>
                        <a:effectLst/>
                        <a:latin typeface="Calibri" panose="020F0502020204030204" pitchFamily="34" charset="0"/>
                      </a:endParaRPr>
                    </a:p>
                  </a:txBody>
                  <a:tcPr marL="5305" marR="5305" marT="5305" marB="0" anchor="ctr"/>
                </a:tc>
                <a:extLst>
                  <a:ext uri="{0D108BD9-81ED-4DB2-BD59-A6C34878D82A}">
                    <a16:rowId xmlns:a16="http://schemas.microsoft.com/office/drawing/2014/main" val="1294059676"/>
                  </a:ext>
                </a:extLst>
              </a:tr>
              <a:tr h="127326">
                <a:tc vMerge="1">
                  <a:txBody>
                    <a:bodyPr/>
                    <a:lstStyle/>
                    <a:p>
                      <a:endParaRPr lang="en-US"/>
                    </a:p>
                  </a:txBody>
                  <a:tcPr/>
                </a:tc>
                <a:tc>
                  <a:txBody>
                    <a:bodyPr/>
                    <a:lstStyle/>
                    <a:p>
                      <a:pPr algn="l" fontAlgn="ctr">
                        <a:buNone/>
                      </a:pPr>
                      <a:r>
                        <a:rPr lang="en-US" sz="800" u="none" strike="noStrike">
                          <a:effectLst/>
                        </a:rPr>
                        <a:t> </a:t>
                      </a:r>
                      <a:endParaRPr lang="en-US" sz="800" b="0" i="0" u="none" strike="noStrike">
                        <a:solidFill>
                          <a:srgbClr val="000000"/>
                        </a:solidFill>
                        <a:effectLst/>
                        <a:latin typeface="Calibri" panose="020F0502020204030204" pitchFamily="34" charset="0"/>
                      </a:endParaRPr>
                    </a:p>
                  </a:txBody>
                  <a:tcPr marL="5305" marR="5305" marT="5305" marB="0" anchor="ctr"/>
                </a:tc>
                <a:tc>
                  <a:txBody>
                    <a:bodyPr/>
                    <a:lstStyle/>
                    <a:p>
                      <a:pPr algn="l" fontAlgn="ctr">
                        <a:buNone/>
                      </a:pPr>
                      <a:r>
                        <a:rPr lang="en-US" sz="800" u="none" strike="noStrike">
                          <a:effectLst/>
                        </a:rPr>
                        <a:t> </a:t>
                      </a:r>
                      <a:endParaRPr lang="en-US" sz="800" b="0" i="0" u="none" strike="noStrike">
                        <a:solidFill>
                          <a:srgbClr val="000000"/>
                        </a:solidFill>
                        <a:effectLst/>
                        <a:latin typeface="Calibri" panose="020F0502020204030204" pitchFamily="34" charset="0"/>
                      </a:endParaRPr>
                    </a:p>
                  </a:txBody>
                  <a:tcPr marL="5305" marR="5305" marT="5305" marB="0" anchor="ctr"/>
                </a:tc>
                <a:tc>
                  <a:txBody>
                    <a:bodyPr/>
                    <a:lstStyle/>
                    <a:p>
                      <a:pPr algn="l" fontAlgn="ctr">
                        <a:buNone/>
                      </a:pPr>
                      <a:r>
                        <a:rPr lang="en-US" sz="800" u="none" strike="noStrike">
                          <a:effectLst/>
                        </a:rPr>
                        <a:t> </a:t>
                      </a:r>
                      <a:endParaRPr lang="en-US" sz="800" b="0" i="0" u="none" strike="noStrike">
                        <a:solidFill>
                          <a:srgbClr val="000000"/>
                        </a:solidFill>
                        <a:effectLst/>
                        <a:latin typeface="Calibri" panose="020F0502020204030204" pitchFamily="34" charset="0"/>
                      </a:endParaRPr>
                    </a:p>
                  </a:txBody>
                  <a:tcPr marL="5305" marR="5305" marT="5305" marB="0" anchor="ctr"/>
                </a:tc>
                <a:tc>
                  <a:txBody>
                    <a:bodyPr/>
                    <a:lstStyle/>
                    <a:p>
                      <a:pPr algn="l" fontAlgn="ctr">
                        <a:buNone/>
                      </a:pPr>
                      <a:r>
                        <a:rPr lang="en-US" sz="800" u="none" strike="noStrike">
                          <a:effectLst/>
                        </a:rPr>
                        <a:t> </a:t>
                      </a:r>
                      <a:endParaRPr lang="en-US" sz="800" b="0" i="0" u="none" strike="noStrike">
                        <a:solidFill>
                          <a:srgbClr val="000000"/>
                        </a:solidFill>
                        <a:effectLst/>
                        <a:latin typeface="Calibri" panose="020F0502020204030204" pitchFamily="34" charset="0"/>
                      </a:endParaRPr>
                    </a:p>
                  </a:txBody>
                  <a:tcPr marL="5305" marR="5305" marT="5305" marB="0" anchor="ctr"/>
                </a:tc>
                <a:tc>
                  <a:txBody>
                    <a:bodyPr/>
                    <a:lstStyle/>
                    <a:p>
                      <a:pPr algn="l" fontAlgn="ctr">
                        <a:buNone/>
                      </a:pPr>
                      <a:r>
                        <a:rPr lang="en-US" sz="800" u="none" strike="noStrike">
                          <a:effectLst/>
                        </a:rPr>
                        <a:t> </a:t>
                      </a:r>
                      <a:endParaRPr lang="en-US" sz="800" b="0" i="0" u="none" strike="noStrike">
                        <a:solidFill>
                          <a:srgbClr val="000000"/>
                        </a:solidFill>
                        <a:effectLst/>
                        <a:latin typeface="Calibri" panose="020F0502020204030204" pitchFamily="34" charset="0"/>
                      </a:endParaRPr>
                    </a:p>
                  </a:txBody>
                  <a:tcPr marL="5305" marR="5305" marT="5305" marB="0" anchor="ctr"/>
                </a:tc>
                <a:tc>
                  <a:txBody>
                    <a:bodyPr/>
                    <a:lstStyle/>
                    <a:p>
                      <a:pPr algn="l" fontAlgn="ctr">
                        <a:buNone/>
                      </a:pPr>
                      <a:r>
                        <a:rPr lang="en-US" sz="800" u="none" strike="noStrike">
                          <a:effectLst/>
                        </a:rPr>
                        <a:t> </a:t>
                      </a:r>
                      <a:endParaRPr lang="en-US" sz="800" b="0" i="0" u="none" strike="noStrike">
                        <a:solidFill>
                          <a:srgbClr val="000000"/>
                        </a:solidFill>
                        <a:effectLst/>
                        <a:latin typeface="Calibri" panose="020F0502020204030204" pitchFamily="34" charset="0"/>
                      </a:endParaRPr>
                    </a:p>
                  </a:txBody>
                  <a:tcPr marL="5305" marR="5305" marT="5305" marB="0" anchor="ctr"/>
                </a:tc>
                <a:tc>
                  <a:txBody>
                    <a:bodyPr/>
                    <a:lstStyle/>
                    <a:p>
                      <a:pPr algn="l" fontAlgn="ctr">
                        <a:buNone/>
                      </a:pPr>
                      <a:r>
                        <a:rPr lang="en-US" sz="800" u="none" strike="noStrike">
                          <a:effectLst/>
                        </a:rPr>
                        <a:t> </a:t>
                      </a:r>
                      <a:endParaRPr lang="en-US" sz="800" b="0" i="0" u="none" strike="noStrike">
                        <a:solidFill>
                          <a:srgbClr val="000000"/>
                        </a:solidFill>
                        <a:effectLst/>
                        <a:latin typeface="Calibri" panose="020F0502020204030204" pitchFamily="34" charset="0"/>
                      </a:endParaRPr>
                    </a:p>
                  </a:txBody>
                  <a:tcPr marL="5305" marR="5305" marT="5305" marB="0" anchor="ctr"/>
                </a:tc>
                <a:tc>
                  <a:txBody>
                    <a:bodyPr/>
                    <a:lstStyle/>
                    <a:p>
                      <a:pPr algn="l" fontAlgn="ctr">
                        <a:buNone/>
                      </a:pPr>
                      <a:r>
                        <a:rPr lang="en-US" sz="800" u="none" strike="noStrike">
                          <a:effectLst/>
                        </a:rPr>
                        <a:t> </a:t>
                      </a:r>
                      <a:endParaRPr lang="en-US" sz="800" b="0" i="0" u="none" strike="noStrike">
                        <a:solidFill>
                          <a:srgbClr val="000000"/>
                        </a:solidFill>
                        <a:effectLst/>
                        <a:latin typeface="Calibri" panose="020F0502020204030204" pitchFamily="34" charset="0"/>
                      </a:endParaRPr>
                    </a:p>
                  </a:txBody>
                  <a:tcPr marL="5305" marR="5305" marT="5305" marB="0" anchor="ctr"/>
                </a:tc>
                <a:tc>
                  <a:txBody>
                    <a:bodyPr/>
                    <a:lstStyle/>
                    <a:p>
                      <a:pPr algn="l" fontAlgn="ctr">
                        <a:buNone/>
                      </a:pPr>
                      <a:r>
                        <a:rPr lang="en-US" sz="800" u="none" strike="noStrike">
                          <a:effectLst/>
                        </a:rPr>
                        <a:t> </a:t>
                      </a:r>
                      <a:endParaRPr lang="en-US" sz="800" b="0" i="0" u="none" strike="noStrike">
                        <a:solidFill>
                          <a:srgbClr val="000000"/>
                        </a:solidFill>
                        <a:effectLst/>
                        <a:latin typeface="Calibri" panose="020F0502020204030204" pitchFamily="34" charset="0"/>
                      </a:endParaRPr>
                    </a:p>
                  </a:txBody>
                  <a:tcPr marL="5305" marR="5305" marT="5305" marB="0" anchor="ctr"/>
                </a:tc>
                <a:tc>
                  <a:txBody>
                    <a:bodyPr/>
                    <a:lstStyle/>
                    <a:p>
                      <a:pPr algn="l" fontAlgn="ctr">
                        <a:buNone/>
                      </a:pPr>
                      <a:r>
                        <a:rPr lang="en-US" sz="800" u="none" strike="noStrike">
                          <a:effectLst/>
                        </a:rPr>
                        <a:t> </a:t>
                      </a:r>
                      <a:endParaRPr lang="en-US" sz="800" b="0" i="0" u="none" strike="noStrike">
                        <a:solidFill>
                          <a:srgbClr val="000000"/>
                        </a:solidFill>
                        <a:effectLst/>
                        <a:latin typeface="Calibri" panose="020F0502020204030204" pitchFamily="34" charset="0"/>
                      </a:endParaRPr>
                    </a:p>
                  </a:txBody>
                  <a:tcPr marL="5305" marR="5305" marT="5305" marB="0" anchor="ctr"/>
                </a:tc>
                <a:extLst>
                  <a:ext uri="{0D108BD9-81ED-4DB2-BD59-A6C34878D82A}">
                    <a16:rowId xmlns:a16="http://schemas.microsoft.com/office/drawing/2014/main" val="2767057972"/>
                  </a:ext>
                </a:extLst>
              </a:tr>
              <a:tr h="127326">
                <a:tc vMerge="1">
                  <a:txBody>
                    <a:bodyPr/>
                    <a:lstStyle/>
                    <a:p>
                      <a:endParaRPr lang="en-US"/>
                    </a:p>
                  </a:txBody>
                  <a:tcPr/>
                </a:tc>
                <a:tc gridSpan="10">
                  <a:txBody>
                    <a:bodyPr/>
                    <a:lstStyle/>
                    <a:p>
                      <a:pPr algn="l" fontAlgn="ctr">
                        <a:buNone/>
                      </a:pPr>
                      <a:r>
                        <a:rPr lang="en-US" sz="800" u="none" strike="noStrike">
                          <a:effectLst/>
                        </a:rPr>
                        <a:t>kernel</a:t>
                      </a:r>
                      <a:endParaRPr lang="en-US" sz="800" b="1" i="0" u="none" strike="noStrike">
                        <a:solidFill>
                          <a:srgbClr val="FF0000"/>
                        </a:solidFill>
                        <a:effectLst/>
                        <a:latin typeface="Calibri" panose="020F0502020204030204" pitchFamily="34" charset="0"/>
                      </a:endParaRPr>
                    </a:p>
                  </a:txBody>
                  <a:tcPr marL="5305" marR="5305" marT="5305"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079976858"/>
                  </a:ext>
                </a:extLst>
              </a:tr>
              <a:tr h="127326">
                <a:tc vMerge="1">
                  <a:txBody>
                    <a:bodyPr/>
                    <a:lstStyle/>
                    <a:p>
                      <a:endParaRPr lang="en-US"/>
                    </a:p>
                  </a:txBody>
                  <a:tcPr/>
                </a:tc>
                <a:tc>
                  <a:txBody>
                    <a:bodyPr/>
                    <a:lstStyle/>
                    <a:p>
                      <a:pPr algn="l" fontAlgn="ctr">
                        <a:buNone/>
                      </a:pPr>
                      <a:r>
                        <a:rPr lang="en-US" altLang="zh-CN" sz="800" u="none" strike="noStrike">
                          <a:effectLst/>
                        </a:rPr>
                        <a:t>Intel</a:t>
                      </a:r>
                      <a:r>
                        <a:rPr lang="zh-CN" altLang="en-US" sz="800" u="none" strike="noStrike">
                          <a:effectLst/>
                        </a:rPr>
                        <a:t>平台</a:t>
                      </a:r>
                      <a:r>
                        <a:rPr lang="en-US" altLang="zh-CN" sz="800" u="none" strike="noStrike">
                          <a:effectLst/>
                        </a:rPr>
                        <a:t>16</a:t>
                      </a:r>
                      <a:r>
                        <a:rPr lang="zh-CN" altLang="en-US" sz="800" u="none" strike="noStrike">
                          <a:effectLst/>
                        </a:rPr>
                        <a:t>盘实测</a:t>
                      </a:r>
                      <a:r>
                        <a:rPr lang="en-US" altLang="zh-CN" sz="800" u="none" strike="noStrike">
                          <a:effectLst/>
                        </a:rPr>
                        <a:t>-1</a:t>
                      </a:r>
                      <a:endParaRPr lang="en-US" altLang="zh-CN" sz="800" b="0" i="0" u="none" strike="noStrike">
                        <a:solidFill>
                          <a:srgbClr val="000000"/>
                        </a:solidFill>
                        <a:effectLst/>
                        <a:latin typeface="Calibri" panose="020F0502020204030204" pitchFamily="34" charset="0"/>
                      </a:endParaRPr>
                    </a:p>
                  </a:txBody>
                  <a:tcPr marL="5305" marR="5305" marT="5305" marB="0" anchor="ctr"/>
                </a:tc>
                <a:tc>
                  <a:txBody>
                    <a:bodyPr/>
                    <a:lstStyle/>
                    <a:p>
                      <a:pPr algn="r" fontAlgn="ctr">
                        <a:buNone/>
                      </a:pPr>
                      <a:r>
                        <a:rPr lang="en-US" sz="800" u="none" strike="noStrike">
                          <a:effectLst/>
                        </a:rPr>
                        <a:t>238400</a:t>
                      </a:r>
                      <a:endParaRPr lang="en-US" sz="800" b="0" i="0" u="none" strike="noStrike">
                        <a:solidFill>
                          <a:srgbClr val="000000"/>
                        </a:solidFill>
                        <a:effectLst/>
                        <a:latin typeface="Calibri" panose="020F0502020204030204" pitchFamily="34" charset="0"/>
                      </a:endParaRPr>
                    </a:p>
                  </a:txBody>
                  <a:tcPr marL="5305" marR="5305" marT="5305" marB="0" anchor="ctr"/>
                </a:tc>
                <a:tc>
                  <a:txBody>
                    <a:bodyPr/>
                    <a:lstStyle/>
                    <a:p>
                      <a:pPr algn="r" fontAlgn="ctr">
                        <a:buNone/>
                      </a:pPr>
                      <a:r>
                        <a:rPr lang="en-US" sz="800" u="none" strike="noStrike">
                          <a:effectLst/>
                        </a:rPr>
                        <a:t>168700</a:t>
                      </a:r>
                      <a:endParaRPr lang="en-US" sz="800" b="0" i="0" u="none" strike="noStrike">
                        <a:solidFill>
                          <a:srgbClr val="000000"/>
                        </a:solidFill>
                        <a:effectLst/>
                        <a:latin typeface="Calibri" panose="020F0502020204030204" pitchFamily="34" charset="0"/>
                      </a:endParaRPr>
                    </a:p>
                  </a:txBody>
                  <a:tcPr marL="5305" marR="5305" marT="5305" marB="0" anchor="ctr"/>
                </a:tc>
                <a:tc>
                  <a:txBody>
                    <a:bodyPr/>
                    <a:lstStyle/>
                    <a:p>
                      <a:pPr algn="r" fontAlgn="ctr">
                        <a:buNone/>
                      </a:pPr>
                      <a:r>
                        <a:rPr lang="en-US" sz="800" u="none" strike="noStrike">
                          <a:effectLst/>
                        </a:rPr>
                        <a:t>55,005</a:t>
                      </a:r>
                      <a:endParaRPr lang="en-US" sz="800" b="0" i="0" u="none" strike="noStrike">
                        <a:solidFill>
                          <a:srgbClr val="000000"/>
                        </a:solidFill>
                        <a:effectLst/>
                        <a:latin typeface="Calibri" panose="020F0502020204030204" pitchFamily="34" charset="0"/>
                      </a:endParaRPr>
                    </a:p>
                  </a:txBody>
                  <a:tcPr marL="5305" marR="5305" marT="5305" marB="0" anchor="ctr"/>
                </a:tc>
                <a:tc>
                  <a:txBody>
                    <a:bodyPr/>
                    <a:lstStyle/>
                    <a:p>
                      <a:pPr algn="r" fontAlgn="ctr">
                        <a:buNone/>
                      </a:pPr>
                      <a:r>
                        <a:rPr lang="en-US" sz="800" u="none" strike="noStrike">
                          <a:effectLst/>
                        </a:rPr>
                        <a:t>7,547</a:t>
                      </a:r>
                      <a:endParaRPr lang="en-US" sz="800" b="0" i="0" u="none" strike="noStrike">
                        <a:solidFill>
                          <a:srgbClr val="000000"/>
                        </a:solidFill>
                        <a:effectLst/>
                        <a:latin typeface="Calibri" panose="020F0502020204030204" pitchFamily="34" charset="0"/>
                      </a:endParaRPr>
                    </a:p>
                  </a:txBody>
                  <a:tcPr marL="5305" marR="5305" marT="5305" marB="0" anchor="ctr"/>
                </a:tc>
                <a:tc>
                  <a:txBody>
                    <a:bodyPr/>
                    <a:lstStyle/>
                    <a:p>
                      <a:pPr algn="r" fontAlgn="ctr">
                        <a:buNone/>
                      </a:pPr>
                      <a:r>
                        <a:rPr lang="en-US" sz="800" u="none" strike="noStrike">
                          <a:effectLst/>
                        </a:rPr>
                        <a:t>19013</a:t>
                      </a:r>
                      <a:endParaRPr lang="en-US" sz="800" b="0" i="0" u="none" strike="noStrike">
                        <a:solidFill>
                          <a:srgbClr val="000000"/>
                        </a:solidFill>
                        <a:effectLst/>
                        <a:latin typeface="Calibri" panose="020F0502020204030204" pitchFamily="34" charset="0"/>
                      </a:endParaRPr>
                    </a:p>
                  </a:txBody>
                  <a:tcPr marL="5305" marR="5305" marT="5305" marB="0" anchor="ctr"/>
                </a:tc>
                <a:tc>
                  <a:txBody>
                    <a:bodyPr/>
                    <a:lstStyle/>
                    <a:p>
                      <a:pPr algn="r" fontAlgn="ctr">
                        <a:buNone/>
                      </a:pPr>
                      <a:r>
                        <a:rPr lang="en-US" sz="800" u="none" strike="noStrike">
                          <a:effectLst/>
                        </a:rPr>
                        <a:t>52.95</a:t>
                      </a:r>
                      <a:endParaRPr lang="en-US" sz="800" b="0" i="0" u="none" strike="noStrike">
                        <a:solidFill>
                          <a:srgbClr val="000000"/>
                        </a:solidFill>
                        <a:effectLst/>
                        <a:latin typeface="Calibri" panose="020F0502020204030204" pitchFamily="34" charset="0"/>
                      </a:endParaRPr>
                    </a:p>
                  </a:txBody>
                  <a:tcPr marL="5305" marR="5305" marT="5305" marB="0" anchor="ctr"/>
                </a:tc>
                <a:tc>
                  <a:txBody>
                    <a:bodyPr/>
                    <a:lstStyle/>
                    <a:p>
                      <a:pPr algn="r" fontAlgn="ctr">
                        <a:buNone/>
                      </a:pPr>
                      <a:r>
                        <a:rPr lang="en-US" sz="800" u="none" strike="noStrike">
                          <a:effectLst/>
                        </a:rPr>
                        <a:t>5.62</a:t>
                      </a:r>
                      <a:endParaRPr lang="en-US" sz="800" b="0" i="0" u="none" strike="noStrike">
                        <a:solidFill>
                          <a:srgbClr val="000000"/>
                        </a:solidFill>
                        <a:effectLst/>
                        <a:latin typeface="Calibri" panose="020F0502020204030204" pitchFamily="34" charset="0"/>
                      </a:endParaRPr>
                    </a:p>
                  </a:txBody>
                  <a:tcPr marL="5305" marR="5305" marT="5305" marB="0" anchor="ctr"/>
                </a:tc>
                <a:tc>
                  <a:txBody>
                    <a:bodyPr/>
                    <a:lstStyle/>
                    <a:p>
                      <a:pPr algn="r" fontAlgn="ctr">
                        <a:buNone/>
                      </a:pPr>
                      <a:r>
                        <a:rPr lang="en-US" sz="800" u="none" strike="noStrike">
                          <a:effectLst/>
                        </a:rPr>
                        <a:t>6.82</a:t>
                      </a:r>
                      <a:endParaRPr lang="en-US" sz="800" b="0" i="0" u="none" strike="noStrike">
                        <a:solidFill>
                          <a:srgbClr val="000000"/>
                        </a:solidFill>
                        <a:effectLst/>
                        <a:latin typeface="Calibri" panose="020F0502020204030204" pitchFamily="34" charset="0"/>
                      </a:endParaRPr>
                    </a:p>
                  </a:txBody>
                  <a:tcPr marL="5305" marR="5305" marT="5305" marB="0" anchor="ctr"/>
                </a:tc>
                <a:tc>
                  <a:txBody>
                    <a:bodyPr/>
                    <a:lstStyle/>
                    <a:p>
                      <a:pPr algn="r" fontAlgn="ctr">
                        <a:buNone/>
                      </a:pPr>
                      <a:r>
                        <a:rPr lang="en-US" sz="800" u="none" strike="noStrike">
                          <a:effectLst/>
                        </a:rPr>
                        <a:t>5.63</a:t>
                      </a:r>
                      <a:endParaRPr lang="en-US" sz="800" b="0" i="0" u="none" strike="noStrike">
                        <a:solidFill>
                          <a:srgbClr val="000000"/>
                        </a:solidFill>
                        <a:effectLst/>
                        <a:latin typeface="Calibri" panose="020F0502020204030204" pitchFamily="34" charset="0"/>
                      </a:endParaRPr>
                    </a:p>
                  </a:txBody>
                  <a:tcPr marL="5305" marR="5305" marT="5305" marB="0" anchor="ctr"/>
                </a:tc>
                <a:extLst>
                  <a:ext uri="{0D108BD9-81ED-4DB2-BD59-A6C34878D82A}">
                    <a16:rowId xmlns:a16="http://schemas.microsoft.com/office/drawing/2014/main" val="3700139311"/>
                  </a:ext>
                </a:extLst>
              </a:tr>
              <a:tr h="127326">
                <a:tc vMerge="1">
                  <a:txBody>
                    <a:bodyPr/>
                    <a:lstStyle/>
                    <a:p>
                      <a:endParaRPr lang="en-US"/>
                    </a:p>
                  </a:txBody>
                  <a:tcPr/>
                </a:tc>
                <a:tc>
                  <a:txBody>
                    <a:bodyPr/>
                    <a:lstStyle/>
                    <a:p>
                      <a:pPr algn="l" fontAlgn="ctr">
                        <a:buNone/>
                      </a:pPr>
                      <a:r>
                        <a:rPr lang="en-US" altLang="zh-CN" sz="800" u="none" strike="noStrike">
                          <a:effectLst/>
                        </a:rPr>
                        <a:t>Intel</a:t>
                      </a:r>
                      <a:r>
                        <a:rPr lang="zh-CN" altLang="en-US" sz="800" u="none" strike="noStrike">
                          <a:effectLst/>
                        </a:rPr>
                        <a:t>平台</a:t>
                      </a:r>
                      <a:r>
                        <a:rPr lang="en-US" altLang="zh-CN" sz="800" u="none" strike="noStrike">
                          <a:effectLst/>
                        </a:rPr>
                        <a:t>16</a:t>
                      </a:r>
                      <a:r>
                        <a:rPr lang="zh-CN" altLang="en-US" sz="800" u="none" strike="noStrike">
                          <a:effectLst/>
                        </a:rPr>
                        <a:t>盘实测</a:t>
                      </a:r>
                      <a:r>
                        <a:rPr lang="en-US" altLang="zh-CN" sz="800" u="none" strike="noStrike">
                          <a:effectLst/>
                        </a:rPr>
                        <a:t>-2</a:t>
                      </a:r>
                      <a:endParaRPr lang="en-US" altLang="zh-CN" sz="800" b="0" i="0" u="none" strike="noStrike">
                        <a:solidFill>
                          <a:srgbClr val="000000"/>
                        </a:solidFill>
                        <a:effectLst/>
                        <a:latin typeface="Calibri" panose="020F0502020204030204" pitchFamily="34" charset="0"/>
                      </a:endParaRPr>
                    </a:p>
                  </a:txBody>
                  <a:tcPr marL="5305" marR="5305" marT="5305" marB="0" anchor="ctr"/>
                </a:tc>
                <a:tc>
                  <a:txBody>
                    <a:bodyPr/>
                    <a:lstStyle/>
                    <a:p>
                      <a:pPr algn="r" fontAlgn="ctr">
                        <a:buNone/>
                      </a:pPr>
                      <a:r>
                        <a:rPr lang="en-US" sz="800" u="none" strike="noStrike">
                          <a:effectLst/>
                        </a:rPr>
                        <a:t>238400</a:t>
                      </a:r>
                      <a:endParaRPr lang="en-US" sz="800" b="0" i="0" u="none" strike="noStrike">
                        <a:solidFill>
                          <a:srgbClr val="000000"/>
                        </a:solidFill>
                        <a:effectLst/>
                        <a:latin typeface="Calibri" panose="020F0502020204030204" pitchFamily="34" charset="0"/>
                      </a:endParaRPr>
                    </a:p>
                  </a:txBody>
                  <a:tcPr marL="5305" marR="5305" marT="5305" marB="0" anchor="ctr"/>
                </a:tc>
                <a:tc>
                  <a:txBody>
                    <a:bodyPr/>
                    <a:lstStyle/>
                    <a:p>
                      <a:pPr algn="r" fontAlgn="ctr">
                        <a:buNone/>
                      </a:pPr>
                      <a:r>
                        <a:rPr lang="en-US" sz="800" u="none" strike="noStrike">
                          <a:effectLst/>
                        </a:rPr>
                        <a:t>168700</a:t>
                      </a:r>
                      <a:endParaRPr lang="en-US" sz="800" b="0" i="0" u="none" strike="noStrike">
                        <a:solidFill>
                          <a:srgbClr val="000000"/>
                        </a:solidFill>
                        <a:effectLst/>
                        <a:latin typeface="Calibri" panose="020F0502020204030204" pitchFamily="34" charset="0"/>
                      </a:endParaRPr>
                    </a:p>
                  </a:txBody>
                  <a:tcPr marL="5305" marR="5305" marT="5305" marB="0" anchor="ctr"/>
                </a:tc>
                <a:tc>
                  <a:txBody>
                    <a:bodyPr/>
                    <a:lstStyle/>
                    <a:p>
                      <a:pPr algn="r" fontAlgn="ctr">
                        <a:buNone/>
                      </a:pPr>
                      <a:r>
                        <a:rPr lang="en-US" sz="800" u="none" strike="noStrike">
                          <a:effectLst/>
                        </a:rPr>
                        <a:t>54,985</a:t>
                      </a:r>
                      <a:endParaRPr lang="en-US" sz="800" b="0" i="0" u="none" strike="noStrike">
                        <a:solidFill>
                          <a:srgbClr val="000000"/>
                        </a:solidFill>
                        <a:effectLst/>
                        <a:latin typeface="Calibri" panose="020F0502020204030204" pitchFamily="34" charset="0"/>
                      </a:endParaRPr>
                    </a:p>
                  </a:txBody>
                  <a:tcPr marL="5305" marR="5305" marT="5305" marB="0" anchor="ctr"/>
                </a:tc>
                <a:tc>
                  <a:txBody>
                    <a:bodyPr/>
                    <a:lstStyle/>
                    <a:p>
                      <a:pPr algn="r" fontAlgn="ctr">
                        <a:buNone/>
                      </a:pPr>
                      <a:r>
                        <a:rPr lang="en-US" sz="800" u="none" strike="noStrike">
                          <a:effectLst/>
                        </a:rPr>
                        <a:t>7,536</a:t>
                      </a:r>
                      <a:endParaRPr lang="en-US" sz="800" b="0" i="0" u="none" strike="noStrike">
                        <a:solidFill>
                          <a:srgbClr val="000000"/>
                        </a:solidFill>
                        <a:effectLst/>
                        <a:latin typeface="Calibri" panose="020F0502020204030204" pitchFamily="34" charset="0"/>
                      </a:endParaRPr>
                    </a:p>
                  </a:txBody>
                  <a:tcPr marL="5305" marR="5305" marT="5305" marB="0" anchor="ctr"/>
                </a:tc>
                <a:tc>
                  <a:txBody>
                    <a:bodyPr/>
                    <a:lstStyle/>
                    <a:p>
                      <a:pPr algn="r" fontAlgn="ctr">
                        <a:buNone/>
                      </a:pPr>
                      <a:r>
                        <a:rPr lang="en-US" sz="800" u="none" strike="noStrike">
                          <a:effectLst/>
                        </a:rPr>
                        <a:t>18339</a:t>
                      </a:r>
                      <a:endParaRPr lang="en-US" sz="800" b="0" i="0" u="none" strike="noStrike">
                        <a:solidFill>
                          <a:srgbClr val="000000"/>
                        </a:solidFill>
                        <a:effectLst/>
                        <a:latin typeface="Calibri" panose="020F0502020204030204" pitchFamily="34" charset="0"/>
                      </a:endParaRPr>
                    </a:p>
                  </a:txBody>
                  <a:tcPr marL="5305" marR="5305" marT="5305" marB="0" anchor="ctr"/>
                </a:tc>
                <a:tc>
                  <a:txBody>
                    <a:bodyPr/>
                    <a:lstStyle/>
                    <a:p>
                      <a:pPr algn="r" fontAlgn="ctr">
                        <a:buNone/>
                      </a:pPr>
                      <a:r>
                        <a:rPr lang="en-US" sz="800" u="none" strike="noStrike">
                          <a:effectLst/>
                        </a:rPr>
                        <a:t>52.95</a:t>
                      </a:r>
                      <a:endParaRPr lang="en-US" sz="800" b="0" i="0" u="none" strike="noStrike">
                        <a:solidFill>
                          <a:srgbClr val="000000"/>
                        </a:solidFill>
                        <a:effectLst/>
                        <a:latin typeface="Calibri" panose="020F0502020204030204" pitchFamily="34" charset="0"/>
                      </a:endParaRPr>
                    </a:p>
                  </a:txBody>
                  <a:tcPr marL="5305" marR="5305" marT="5305" marB="0" anchor="ctr"/>
                </a:tc>
                <a:tc>
                  <a:txBody>
                    <a:bodyPr/>
                    <a:lstStyle/>
                    <a:p>
                      <a:pPr algn="r" fontAlgn="ctr">
                        <a:buNone/>
                      </a:pPr>
                      <a:r>
                        <a:rPr lang="en-US" sz="800" u="none" strike="noStrike">
                          <a:effectLst/>
                        </a:rPr>
                        <a:t>5.63</a:t>
                      </a:r>
                      <a:endParaRPr lang="en-US" sz="800" b="0" i="0" u="none" strike="noStrike">
                        <a:solidFill>
                          <a:srgbClr val="000000"/>
                        </a:solidFill>
                        <a:effectLst/>
                        <a:latin typeface="Calibri" panose="020F0502020204030204" pitchFamily="34" charset="0"/>
                      </a:endParaRPr>
                    </a:p>
                  </a:txBody>
                  <a:tcPr marL="5305" marR="5305" marT="5305" marB="0" anchor="ctr"/>
                </a:tc>
                <a:tc>
                  <a:txBody>
                    <a:bodyPr/>
                    <a:lstStyle/>
                    <a:p>
                      <a:pPr algn="r" fontAlgn="ctr">
                        <a:buNone/>
                      </a:pPr>
                      <a:r>
                        <a:rPr lang="en-US" sz="800" u="none" strike="noStrike">
                          <a:effectLst/>
                        </a:rPr>
                        <a:t>6.83</a:t>
                      </a:r>
                      <a:endParaRPr lang="en-US" sz="800" b="0" i="0" u="none" strike="noStrike">
                        <a:solidFill>
                          <a:srgbClr val="000000"/>
                        </a:solidFill>
                        <a:effectLst/>
                        <a:latin typeface="Calibri" panose="020F0502020204030204" pitchFamily="34" charset="0"/>
                      </a:endParaRPr>
                    </a:p>
                  </a:txBody>
                  <a:tcPr marL="5305" marR="5305" marT="5305" marB="0" anchor="ctr"/>
                </a:tc>
                <a:tc>
                  <a:txBody>
                    <a:bodyPr/>
                    <a:lstStyle/>
                    <a:p>
                      <a:pPr algn="r" fontAlgn="ctr">
                        <a:buNone/>
                      </a:pPr>
                      <a:r>
                        <a:rPr lang="en-US" sz="800" u="none" strike="noStrike">
                          <a:effectLst/>
                        </a:rPr>
                        <a:t>5.63</a:t>
                      </a:r>
                      <a:endParaRPr lang="en-US" sz="800" b="0" i="0" u="none" strike="noStrike">
                        <a:solidFill>
                          <a:srgbClr val="000000"/>
                        </a:solidFill>
                        <a:effectLst/>
                        <a:latin typeface="Calibri" panose="020F0502020204030204" pitchFamily="34" charset="0"/>
                      </a:endParaRPr>
                    </a:p>
                  </a:txBody>
                  <a:tcPr marL="5305" marR="5305" marT="5305" marB="0" anchor="ctr"/>
                </a:tc>
                <a:extLst>
                  <a:ext uri="{0D108BD9-81ED-4DB2-BD59-A6C34878D82A}">
                    <a16:rowId xmlns:a16="http://schemas.microsoft.com/office/drawing/2014/main" val="1763552754"/>
                  </a:ext>
                </a:extLst>
              </a:tr>
              <a:tr h="127326">
                <a:tc vMerge="1">
                  <a:txBody>
                    <a:bodyPr/>
                    <a:lstStyle/>
                    <a:p>
                      <a:endParaRPr lang="en-US"/>
                    </a:p>
                  </a:txBody>
                  <a:tcPr/>
                </a:tc>
                <a:tc>
                  <a:txBody>
                    <a:bodyPr/>
                    <a:lstStyle/>
                    <a:p>
                      <a:pPr algn="l" fontAlgn="ctr">
                        <a:buNone/>
                      </a:pPr>
                      <a:r>
                        <a:rPr lang="en-US" altLang="zh-CN" sz="800" u="none" strike="noStrike">
                          <a:effectLst/>
                        </a:rPr>
                        <a:t>Intel</a:t>
                      </a:r>
                      <a:r>
                        <a:rPr lang="zh-CN" altLang="en-US" sz="800" u="none" strike="noStrike">
                          <a:effectLst/>
                        </a:rPr>
                        <a:t>平台</a:t>
                      </a:r>
                      <a:r>
                        <a:rPr lang="en-US" altLang="zh-CN" sz="800" u="none" strike="noStrike">
                          <a:effectLst/>
                        </a:rPr>
                        <a:t>16</a:t>
                      </a:r>
                      <a:r>
                        <a:rPr lang="zh-CN" altLang="en-US" sz="800" u="none" strike="noStrike">
                          <a:effectLst/>
                        </a:rPr>
                        <a:t>盘实测</a:t>
                      </a:r>
                      <a:r>
                        <a:rPr lang="en-US" altLang="zh-CN" sz="800" u="none" strike="noStrike">
                          <a:effectLst/>
                        </a:rPr>
                        <a:t>-3</a:t>
                      </a:r>
                      <a:endParaRPr lang="en-US" altLang="zh-CN" sz="800" b="0" i="0" u="none" strike="noStrike">
                        <a:solidFill>
                          <a:srgbClr val="000000"/>
                        </a:solidFill>
                        <a:effectLst/>
                        <a:latin typeface="Calibri" panose="020F0502020204030204" pitchFamily="34" charset="0"/>
                      </a:endParaRPr>
                    </a:p>
                  </a:txBody>
                  <a:tcPr marL="5305" marR="5305" marT="5305" marB="0" anchor="ctr"/>
                </a:tc>
                <a:tc>
                  <a:txBody>
                    <a:bodyPr/>
                    <a:lstStyle/>
                    <a:p>
                      <a:pPr algn="r" fontAlgn="ctr">
                        <a:buNone/>
                      </a:pPr>
                      <a:r>
                        <a:rPr lang="en-US" sz="800" u="none" strike="noStrike">
                          <a:effectLst/>
                        </a:rPr>
                        <a:t>238400</a:t>
                      </a:r>
                      <a:endParaRPr lang="en-US" sz="800" b="0" i="0" u="none" strike="noStrike">
                        <a:solidFill>
                          <a:srgbClr val="000000"/>
                        </a:solidFill>
                        <a:effectLst/>
                        <a:latin typeface="Calibri" panose="020F0502020204030204" pitchFamily="34" charset="0"/>
                      </a:endParaRPr>
                    </a:p>
                  </a:txBody>
                  <a:tcPr marL="5305" marR="5305" marT="5305" marB="0" anchor="ctr"/>
                </a:tc>
                <a:tc>
                  <a:txBody>
                    <a:bodyPr/>
                    <a:lstStyle/>
                    <a:p>
                      <a:pPr algn="r" fontAlgn="ctr">
                        <a:buNone/>
                      </a:pPr>
                      <a:r>
                        <a:rPr lang="en-US" sz="800" u="none" strike="noStrike">
                          <a:effectLst/>
                        </a:rPr>
                        <a:t>168700</a:t>
                      </a:r>
                      <a:endParaRPr lang="en-US" sz="800" b="0" i="0" u="none" strike="noStrike">
                        <a:solidFill>
                          <a:srgbClr val="000000"/>
                        </a:solidFill>
                        <a:effectLst/>
                        <a:latin typeface="Calibri" panose="020F0502020204030204" pitchFamily="34" charset="0"/>
                      </a:endParaRPr>
                    </a:p>
                  </a:txBody>
                  <a:tcPr marL="5305" marR="5305" marT="5305" marB="0" anchor="ctr"/>
                </a:tc>
                <a:tc>
                  <a:txBody>
                    <a:bodyPr/>
                    <a:lstStyle/>
                    <a:p>
                      <a:pPr algn="r" fontAlgn="ctr">
                        <a:buNone/>
                      </a:pPr>
                      <a:r>
                        <a:rPr lang="en-US" sz="800" u="none" strike="noStrike">
                          <a:effectLst/>
                        </a:rPr>
                        <a:t>54,978</a:t>
                      </a:r>
                      <a:endParaRPr lang="en-US" sz="800" b="0" i="0" u="none" strike="noStrike">
                        <a:solidFill>
                          <a:srgbClr val="000000"/>
                        </a:solidFill>
                        <a:effectLst/>
                        <a:latin typeface="Calibri" panose="020F0502020204030204" pitchFamily="34" charset="0"/>
                      </a:endParaRPr>
                    </a:p>
                  </a:txBody>
                  <a:tcPr marL="5305" marR="5305" marT="5305" marB="0" anchor="ctr"/>
                </a:tc>
                <a:tc>
                  <a:txBody>
                    <a:bodyPr/>
                    <a:lstStyle/>
                    <a:p>
                      <a:pPr algn="r" fontAlgn="ctr">
                        <a:buNone/>
                      </a:pPr>
                      <a:r>
                        <a:rPr lang="en-US" sz="800" u="none" strike="noStrike">
                          <a:effectLst/>
                        </a:rPr>
                        <a:t>7,356</a:t>
                      </a:r>
                      <a:endParaRPr lang="en-US" sz="800" b="0" i="0" u="none" strike="noStrike">
                        <a:solidFill>
                          <a:srgbClr val="000000"/>
                        </a:solidFill>
                        <a:effectLst/>
                        <a:latin typeface="Calibri" panose="020F0502020204030204" pitchFamily="34" charset="0"/>
                      </a:endParaRPr>
                    </a:p>
                  </a:txBody>
                  <a:tcPr marL="5305" marR="5305" marT="5305" marB="0" anchor="ctr"/>
                </a:tc>
                <a:tc>
                  <a:txBody>
                    <a:bodyPr/>
                    <a:lstStyle/>
                    <a:p>
                      <a:pPr algn="r" fontAlgn="ctr">
                        <a:buNone/>
                      </a:pPr>
                      <a:r>
                        <a:rPr lang="en-US" sz="800" u="none" strike="noStrike">
                          <a:effectLst/>
                        </a:rPr>
                        <a:t>18725</a:t>
                      </a:r>
                      <a:endParaRPr lang="en-US" sz="800" b="0" i="0" u="none" strike="noStrike">
                        <a:solidFill>
                          <a:srgbClr val="000000"/>
                        </a:solidFill>
                        <a:effectLst/>
                        <a:latin typeface="Calibri" panose="020F0502020204030204" pitchFamily="34" charset="0"/>
                      </a:endParaRPr>
                    </a:p>
                  </a:txBody>
                  <a:tcPr marL="5305" marR="5305" marT="5305" marB="0" anchor="ctr"/>
                </a:tc>
                <a:tc>
                  <a:txBody>
                    <a:bodyPr/>
                    <a:lstStyle/>
                    <a:p>
                      <a:pPr algn="r" fontAlgn="ctr">
                        <a:buNone/>
                      </a:pPr>
                      <a:r>
                        <a:rPr lang="en-US" sz="800" u="none" strike="noStrike">
                          <a:effectLst/>
                        </a:rPr>
                        <a:t>52.97</a:t>
                      </a:r>
                      <a:endParaRPr lang="en-US" sz="800" b="0" i="0" u="none" strike="noStrike">
                        <a:solidFill>
                          <a:srgbClr val="000000"/>
                        </a:solidFill>
                        <a:effectLst/>
                        <a:latin typeface="Calibri" panose="020F0502020204030204" pitchFamily="34" charset="0"/>
                      </a:endParaRPr>
                    </a:p>
                  </a:txBody>
                  <a:tcPr marL="5305" marR="5305" marT="5305" marB="0" anchor="ctr"/>
                </a:tc>
                <a:tc>
                  <a:txBody>
                    <a:bodyPr/>
                    <a:lstStyle/>
                    <a:p>
                      <a:pPr algn="r" fontAlgn="ctr">
                        <a:buNone/>
                      </a:pPr>
                      <a:r>
                        <a:rPr lang="en-US" sz="800" u="none" strike="noStrike">
                          <a:effectLst/>
                        </a:rPr>
                        <a:t>5.63</a:t>
                      </a:r>
                      <a:endParaRPr lang="en-US" sz="800" b="0" i="0" u="none" strike="noStrike">
                        <a:solidFill>
                          <a:srgbClr val="000000"/>
                        </a:solidFill>
                        <a:effectLst/>
                        <a:latin typeface="Calibri" panose="020F0502020204030204" pitchFamily="34" charset="0"/>
                      </a:endParaRPr>
                    </a:p>
                  </a:txBody>
                  <a:tcPr marL="5305" marR="5305" marT="5305" marB="0" anchor="ctr"/>
                </a:tc>
                <a:tc>
                  <a:txBody>
                    <a:bodyPr/>
                    <a:lstStyle/>
                    <a:p>
                      <a:pPr algn="r" fontAlgn="ctr">
                        <a:buNone/>
                      </a:pPr>
                      <a:r>
                        <a:rPr lang="en-US" sz="800" u="none" strike="noStrike">
                          <a:effectLst/>
                        </a:rPr>
                        <a:t>6.83</a:t>
                      </a:r>
                      <a:endParaRPr lang="en-US" sz="800" b="0" i="0" u="none" strike="noStrike">
                        <a:solidFill>
                          <a:srgbClr val="000000"/>
                        </a:solidFill>
                        <a:effectLst/>
                        <a:latin typeface="Calibri" panose="020F0502020204030204" pitchFamily="34" charset="0"/>
                      </a:endParaRPr>
                    </a:p>
                  </a:txBody>
                  <a:tcPr marL="5305" marR="5305" marT="5305" marB="0" anchor="ctr"/>
                </a:tc>
                <a:tc>
                  <a:txBody>
                    <a:bodyPr/>
                    <a:lstStyle/>
                    <a:p>
                      <a:pPr algn="r" fontAlgn="ctr">
                        <a:buNone/>
                      </a:pPr>
                      <a:r>
                        <a:rPr lang="en-US" sz="800" u="none" strike="noStrike">
                          <a:effectLst/>
                        </a:rPr>
                        <a:t>5.62</a:t>
                      </a:r>
                      <a:endParaRPr lang="en-US" sz="800" b="0" i="0" u="none" strike="noStrike">
                        <a:solidFill>
                          <a:srgbClr val="000000"/>
                        </a:solidFill>
                        <a:effectLst/>
                        <a:latin typeface="Calibri" panose="020F0502020204030204" pitchFamily="34" charset="0"/>
                      </a:endParaRPr>
                    </a:p>
                  </a:txBody>
                  <a:tcPr marL="5305" marR="5305" marT="5305" marB="0" anchor="ctr"/>
                </a:tc>
                <a:extLst>
                  <a:ext uri="{0D108BD9-81ED-4DB2-BD59-A6C34878D82A}">
                    <a16:rowId xmlns:a16="http://schemas.microsoft.com/office/drawing/2014/main" val="4030340805"/>
                  </a:ext>
                </a:extLst>
              </a:tr>
              <a:tr h="127326">
                <a:tc vMerge="1">
                  <a:txBody>
                    <a:bodyPr/>
                    <a:lstStyle/>
                    <a:p>
                      <a:endParaRPr lang="en-US"/>
                    </a:p>
                  </a:txBody>
                  <a:tcPr/>
                </a:tc>
                <a:tc>
                  <a:txBody>
                    <a:bodyPr/>
                    <a:lstStyle/>
                    <a:p>
                      <a:pPr algn="l" fontAlgn="ctr">
                        <a:buNone/>
                      </a:pPr>
                      <a:r>
                        <a:rPr lang="en-US" altLang="zh-CN" sz="800" u="none" strike="noStrike">
                          <a:effectLst/>
                        </a:rPr>
                        <a:t>3</a:t>
                      </a:r>
                      <a:r>
                        <a:rPr lang="zh-CN" altLang="en-US" sz="800" u="none" strike="noStrike">
                          <a:effectLst/>
                        </a:rPr>
                        <a:t>轮平均值</a:t>
                      </a:r>
                      <a:endParaRPr lang="zh-CN" altLang="en-US" sz="800" b="0" i="0" u="none" strike="noStrike">
                        <a:solidFill>
                          <a:srgbClr val="000000"/>
                        </a:solidFill>
                        <a:effectLst/>
                        <a:latin typeface="Calibri" panose="020F0502020204030204" pitchFamily="34" charset="0"/>
                      </a:endParaRPr>
                    </a:p>
                  </a:txBody>
                  <a:tcPr marL="5305" marR="5305" marT="5305" marB="0" anchor="ctr"/>
                </a:tc>
                <a:tc>
                  <a:txBody>
                    <a:bodyPr/>
                    <a:lstStyle/>
                    <a:p>
                      <a:pPr algn="r" fontAlgn="ctr">
                        <a:buNone/>
                      </a:pPr>
                      <a:r>
                        <a:rPr lang="en-US" sz="800" u="none" strike="noStrike">
                          <a:effectLst/>
                        </a:rPr>
                        <a:t>238400</a:t>
                      </a:r>
                      <a:endParaRPr lang="en-US" sz="800" b="0" i="0" u="none" strike="noStrike">
                        <a:solidFill>
                          <a:srgbClr val="000000"/>
                        </a:solidFill>
                        <a:effectLst/>
                        <a:latin typeface="Calibri" panose="020F0502020204030204" pitchFamily="34" charset="0"/>
                      </a:endParaRPr>
                    </a:p>
                  </a:txBody>
                  <a:tcPr marL="5305" marR="5305" marT="5305" marB="0" anchor="ctr"/>
                </a:tc>
                <a:tc>
                  <a:txBody>
                    <a:bodyPr/>
                    <a:lstStyle/>
                    <a:p>
                      <a:pPr algn="r" fontAlgn="ctr">
                        <a:buNone/>
                      </a:pPr>
                      <a:r>
                        <a:rPr lang="en-US" sz="800" u="none" strike="noStrike">
                          <a:effectLst/>
                        </a:rPr>
                        <a:t>168700</a:t>
                      </a:r>
                      <a:endParaRPr lang="en-US" sz="800" b="0" i="0" u="none" strike="noStrike">
                        <a:solidFill>
                          <a:srgbClr val="000000"/>
                        </a:solidFill>
                        <a:effectLst/>
                        <a:latin typeface="Calibri" panose="020F0502020204030204" pitchFamily="34" charset="0"/>
                      </a:endParaRPr>
                    </a:p>
                  </a:txBody>
                  <a:tcPr marL="5305" marR="5305" marT="5305" marB="0" anchor="ctr"/>
                </a:tc>
                <a:tc>
                  <a:txBody>
                    <a:bodyPr/>
                    <a:lstStyle/>
                    <a:p>
                      <a:pPr algn="r" fontAlgn="ctr">
                        <a:buNone/>
                      </a:pPr>
                      <a:r>
                        <a:rPr lang="en-US" sz="800" u="none" strike="noStrike">
                          <a:effectLst/>
                        </a:rPr>
                        <a:t>54989.33333</a:t>
                      </a:r>
                      <a:endParaRPr lang="en-US" sz="800" b="0" i="0" u="none" strike="noStrike">
                        <a:solidFill>
                          <a:srgbClr val="000000"/>
                        </a:solidFill>
                        <a:effectLst/>
                        <a:latin typeface="Calibri" panose="020F0502020204030204" pitchFamily="34" charset="0"/>
                      </a:endParaRPr>
                    </a:p>
                  </a:txBody>
                  <a:tcPr marL="5305" marR="5305" marT="5305" marB="0" anchor="ctr"/>
                </a:tc>
                <a:tc>
                  <a:txBody>
                    <a:bodyPr/>
                    <a:lstStyle/>
                    <a:p>
                      <a:pPr algn="r" fontAlgn="ctr">
                        <a:buNone/>
                      </a:pPr>
                      <a:r>
                        <a:rPr lang="en-US" sz="800" u="none" strike="noStrike">
                          <a:effectLst/>
                        </a:rPr>
                        <a:t>7479.666667</a:t>
                      </a:r>
                      <a:endParaRPr lang="en-US" sz="800" b="0" i="0" u="none" strike="noStrike">
                        <a:solidFill>
                          <a:srgbClr val="000000"/>
                        </a:solidFill>
                        <a:effectLst/>
                        <a:latin typeface="Calibri" panose="020F0502020204030204" pitchFamily="34" charset="0"/>
                      </a:endParaRPr>
                    </a:p>
                  </a:txBody>
                  <a:tcPr marL="5305" marR="5305" marT="5305" marB="0" anchor="ctr"/>
                </a:tc>
                <a:tc>
                  <a:txBody>
                    <a:bodyPr/>
                    <a:lstStyle/>
                    <a:p>
                      <a:pPr algn="r" fontAlgn="ctr">
                        <a:buNone/>
                      </a:pPr>
                      <a:r>
                        <a:rPr lang="en-US" sz="800" u="none" strike="noStrike">
                          <a:effectLst/>
                        </a:rPr>
                        <a:t>18692.33333</a:t>
                      </a:r>
                      <a:endParaRPr lang="en-US" sz="800" b="0" i="0" u="none" strike="noStrike">
                        <a:solidFill>
                          <a:srgbClr val="000000"/>
                        </a:solidFill>
                        <a:effectLst/>
                        <a:latin typeface="Calibri" panose="020F0502020204030204" pitchFamily="34" charset="0"/>
                      </a:endParaRPr>
                    </a:p>
                  </a:txBody>
                  <a:tcPr marL="5305" marR="5305" marT="5305" marB="0" anchor="ctr"/>
                </a:tc>
                <a:tc>
                  <a:txBody>
                    <a:bodyPr/>
                    <a:lstStyle/>
                    <a:p>
                      <a:pPr algn="r" fontAlgn="ctr">
                        <a:buNone/>
                      </a:pPr>
                      <a:r>
                        <a:rPr lang="en-US" sz="800" u="none" strike="noStrike">
                          <a:effectLst/>
                        </a:rPr>
                        <a:t>52.95666667</a:t>
                      </a:r>
                      <a:endParaRPr lang="en-US" sz="800" b="0" i="0" u="none" strike="noStrike">
                        <a:solidFill>
                          <a:srgbClr val="000000"/>
                        </a:solidFill>
                        <a:effectLst/>
                        <a:latin typeface="Calibri" panose="020F0502020204030204" pitchFamily="34" charset="0"/>
                      </a:endParaRPr>
                    </a:p>
                  </a:txBody>
                  <a:tcPr marL="5305" marR="5305" marT="5305" marB="0" anchor="ctr"/>
                </a:tc>
                <a:tc>
                  <a:txBody>
                    <a:bodyPr/>
                    <a:lstStyle/>
                    <a:p>
                      <a:pPr algn="r" fontAlgn="ctr">
                        <a:buNone/>
                      </a:pPr>
                      <a:r>
                        <a:rPr lang="en-US" sz="800" u="none" strike="noStrike">
                          <a:effectLst/>
                        </a:rPr>
                        <a:t>5.626666667</a:t>
                      </a:r>
                      <a:endParaRPr lang="en-US" sz="800" b="0" i="0" u="none" strike="noStrike">
                        <a:solidFill>
                          <a:srgbClr val="000000"/>
                        </a:solidFill>
                        <a:effectLst/>
                        <a:latin typeface="Calibri" panose="020F0502020204030204" pitchFamily="34" charset="0"/>
                      </a:endParaRPr>
                    </a:p>
                  </a:txBody>
                  <a:tcPr marL="5305" marR="5305" marT="5305" marB="0" anchor="ctr"/>
                </a:tc>
                <a:tc>
                  <a:txBody>
                    <a:bodyPr/>
                    <a:lstStyle/>
                    <a:p>
                      <a:pPr algn="r" fontAlgn="ctr">
                        <a:buNone/>
                      </a:pPr>
                      <a:r>
                        <a:rPr lang="en-US" sz="800" u="none" strike="noStrike">
                          <a:effectLst/>
                        </a:rPr>
                        <a:t>6.826666667</a:t>
                      </a:r>
                      <a:endParaRPr lang="en-US" sz="800" b="0" i="0" u="none" strike="noStrike">
                        <a:solidFill>
                          <a:srgbClr val="000000"/>
                        </a:solidFill>
                        <a:effectLst/>
                        <a:latin typeface="Calibri" panose="020F0502020204030204" pitchFamily="34" charset="0"/>
                      </a:endParaRPr>
                    </a:p>
                  </a:txBody>
                  <a:tcPr marL="5305" marR="5305" marT="5305" marB="0" anchor="ctr"/>
                </a:tc>
                <a:tc>
                  <a:txBody>
                    <a:bodyPr/>
                    <a:lstStyle/>
                    <a:p>
                      <a:pPr algn="r" fontAlgn="ctr">
                        <a:buNone/>
                      </a:pPr>
                      <a:r>
                        <a:rPr lang="en-US" sz="800" u="none" strike="noStrike">
                          <a:effectLst/>
                        </a:rPr>
                        <a:t>5.626666667</a:t>
                      </a:r>
                      <a:endParaRPr lang="en-US" sz="800" b="0" i="0" u="none" strike="noStrike">
                        <a:solidFill>
                          <a:srgbClr val="000000"/>
                        </a:solidFill>
                        <a:effectLst/>
                        <a:latin typeface="Calibri" panose="020F0502020204030204" pitchFamily="34" charset="0"/>
                      </a:endParaRPr>
                    </a:p>
                  </a:txBody>
                  <a:tcPr marL="5305" marR="5305" marT="5305" marB="0" anchor="ctr"/>
                </a:tc>
                <a:extLst>
                  <a:ext uri="{0D108BD9-81ED-4DB2-BD59-A6C34878D82A}">
                    <a16:rowId xmlns:a16="http://schemas.microsoft.com/office/drawing/2014/main" val="2728948026"/>
                  </a:ext>
                </a:extLst>
              </a:tr>
              <a:tr h="127326">
                <a:tc vMerge="1">
                  <a:txBody>
                    <a:bodyPr/>
                    <a:lstStyle/>
                    <a:p>
                      <a:endParaRPr lang="en-US"/>
                    </a:p>
                  </a:txBody>
                  <a:tcPr/>
                </a:tc>
                <a:tc>
                  <a:txBody>
                    <a:bodyPr/>
                    <a:lstStyle/>
                    <a:p>
                      <a:pPr algn="l" fontAlgn="ctr">
                        <a:buNone/>
                      </a:pPr>
                      <a:r>
                        <a:rPr lang="en-US" altLang="zh-CN" sz="800" u="none" strike="noStrike" dirty="0">
                          <a:effectLst/>
                        </a:rPr>
                        <a:t>3</a:t>
                      </a:r>
                      <a:r>
                        <a:rPr lang="zh-CN" altLang="en-US" sz="800" u="none" strike="noStrike" dirty="0">
                          <a:effectLst/>
                        </a:rPr>
                        <a:t>轮平均值</a:t>
                      </a:r>
                      <a:r>
                        <a:rPr lang="en-US" altLang="zh-CN" sz="800" u="none" strike="noStrike" dirty="0">
                          <a:effectLst/>
                        </a:rPr>
                        <a:t>-</a:t>
                      </a:r>
                      <a:r>
                        <a:rPr lang="zh-CN" altLang="en-US" sz="800" u="none" strike="noStrike" dirty="0">
                          <a:effectLst/>
                        </a:rPr>
                        <a:t>规格达成</a:t>
                      </a:r>
                      <a:endParaRPr lang="zh-CN" altLang="en-US" sz="800" b="0" i="0" u="none" strike="noStrike" dirty="0">
                        <a:solidFill>
                          <a:srgbClr val="000000"/>
                        </a:solidFill>
                        <a:effectLst/>
                        <a:latin typeface="Calibri" panose="020F0502020204030204" pitchFamily="34" charset="0"/>
                      </a:endParaRPr>
                    </a:p>
                  </a:txBody>
                  <a:tcPr marL="5305" marR="5305" marT="5305" marB="0" anchor="ctr"/>
                </a:tc>
                <a:tc>
                  <a:txBody>
                    <a:bodyPr/>
                    <a:lstStyle/>
                    <a:p>
                      <a:pPr algn="r" fontAlgn="ctr">
                        <a:buNone/>
                      </a:pPr>
                      <a:r>
                        <a:rPr lang="en-US" sz="800" u="none" strike="noStrike">
                          <a:effectLst/>
                        </a:rPr>
                        <a:t>100.68%</a:t>
                      </a:r>
                      <a:endParaRPr lang="en-US" sz="800" b="0" i="0" u="none" strike="noStrike">
                        <a:solidFill>
                          <a:srgbClr val="00B050"/>
                        </a:solidFill>
                        <a:effectLst/>
                        <a:latin typeface="Calibri" panose="020F0502020204030204" pitchFamily="34" charset="0"/>
                      </a:endParaRPr>
                    </a:p>
                  </a:txBody>
                  <a:tcPr marL="5305" marR="5305" marT="5305" marB="0" anchor="ctr"/>
                </a:tc>
                <a:tc>
                  <a:txBody>
                    <a:bodyPr/>
                    <a:lstStyle/>
                    <a:p>
                      <a:pPr algn="r" fontAlgn="ctr">
                        <a:buNone/>
                      </a:pPr>
                      <a:r>
                        <a:rPr lang="en-US" sz="800" u="none" strike="noStrike">
                          <a:effectLst/>
                        </a:rPr>
                        <a:t>105.44%</a:t>
                      </a:r>
                      <a:endParaRPr lang="en-US" sz="800" b="0" i="0" u="none" strike="noStrike">
                        <a:solidFill>
                          <a:srgbClr val="00B050"/>
                        </a:solidFill>
                        <a:effectLst/>
                        <a:latin typeface="Calibri" panose="020F0502020204030204" pitchFamily="34" charset="0"/>
                      </a:endParaRPr>
                    </a:p>
                  </a:txBody>
                  <a:tcPr marL="5305" marR="5305" marT="5305" marB="0" anchor="ctr"/>
                </a:tc>
                <a:tc>
                  <a:txBody>
                    <a:bodyPr/>
                    <a:lstStyle/>
                    <a:p>
                      <a:pPr algn="r" fontAlgn="ctr">
                        <a:buNone/>
                      </a:pPr>
                      <a:r>
                        <a:rPr lang="en-US" sz="800" u="none" strike="noStrike">
                          <a:effectLst/>
                        </a:rPr>
                        <a:t>110.87%</a:t>
                      </a:r>
                      <a:endParaRPr lang="en-US" sz="800" b="0" i="0" u="none" strike="noStrike">
                        <a:solidFill>
                          <a:srgbClr val="00B050"/>
                        </a:solidFill>
                        <a:effectLst/>
                        <a:latin typeface="Calibri" panose="020F0502020204030204" pitchFamily="34" charset="0"/>
                      </a:endParaRPr>
                    </a:p>
                  </a:txBody>
                  <a:tcPr marL="5305" marR="5305" marT="5305" marB="0" anchor="ctr"/>
                </a:tc>
                <a:tc>
                  <a:txBody>
                    <a:bodyPr/>
                    <a:lstStyle/>
                    <a:p>
                      <a:pPr algn="r" fontAlgn="ctr">
                        <a:buNone/>
                      </a:pPr>
                      <a:r>
                        <a:rPr lang="en-US" sz="800" u="none" strike="noStrike">
                          <a:effectLst/>
                        </a:rPr>
                        <a:t>114.02%</a:t>
                      </a:r>
                      <a:endParaRPr lang="en-US" sz="800" b="0" i="0" u="none" strike="noStrike">
                        <a:solidFill>
                          <a:srgbClr val="00B050"/>
                        </a:solidFill>
                        <a:effectLst/>
                        <a:latin typeface="Calibri" panose="020F0502020204030204" pitchFamily="34" charset="0"/>
                      </a:endParaRPr>
                    </a:p>
                  </a:txBody>
                  <a:tcPr marL="5305" marR="5305" marT="5305" marB="0" anchor="ctr"/>
                </a:tc>
                <a:tc>
                  <a:txBody>
                    <a:bodyPr/>
                    <a:lstStyle/>
                    <a:p>
                      <a:pPr algn="r" fontAlgn="ctr">
                        <a:buNone/>
                      </a:pPr>
                      <a:r>
                        <a:rPr lang="en-US" sz="800" u="none" strike="noStrike">
                          <a:effectLst/>
                        </a:rPr>
                        <a:t>167.86%</a:t>
                      </a:r>
                      <a:endParaRPr lang="en-US" sz="800" b="0" i="0" u="none" strike="noStrike">
                        <a:solidFill>
                          <a:srgbClr val="00B050"/>
                        </a:solidFill>
                        <a:effectLst/>
                        <a:latin typeface="Calibri" panose="020F0502020204030204" pitchFamily="34" charset="0"/>
                      </a:endParaRPr>
                    </a:p>
                  </a:txBody>
                  <a:tcPr marL="5305" marR="5305" marT="5305" marB="0" anchor="ctr"/>
                </a:tc>
                <a:tc>
                  <a:txBody>
                    <a:bodyPr/>
                    <a:lstStyle/>
                    <a:p>
                      <a:pPr algn="r" fontAlgn="ctr">
                        <a:buNone/>
                      </a:pPr>
                      <a:r>
                        <a:rPr lang="en-US" sz="800" u="none" strike="noStrike">
                          <a:effectLst/>
                        </a:rPr>
                        <a:t>103.86%</a:t>
                      </a:r>
                      <a:endParaRPr lang="en-US" sz="800" b="0" i="0" u="none" strike="noStrike">
                        <a:solidFill>
                          <a:srgbClr val="00B050"/>
                        </a:solidFill>
                        <a:effectLst/>
                        <a:latin typeface="Calibri" panose="020F0502020204030204" pitchFamily="34" charset="0"/>
                      </a:endParaRPr>
                    </a:p>
                  </a:txBody>
                  <a:tcPr marL="5305" marR="5305" marT="5305" marB="0" anchor="ctr"/>
                </a:tc>
                <a:tc>
                  <a:txBody>
                    <a:bodyPr/>
                    <a:lstStyle/>
                    <a:p>
                      <a:pPr algn="r" fontAlgn="ctr">
                        <a:buNone/>
                      </a:pPr>
                      <a:r>
                        <a:rPr lang="en-US" sz="800" u="none" strike="noStrike">
                          <a:effectLst/>
                        </a:rPr>
                        <a:t>159.95%</a:t>
                      </a:r>
                      <a:endParaRPr lang="en-US" sz="800" b="0" i="0" u="none" strike="noStrike">
                        <a:solidFill>
                          <a:srgbClr val="00B050"/>
                        </a:solidFill>
                        <a:effectLst/>
                        <a:latin typeface="Calibri" panose="020F0502020204030204" pitchFamily="34" charset="0"/>
                      </a:endParaRPr>
                    </a:p>
                  </a:txBody>
                  <a:tcPr marL="5305" marR="5305" marT="5305" marB="0" anchor="ctr"/>
                </a:tc>
                <a:tc>
                  <a:txBody>
                    <a:bodyPr/>
                    <a:lstStyle/>
                    <a:p>
                      <a:pPr algn="r" fontAlgn="ctr">
                        <a:buNone/>
                      </a:pPr>
                      <a:r>
                        <a:rPr lang="en-US" sz="800" u="none" strike="noStrike">
                          <a:effectLst/>
                        </a:rPr>
                        <a:t>117.19%</a:t>
                      </a:r>
                      <a:endParaRPr lang="en-US" sz="800" b="0" i="0" u="none" strike="noStrike">
                        <a:solidFill>
                          <a:srgbClr val="00B050"/>
                        </a:solidFill>
                        <a:effectLst/>
                        <a:latin typeface="Calibri" panose="020F0502020204030204" pitchFamily="34" charset="0"/>
                      </a:endParaRPr>
                    </a:p>
                  </a:txBody>
                  <a:tcPr marL="5305" marR="5305" marT="5305" marB="0" anchor="ctr"/>
                </a:tc>
                <a:tc>
                  <a:txBody>
                    <a:bodyPr/>
                    <a:lstStyle/>
                    <a:p>
                      <a:pPr algn="r" fontAlgn="ctr">
                        <a:buNone/>
                      </a:pPr>
                      <a:r>
                        <a:rPr lang="en-US" sz="800" u="none" strike="noStrike" dirty="0">
                          <a:effectLst/>
                        </a:rPr>
                        <a:t>159.95%</a:t>
                      </a:r>
                      <a:endParaRPr lang="en-US" sz="800" b="0" i="0" u="none" strike="noStrike" dirty="0">
                        <a:solidFill>
                          <a:srgbClr val="00B050"/>
                        </a:solidFill>
                        <a:effectLst/>
                        <a:latin typeface="Calibri" panose="020F0502020204030204" pitchFamily="34" charset="0"/>
                      </a:endParaRPr>
                    </a:p>
                  </a:txBody>
                  <a:tcPr marL="5305" marR="5305" marT="5305" marB="0" anchor="ctr"/>
                </a:tc>
                <a:extLst>
                  <a:ext uri="{0D108BD9-81ED-4DB2-BD59-A6C34878D82A}">
                    <a16:rowId xmlns:a16="http://schemas.microsoft.com/office/drawing/2014/main" val="3654362969"/>
                  </a:ext>
                </a:extLst>
              </a:tr>
            </a:tbl>
          </a:graphicData>
        </a:graphic>
      </p:graphicFrame>
      <p:graphicFrame>
        <p:nvGraphicFramePr>
          <p:cNvPr id="6" name="Table 5">
            <a:extLst>
              <a:ext uri="{FF2B5EF4-FFF2-40B4-BE49-F238E27FC236}">
                <a16:creationId xmlns:a16="http://schemas.microsoft.com/office/drawing/2014/main" id="{EEE484A7-F766-1A4D-F5E5-B390C1B049C4}"/>
              </a:ext>
            </a:extLst>
          </p:cNvPr>
          <p:cNvGraphicFramePr>
            <a:graphicFrameLocks noGrp="1"/>
          </p:cNvGraphicFramePr>
          <p:nvPr>
            <p:extLst>
              <p:ext uri="{D42A27DB-BD31-4B8C-83A1-F6EECF244321}">
                <p14:modId xmlns:p14="http://schemas.microsoft.com/office/powerpoint/2010/main" val="957428347"/>
              </p:ext>
            </p:extLst>
          </p:nvPr>
        </p:nvGraphicFramePr>
        <p:xfrm>
          <a:off x="318975" y="3532936"/>
          <a:ext cx="11636375" cy="365760"/>
        </p:xfrm>
        <a:graphic>
          <a:graphicData uri="http://schemas.openxmlformats.org/drawingml/2006/table">
            <a:tbl>
              <a:tblPr>
                <a:tableStyleId>{5C22544A-7EE6-4342-B048-85BDC9FD1C3A}</a:tableStyleId>
              </a:tblPr>
              <a:tblGrid>
                <a:gridCol w="11636375">
                  <a:extLst>
                    <a:ext uri="{9D8B030D-6E8A-4147-A177-3AD203B41FA5}">
                      <a16:colId xmlns:a16="http://schemas.microsoft.com/office/drawing/2014/main" val="1408491535"/>
                    </a:ext>
                  </a:extLst>
                </a:gridCol>
              </a:tblGrid>
              <a:tr h="182880">
                <a:tc>
                  <a:txBody>
                    <a:bodyPr/>
                    <a:lstStyle/>
                    <a:p>
                      <a:pPr algn="l" fontAlgn="ctr">
                        <a:buNone/>
                      </a:pPr>
                      <a:r>
                        <a:rPr lang="zh-CN" altLang="en-US" sz="1100" u="none" strike="noStrike">
                          <a:effectLst/>
                        </a:rPr>
                        <a:t>测试</a:t>
                      </a:r>
                      <a:r>
                        <a:rPr lang="en-US" sz="1100" u="none" strike="noStrike">
                          <a:effectLst/>
                        </a:rPr>
                        <a:t>FW</a:t>
                      </a:r>
                      <a:r>
                        <a:rPr lang="zh-CN" altLang="en-US" sz="1100" u="none" strike="noStrike">
                          <a:effectLst/>
                        </a:rPr>
                        <a:t>版本：</a:t>
                      </a:r>
                      <a:r>
                        <a:rPr lang="en-US" altLang="zh-CN" sz="1100" u="none" strike="noStrike">
                          <a:effectLst/>
                        </a:rPr>
                        <a:t>1082, </a:t>
                      </a:r>
                      <a:r>
                        <a:rPr lang="en-US" sz="1100" u="none" strike="noStrike">
                          <a:effectLst/>
                        </a:rPr>
                        <a:t>FIO: thread=0</a:t>
                      </a:r>
                      <a:endParaRPr lang="en-US" sz="11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038511149"/>
                  </a:ext>
                </a:extLst>
              </a:tr>
              <a:tr h="182880">
                <a:tc>
                  <a:txBody>
                    <a:bodyPr/>
                    <a:lstStyle/>
                    <a:p>
                      <a:pPr algn="l" fontAlgn="ctr">
                        <a:buNone/>
                      </a:pPr>
                      <a:r>
                        <a:rPr lang="en-US" altLang="zh-CN" sz="1100" u="none" strike="noStrike" dirty="0">
                          <a:effectLst/>
                        </a:rPr>
                        <a:t>2</a:t>
                      </a:r>
                      <a:r>
                        <a:rPr lang="zh-CN" altLang="en-US" sz="1100" u="none" strike="noStrike" dirty="0">
                          <a:effectLst/>
                        </a:rPr>
                        <a:t>路 </a:t>
                      </a:r>
                      <a:r>
                        <a:rPr lang="en-US" sz="1100" u="none" strike="noStrike" dirty="0">
                          <a:effectLst/>
                        </a:rPr>
                        <a:t>GNR-SP 64C, HT on, Kernel: 6.6 + </a:t>
                      </a:r>
                      <a:r>
                        <a:rPr lang="zh-CN" altLang="en-US" sz="1100" u="none" strike="noStrike" dirty="0">
                          <a:effectLst/>
                        </a:rPr>
                        <a:t>自适应中断聚合</a:t>
                      </a:r>
                      <a:r>
                        <a:rPr lang="en-US" sz="1100" u="none" strike="noStrike" dirty="0">
                          <a:effectLst/>
                        </a:rPr>
                        <a:t>Patch, FIO </a:t>
                      </a:r>
                      <a:r>
                        <a:rPr lang="zh-CN" altLang="en-US" sz="1100" u="none" strike="noStrike" dirty="0">
                          <a:effectLst/>
                        </a:rPr>
                        <a:t>配合</a:t>
                      </a:r>
                      <a:r>
                        <a:rPr lang="en-US" sz="1100" u="none" strike="noStrike" dirty="0" err="1">
                          <a:effectLst/>
                        </a:rPr>
                        <a:t>numactrl</a:t>
                      </a:r>
                      <a:r>
                        <a:rPr lang="en-US" sz="1100" u="none" strike="noStrike" dirty="0">
                          <a:effectLst/>
                        </a:rPr>
                        <a:t> --</a:t>
                      </a:r>
                      <a:r>
                        <a:rPr lang="en-US" sz="1100" u="none" strike="noStrike" dirty="0" err="1">
                          <a:effectLst/>
                        </a:rPr>
                        <a:t>localalloc</a:t>
                      </a:r>
                      <a:r>
                        <a:rPr lang="en-US" sz="1100" u="none" strike="noStrike" dirty="0">
                          <a:effectLst/>
                        </a:rPr>
                        <a:t> + </a:t>
                      </a:r>
                      <a:r>
                        <a:rPr lang="zh-CN" altLang="en-US" sz="1100" u="none" strike="noStrike" dirty="0">
                          <a:effectLst/>
                        </a:rPr>
                        <a:t>绑核 </a:t>
                      </a:r>
                      <a:r>
                        <a:rPr lang="en-US" altLang="zh-CN" sz="1100" u="none" strike="noStrike" dirty="0">
                          <a:effectLst/>
                        </a:rPr>
                        <a:t>(</a:t>
                      </a:r>
                      <a:r>
                        <a:rPr lang="en-US" sz="1100" u="none" strike="noStrike" dirty="0">
                          <a:effectLst/>
                        </a:rPr>
                        <a:t>FIO </a:t>
                      </a:r>
                      <a:r>
                        <a:rPr lang="en-US" sz="1100" u="none" strike="noStrike" dirty="0" err="1">
                          <a:effectLst/>
                        </a:rPr>
                        <a:t>cpus_allowed</a:t>
                      </a:r>
                      <a:r>
                        <a:rPr lang="zh-CN" altLang="en-US" sz="1100" u="none" strike="noStrike" dirty="0">
                          <a:effectLst/>
                        </a:rPr>
                        <a:t>参数）</a:t>
                      </a:r>
                      <a:endParaRPr lang="zh-CN" altLang="en-US" sz="11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83499781"/>
                  </a:ext>
                </a:extLst>
              </a:tr>
            </a:tbl>
          </a:graphicData>
        </a:graphic>
      </p:graphicFrame>
      <p:graphicFrame>
        <p:nvGraphicFramePr>
          <p:cNvPr id="7" name="Table 6">
            <a:extLst>
              <a:ext uri="{FF2B5EF4-FFF2-40B4-BE49-F238E27FC236}">
                <a16:creationId xmlns:a16="http://schemas.microsoft.com/office/drawing/2014/main" id="{80153E5F-82C7-47B1-8958-FDB9D7082752}"/>
              </a:ext>
            </a:extLst>
          </p:cNvPr>
          <p:cNvGraphicFramePr>
            <a:graphicFrameLocks noGrp="1"/>
          </p:cNvGraphicFramePr>
          <p:nvPr>
            <p:extLst>
              <p:ext uri="{D42A27DB-BD31-4B8C-83A1-F6EECF244321}">
                <p14:modId xmlns:p14="http://schemas.microsoft.com/office/powerpoint/2010/main" val="1062148198"/>
              </p:ext>
            </p:extLst>
          </p:nvPr>
        </p:nvGraphicFramePr>
        <p:xfrm>
          <a:off x="318974" y="5771939"/>
          <a:ext cx="11636375" cy="350520"/>
        </p:xfrm>
        <a:graphic>
          <a:graphicData uri="http://schemas.openxmlformats.org/drawingml/2006/table">
            <a:tbl>
              <a:tblPr>
                <a:tableStyleId>{5C22544A-7EE6-4342-B048-85BDC9FD1C3A}</a:tableStyleId>
              </a:tblPr>
              <a:tblGrid>
                <a:gridCol w="4383937">
                  <a:extLst>
                    <a:ext uri="{9D8B030D-6E8A-4147-A177-3AD203B41FA5}">
                      <a16:colId xmlns:a16="http://schemas.microsoft.com/office/drawing/2014/main" val="2568114012"/>
                    </a:ext>
                  </a:extLst>
                </a:gridCol>
                <a:gridCol w="7252438">
                  <a:extLst>
                    <a:ext uri="{9D8B030D-6E8A-4147-A177-3AD203B41FA5}">
                      <a16:colId xmlns:a16="http://schemas.microsoft.com/office/drawing/2014/main" val="3166626462"/>
                    </a:ext>
                  </a:extLst>
                </a:gridCol>
              </a:tblGrid>
              <a:tr h="167467">
                <a:tc>
                  <a:txBody>
                    <a:bodyPr/>
                    <a:lstStyle/>
                    <a:p>
                      <a:pPr algn="l" fontAlgn="ctr">
                        <a:buNone/>
                      </a:pPr>
                      <a:r>
                        <a:rPr lang="zh-CN" altLang="en-US" sz="1100" u="none" strike="noStrike" dirty="0">
                          <a:effectLst/>
                        </a:rPr>
                        <a:t>测试</a:t>
                      </a:r>
                      <a:r>
                        <a:rPr lang="en-US" sz="1100" u="none" strike="noStrike" dirty="0">
                          <a:effectLst/>
                        </a:rPr>
                        <a:t>FW</a:t>
                      </a:r>
                      <a:r>
                        <a:rPr lang="zh-CN" altLang="en-US" sz="1100" u="none" strike="noStrike" dirty="0">
                          <a:effectLst/>
                        </a:rPr>
                        <a:t>版本：</a:t>
                      </a:r>
                      <a:r>
                        <a:rPr lang="en-US" altLang="zh-CN" sz="1100" u="none" strike="noStrike" dirty="0">
                          <a:effectLst/>
                        </a:rPr>
                        <a:t>1082</a:t>
                      </a:r>
                      <a:endParaRPr lang="en-US" altLang="zh-CN"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zh-CN" altLang="en-US" sz="1100" u="none" strike="noStrike" dirty="0">
                          <a:effectLst/>
                        </a:rPr>
                        <a:t>每个盘片绑八个核，不跨</a:t>
                      </a:r>
                      <a:r>
                        <a:rPr lang="en-US" altLang="zh-CN" sz="1100" u="none" strike="noStrike" dirty="0">
                          <a:effectLst/>
                        </a:rPr>
                        <a:t>node</a:t>
                      </a:r>
                      <a:r>
                        <a:rPr lang="zh-CN" altLang="en-US" sz="1100" u="none" strike="noStrike" dirty="0">
                          <a:effectLst/>
                        </a:rPr>
                        <a:t>绑核 </a:t>
                      </a:r>
                      <a:r>
                        <a:rPr lang="en-US" altLang="zh-CN" sz="1100" u="none" strike="noStrike" dirty="0">
                          <a:effectLst/>
                        </a:rPr>
                        <a:t>(</a:t>
                      </a:r>
                      <a:r>
                        <a:rPr lang="en-US" altLang="zh-CN" sz="1100" u="none" strike="noStrike" dirty="0" err="1">
                          <a:effectLst/>
                        </a:rPr>
                        <a:t>numactl</a:t>
                      </a:r>
                      <a:r>
                        <a:rPr lang="en-US" altLang="zh-CN" sz="1100" u="none" strike="noStrike" dirty="0">
                          <a:effectLst/>
                        </a:rPr>
                        <a:t> --</a:t>
                      </a:r>
                      <a:r>
                        <a:rPr lang="en-US" altLang="zh-CN" sz="1100" u="none" strike="noStrike" dirty="0" err="1">
                          <a:effectLst/>
                        </a:rPr>
                        <a:t>localalloc</a:t>
                      </a:r>
                      <a:r>
                        <a:rPr lang="en-US" altLang="zh-CN" sz="1100" u="none" strike="noStrike" dirty="0">
                          <a:effectLst/>
                        </a:rPr>
                        <a:t>)</a:t>
                      </a:r>
                      <a:r>
                        <a:rPr lang="zh-CN" altLang="en-US" sz="1100" u="none" strike="noStrike" dirty="0">
                          <a:effectLst/>
                        </a:rPr>
                        <a:t>，</a:t>
                      </a:r>
                      <a:r>
                        <a:rPr lang="en-US" altLang="zh-CN" sz="1100" u="none" strike="noStrike" dirty="0">
                          <a:effectLst/>
                        </a:rPr>
                        <a:t>thread=1</a:t>
                      </a:r>
                      <a:r>
                        <a:rPr lang="zh-CN" altLang="en-US" sz="1100" u="none" strike="noStrike" dirty="0">
                          <a:effectLst/>
                        </a:rPr>
                        <a:t>，测试前先跑</a:t>
                      </a:r>
                      <a:r>
                        <a:rPr lang="en-US" altLang="zh-CN" sz="1100" u="none" strike="noStrike" dirty="0">
                          <a:effectLst/>
                        </a:rPr>
                        <a:t>2</a:t>
                      </a:r>
                      <a:r>
                        <a:rPr lang="zh-CN" altLang="en-US" sz="1100" u="none" strike="noStrike" dirty="0">
                          <a:effectLst/>
                        </a:rPr>
                        <a:t>遍</a:t>
                      </a:r>
                      <a:r>
                        <a:rPr lang="en-US" altLang="zh-CN" sz="1100" u="none" strike="noStrike" dirty="0">
                          <a:effectLst/>
                        </a:rPr>
                        <a:t>4K</a:t>
                      </a:r>
                      <a:r>
                        <a:rPr lang="zh-CN" altLang="en-US" sz="1100" u="none" strike="noStrike" dirty="0">
                          <a:effectLst/>
                        </a:rPr>
                        <a:t>随机写数据预埋</a:t>
                      </a:r>
                      <a:endParaRPr lang="zh-CN" altLang="en-US" sz="11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002993752"/>
                  </a:ext>
                </a:extLst>
              </a:tr>
              <a:tr h="125517">
                <a:tc gridSpan="2">
                  <a:txBody>
                    <a:bodyPr/>
                    <a:lstStyle/>
                    <a:p>
                      <a:pPr algn="l" fontAlgn="ctr">
                        <a:buNone/>
                      </a:pPr>
                      <a:r>
                        <a:rPr lang="en-US" altLang="zh-CN" sz="1100" u="none" strike="noStrike" dirty="0">
                          <a:effectLst/>
                        </a:rPr>
                        <a:t>2</a:t>
                      </a:r>
                      <a:r>
                        <a:rPr lang="zh-CN" altLang="en-US" sz="1100" u="none" strike="noStrike" dirty="0">
                          <a:effectLst/>
                        </a:rPr>
                        <a:t>路 </a:t>
                      </a:r>
                      <a:r>
                        <a:rPr lang="en-US" sz="1100" u="none" strike="noStrike" dirty="0">
                          <a:effectLst/>
                        </a:rPr>
                        <a:t>GNR-SP 64C, HT on, Kernel: 6.6 + </a:t>
                      </a:r>
                      <a:r>
                        <a:rPr lang="zh-CN" altLang="en-US" sz="1100" u="none" strike="noStrike" dirty="0">
                          <a:effectLst/>
                        </a:rPr>
                        <a:t>自适应中断聚合</a:t>
                      </a:r>
                      <a:r>
                        <a:rPr lang="en-US" sz="1100" u="none" strike="noStrike" dirty="0">
                          <a:effectLst/>
                        </a:rPr>
                        <a:t>Patch, FIO </a:t>
                      </a:r>
                      <a:r>
                        <a:rPr lang="zh-CN" altLang="en-US" sz="1100" u="none" strike="noStrike" dirty="0">
                          <a:effectLst/>
                        </a:rPr>
                        <a:t>配合</a:t>
                      </a:r>
                      <a:r>
                        <a:rPr lang="en-US" sz="1100" u="none" strike="noStrike" dirty="0" err="1">
                          <a:effectLst/>
                        </a:rPr>
                        <a:t>numactrl</a:t>
                      </a:r>
                      <a:r>
                        <a:rPr lang="en-US" sz="1100" u="none" strike="noStrike" dirty="0">
                          <a:effectLst/>
                        </a:rPr>
                        <a:t> --</a:t>
                      </a:r>
                      <a:r>
                        <a:rPr lang="en-US" sz="1100" u="none" strike="noStrike" dirty="0" err="1">
                          <a:effectLst/>
                        </a:rPr>
                        <a:t>localalloc</a:t>
                      </a:r>
                      <a:r>
                        <a:rPr lang="en-US" sz="1100" u="none" strike="noStrike" dirty="0">
                          <a:effectLst/>
                        </a:rPr>
                        <a:t> + </a:t>
                      </a:r>
                      <a:r>
                        <a:rPr lang="zh-CN" altLang="en-US" sz="1100" u="none" strike="noStrike" dirty="0">
                          <a:effectLst/>
                        </a:rPr>
                        <a:t>绑核 </a:t>
                      </a:r>
                      <a:r>
                        <a:rPr lang="en-US" altLang="zh-CN" sz="1100" u="none" strike="noStrike" dirty="0">
                          <a:effectLst/>
                        </a:rPr>
                        <a:t>(</a:t>
                      </a:r>
                      <a:r>
                        <a:rPr lang="en-US" sz="1100" u="none" strike="noStrike" dirty="0">
                          <a:effectLst/>
                        </a:rPr>
                        <a:t>FIO </a:t>
                      </a:r>
                      <a:r>
                        <a:rPr lang="en-US" sz="1100" u="none" strike="noStrike" dirty="0" err="1">
                          <a:effectLst/>
                        </a:rPr>
                        <a:t>cpus_allowed</a:t>
                      </a:r>
                      <a:r>
                        <a:rPr lang="zh-CN" altLang="en-US" sz="1100" u="none" strike="noStrike" dirty="0">
                          <a:effectLst/>
                        </a:rPr>
                        <a:t>参数）</a:t>
                      </a:r>
                      <a:endParaRPr lang="zh-CN" altLang="en-US" sz="1100" b="0" i="0" u="none" strike="noStrike" dirty="0">
                        <a:solidFill>
                          <a:srgbClr val="000000"/>
                        </a:solidFill>
                        <a:effectLst/>
                        <a:latin typeface="Calibri" panose="020F0502020204030204" pitchFamily="34" charset="0"/>
                      </a:endParaRPr>
                    </a:p>
                  </a:txBody>
                  <a:tcPr marL="7620" marR="7620" marT="7620" marB="0" anchor="ctr"/>
                </a:tc>
                <a:tc hMerge="1">
                  <a:txBody>
                    <a:bodyPr/>
                    <a:lstStyle/>
                    <a:p>
                      <a:endParaRPr lang="en-US"/>
                    </a:p>
                  </a:txBody>
                  <a:tcPr/>
                </a:tc>
                <a:extLst>
                  <a:ext uri="{0D108BD9-81ED-4DB2-BD59-A6C34878D82A}">
                    <a16:rowId xmlns:a16="http://schemas.microsoft.com/office/drawing/2014/main" val="262029402"/>
                  </a:ext>
                </a:extLst>
              </a:tr>
            </a:tbl>
          </a:graphicData>
        </a:graphic>
      </p:graphicFrame>
      <p:sp>
        <p:nvSpPr>
          <p:cNvPr id="2" name="TextBox 1">
            <a:extLst>
              <a:ext uri="{FF2B5EF4-FFF2-40B4-BE49-F238E27FC236}">
                <a16:creationId xmlns:a16="http://schemas.microsoft.com/office/drawing/2014/main" id="{4E25EEA1-4E17-1195-A1FA-96FA8ECD2884}"/>
              </a:ext>
            </a:extLst>
          </p:cNvPr>
          <p:cNvSpPr txBox="1"/>
          <p:nvPr/>
        </p:nvSpPr>
        <p:spPr>
          <a:xfrm>
            <a:off x="580103" y="6233875"/>
            <a:ext cx="12123174"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defTabSz="2438338" hangingPunct="0"/>
            <a:r>
              <a:rPr kumimoji="0" lang="zh-CN" altLang="en-US" sz="1400" b="0" i="0" u="none" strike="noStrike" cap="none" spc="0" normalizeH="0" baseline="0" dirty="0">
                <a:ln>
                  <a:noFill/>
                </a:ln>
                <a:effectLst/>
                <a:uFillTx/>
                <a:latin typeface="+mn-lt"/>
                <a:ea typeface="+mn-ea"/>
                <a:cs typeface="+mn-cs"/>
                <a:sym typeface="Helvetica Neue"/>
              </a:rPr>
              <a:t>数据可参见：</a:t>
            </a:r>
            <a:r>
              <a:rPr lang="en-US" altLang="zh-CN" sz="1400" dirty="0">
                <a:sym typeface="Helvetica Neue"/>
              </a:rPr>
              <a:t>https://www.intel.cn/content/www/cn/zh/artificial-intelligence/xeon-6-union-memory-enterprise-ssds.html</a:t>
            </a:r>
            <a:endParaRPr kumimoji="0" lang="en-US" sz="1400" b="0" i="0" u="none" strike="noStrike" cap="none" spc="0" normalizeH="0" baseline="0" dirty="0">
              <a:ln>
                <a:noFill/>
              </a:ln>
              <a:effectLst/>
              <a:uFillTx/>
              <a:latin typeface="+mn-lt"/>
              <a:ea typeface="+mn-ea"/>
              <a:cs typeface="+mn-cs"/>
              <a:sym typeface="Helvetica Neue"/>
            </a:endParaRPr>
          </a:p>
        </p:txBody>
      </p:sp>
      <p:sp>
        <p:nvSpPr>
          <p:cNvPr id="8" name="TextBox 7">
            <a:extLst>
              <a:ext uri="{FF2B5EF4-FFF2-40B4-BE49-F238E27FC236}">
                <a16:creationId xmlns:a16="http://schemas.microsoft.com/office/drawing/2014/main" id="{BEB9FAF0-44CE-4998-A11C-7B916FDCE482}"/>
              </a:ext>
            </a:extLst>
          </p:cNvPr>
          <p:cNvSpPr txBox="1"/>
          <p:nvPr/>
        </p:nvSpPr>
        <p:spPr>
          <a:xfrm rot="19948762">
            <a:off x="736241" y="2809169"/>
            <a:ext cx="10810652" cy="630365"/>
          </a:xfrm>
          <a:prstGeom prst="rect">
            <a:avLst/>
          </a:prstGeom>
          <a:noFill/>
        </p:spPr>
        <p:txBody>
          <a:bodyPr vert="horz" wrap="none" lIns="0" tIns="0" rIns="0" bIns="0" rtlCol="0">
            <a:spAutoFit/>
          </a:bodyPr>
          <a:lstStyle/>
          <a:p>
            <a:pPr marL="0" marR="0" lvl="0" indent="0" algn="l" defTabSz="1219169" rtl="0" eaLnBrk="1" fontAlgn="auto" latinLnBrk="0" hangingPunct="0">
              <a:lnSpc>
                <a:spcPct val="90000"/>
              </a:lnSpc>
              <a:spcBef>
                <a:spcPts val="2250"/>
              </a:spcBef>
              <a:spcAft>
                <a:spcPts val="0"/>
              </a:spcAft>
              <a:buClrTx/>
              <a:buSzTx/>
              <a:buFontTx/>
              <a:buNone/>
              <a:tabLst/>
              <a:defRPr/>
            </a:pPr>
            <a:r>
              <a:rPr kumimoji="0" lang="en-US" sz="4533" b="1" i="0" u="none" strike="noStrike" kern="0" cap="none" spc="0" normalizeH="0" baseline="0" noProof="0" dirty="0">
                <a:ln w="3175">
                  <a:solidFill>
                    <a:srgbClr val="FF0000"/>
                  </a:solidFill>
                  <a:prstDash val="sysDot"/>
                </a:ln>
                <a:noFill/>
                <a:effectLst>
                  <a:outerShdw blurRad="38100" dist="22860" dir="5400000" algn="tl" rotWithShape="0">
                    <a:srgbClr val="000000">
                      <a:alpha val="30000"/>
                    </a:srgbClr>
                  </a:outerShdw>
                </a:effectLst>
                <a:uLnTx/>
                <a:uFillTx/>
                <a:latin typeface="Intel Clear"/>
                <a:sym typeface="Helvetica Neue"/>
              </a:rPr>
              <a:t>For use under CNDA024859 : Bytedance</a:t>
            </a:r>
          </a:p>
        </p:txBody>
      </p:sp>
    </p:spTree>
    <p:extLst>
      <p:ext uri="{BB962C8B-B14F-4D97-AF65-F5344CB8AC3E}">
        <p14:creationId xmlns:p14="http://schemas.microsoft.com/office/powerpoint/2010/main" val="4044331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6E8ACD-D66C-409E-3172-C9390DA78CF6}"/>
            </a:ext>
          </a:extLst>
        </p:cNvPr>
        <p:cNvGrpSpPr/>
        <p:nvPr/>
      </p:nvGrpSpPr>
      <p:grpSpPr>
        <a:xfrm>
          <a:off x="0" y="0"/>
          <a:ext cx="0" cy="0"/>
          <a:chOff x="0" y="0"/>
          <a:chExt cx="0" cy="0"/>
        </a:xfrm>
      </p:grpSpPr>
      <p:sp>
        <p:nvSpPr>
          <p:cNvPr id="10" name="Title 4">
            <a:extLst>
              <a:ext uri="{FF2B5EF4-FFF2-40B4-BE49-F238E27FC236}">
                <a16:creationId xmlns:a16="http://schemas.microsoft.com/office/drawing/2014/main" id="{D414B7D7-EE45-C8AF-D4A9-7F9362223EDF}"/>
              </a:ext>
            </a:extLst>
          </p:cNvPr>
          <p:cNvSpPr>
            <a:spLocks noGrp="1"/>
          </p:cNvSpPr>
          <p:nvPr>
            <p:ph type="title"/>
          </p:nvPr>
        </p:nvSpPr>
        <p:spPr>
          <a:xfrm>
            <a:off x="381000" y="276841"/>
            <a:ext cx="10972800" cy="640080"/>
          </a:xfrm>
        </p:spPr>
        <p:txBody>
          <a:bodyPr/>
          <a:lstStyle/>
          <a:p>
            <a:r>
              <a:rPr lang="en-US" dirty="0"/>
              <a:t>Summary</a:t>
            </a:r>
          </a:p>
        </p:txBody>
      </p:sp>
      <p:sp>
        <p:nvSpPr>
          <p:cNvPr id="14" name="TextBox 13">
            <a:extLst>
              <a:ext uri="{FF2B5EF4-FFF2-40B4-BE49-F238E27FC236}">
                <a16:creationId xmlns:a16="http://schemas.microsoft.com/office/drawing/2014/main" id="{7FD423DC-F15A-D033-06DF-A5482AA38BEE}"/>
              </a:ext>
            </a:extLst>
          </p:cNvPr>
          <p:cNvSpPr txBox="1"/>
          <p:nvPr/>
        </p:nvSpPr>
        <p:spPr>
          <a:xfrm>
            <a:off x="461173" y="873376"/>
            <a:ext cx="10972800" cy="30931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91440" tIns="45720" rIns="91440" bIns="45720" anchor="t">
            <a:spAutoFit/>
          </a:bodyPr>
          <a:lstStyle/>
          <a:p>
            <a:pPr>
              <a:spcBef>
                <a:spcPts val="600"/>
              </a:spcBef>
            </a:pPr>
            <a:r>
              <a:rPr lang="en-US" b="1" dirty="0"/>
              <a:t>1. Adaptive Interrupt Coalescing Benefits:</a:t>
            </a:r>
          </a:p>
          <a:p>
            <a:pPr marL="285750" indent="-285750">
              <a:buFont typeface="Courier New" panose="02070309020205020404" pitchFamily="49" charset="0"/>
              <a:buChar char="o"/>
            </a:pPr>
            <a:r>
              <a:rPr lang="en-US" dirty="0"/>
              <a:t>Maintains high IOPS for heavy workloads.  </a:t>
            </a:r>
          </a:p>
          <a:p>
            <a:pPr marL="285750" indent="-285750">
              <a:buFont typeface="Courier New" panose="02070309020205020404" pitchFamily="49" charset="0"/>
              <a:buChar char="o"/>
            </a:pPr>
            <a:r>
              <a:rPr lang="en-US" dirty="0"/>
              <a:t>Ensures low latency for light workloads</a:t>
            </a:r>
            <a:r>
              <a:rPr lang="en-US"/>
              <a:t>. </a:t>
            </a:r>
            <a:endParaRPr lang="en-US" b="1" dirty="0"/>
          </a:p>
          <a:p>
            <a:pPr>
              <a:spcBef>
                <a:spcPts val="600"/>
              </a:spcBef>
            </a:pPr>
            <a:r>
              <a:rPr lang="en-US" b="1" dirty="0"/>
              <a:t>2. Workload agnostic:</a:t>
            </a:r>
          </a:p>
          <a:p>
            <a:pPr marL="285750" indent="-285750">
              <a:buFont typeface="Courier New" panose="02070309020205020404" pitchFamily="49" charset="0"/>
              <a:buChar char="o"/>
            </a:pPr>
            <a:r>
              <a:rPr lang="en-US" dirty="0"/>
              <a:t>Workloads are agnostic to adaptive interrupt coalescing mechanisms in the kernel.</a:t>
            </a:r>
          </a:p>
          <a:p>
            <a:pPr marL="285750" indent="-285750">
              <a:buFont typeface="Courier New" panose="02070309020205020404" pitchFamily="49" charset="0"/>
              <a:buChar char="o"/>
            </a:pPr>
            <a:r>
              <a:rPr lang="en-US" dirty="0"/>
              <a:t>Tools like </a:t>
            </a:r>
            <a:r>
              <a:rPr lang="en-US" dirty="0" err="1"/>
              <a:t>htop</a:t>
            </a:r>
            <a:r>
              <a:rPr lang="en-US" dirty="0"/>
              <a:t> and perf top indicate minimal kernel overhead.</a:t>
            </a:r>
          </a:p>
          <a:p>
            <a:pPr>
              <a:spcBef>
                <a:spcPts val="600"/>
              </a:spcBef>
            </a:pPr>
            <a:r>
              <a:rPr lang="en-US" b="1" dirty="0"/>
              <a:t>3. No Regression Observed:</a:t>
            </a:r>
          </a:p>
          <a:p>
            <a:pPr marL="285750" indent="-285750">
              <a:buFont typeface="Courier New" panose="02070309020205020404" pitchFamily="49" charset="0"/>
              <a:buChar char="o"/>
            </a:pPr>
            <a:r>
              <a:rPr lang="en-US" dirty="0"/>
              <a:t>Sequential 128k read/write (include case with io size larger than 32k) performance remains unaffected with adaptive interrupt coalescing.</a:t>
            </a:r>
          </a:p>
          <a:p>
            <a:pPr>
              <a:spcBef>
                <a:spcPts val="600"/>
              </a:spcBef>
            </a:pPr>
            <a:endParaRPr lang="en-US" dirty="0"/>
          </a:p>
        </p:txBody>
      </p:sp>
      <p:sp>
        <p:nvSpPr>
          <p:cNvPr id="2" name="TextBox 1">
            <a:extLst>
              <a:ext uri="{FF2B5EF4-FFF2-40B4-BE49-F238E27FC236}">
                <a16:creationId xmlns:a16="http://schemas.microsoft.com/office/drawing/2014/main" id="{E4FF3EFE-9570-674D-5B27-DD1A432AC41C}"/>
              </a:ext>
            </a:extLst>
          </p:cNvPr>
          <p:cNvSpPr txBox="1"/>
          <p:nvPr/>
        </p:nvSpPr>
        <p:spPr>
          <a:xfrm rot="19948762">
            <a:off x="736241" y="2809169"/>
            <a:ext cx="10810652" cy="630365"/>
          </a:xfrm>
          <a:prstGeom prst="rect">
            <a:avLst/>
          </a:prstGeom>
          <a:noFill/>
        </p:spPr>
        <p:txBody>
          <a:bodyPr vert="horz" wrap="none" lIns="0" tIns="0" rIns="0" bIns="0" rtlCol="0">
            <a:spAutoFit/>
          </a:bodyPr>
          <a:lstStyle/>
          <a:p>
            <a:pPr marL="0" marR="0" lvl="0" indent="0" algn="l" defTabSz="1219169" rtl="0" eaLnBrk="1" fontAlgn="auto" latinLnBrk="0" hangingPunct="0">
              <a:lnSpc>
                <a:spcPct val="90000"/>
              </a:lnSpc>
              <a:spcBef>
                <a:spcPts val="2250"/>
              </a:spcBef>
              <a:spcAft>
                <a:spcPts val="0"/>
              </a:spcAft>
              <a:buClrTx/>
              <a:buSzTx/>
              <a:buFontTx/>
              <a:buNone/>
              <a:tabLst/>
              <a:defRPr/>
            </a:pPr>
            <a:r>
              <a:rPr kumimoji="0" lang="en-US" sz="4533" b="1" i="0" u="none" strike="noStrike" kern="0" cap="none" spc="0" normalizeH="0" baseline="0" noProof="0" dirty="0">
                <a:ln w="3175">
                  <a:solidFill>
                    <a:srgbClr val="FF0000"/>
                  </a:solidFill>
                  <a:prstDash val="sysDot"/>
                </a:ln>
                <a:noFill/>
                <a:effectLst>
                  <a:outerShdw blurRad="38100" dist="22860" dir="5400000" algn="tl" rotWithShape="0">
                    <a:srgbClr val="000000">
                      <a:alpha val="30000"/>
                    </a:srgbClr>
                  </a:outerShdw>
                </a:effectLst>
                <a:uLnTx/>
                <a:uFillTx/>
                <a:latin typeface="Intel Clear"/>
                <a:sym typeface="Helvetica Neue"/>
              </a:rPr>
              <a:t>For use under CNDA024859 : Bytedance</a:t>
            </a:r>
          </a:p>
        </p:txBody>
      </p:sp>
    </p:spTree>
    <p:extLst>
      <p:ext uri="{BB962C8B-B14F-4D97-AF65-F5344CB8AC3E}">
        <p14:creationId xmlns:p14="http://schemas.microsoft.com/office/powerpoint/2010/main" val="331037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5E099-4EE1-3D4E-2647-41FA5AB4B117}"/>
            </a:ext>
          </a:extLst>
        </p:cNvPr>
        <p:cNvGrpSpPr/>
        <p:nvPr/>
      </p:nvGrpSpPr>
      <p:grpSpPr>
        <a:xfrm>
          <a:off x="0" y="0"/>
          <a:ext cx="0" cy="0"/>
          <a:chOff x="0" y="0"/>
          <a:chExt cx="0" cy="0"/>
        </a:xfrm>
      </p:grpSpPr>
      <p:sp>
        <p:nvSpPr>
          <p:cNvPr id="10" name="Title 4">
            <a:extLst>
              <a:ext uri="{FF2B5EF4-FFF2-40B4-BE49-F238E27FC236}">
                <a16:creationId xmlns:a16="http://schemas.microsoft.com/office/drawing/2014/main" id="{B35BE315-8B06-811D-8FC4-573386D2A2B2}"/>
              </a:ext>
            </a:extLst>
          </p:cNvPr>
          <p:cNvSpPr>
            <a:spLocks noGrp="1"/>
          </p:cNvSpPr>
          <p:nvPr>
            <p:ph type="title"/>
          </p:nvPr>
        </p:nvSpPr>
        <p:spPr>
          <a:xfrm>
            <a:off x="381000" y="276841"/>
            <a:ext cx="10972800" cy="640080"/>
          </a:xfrm>
        </p:spPr>
        <p:txBody>
          <a:bodyPr/>
          <a:lstStyle/>
          <a:p>
            <a:r>
              <a:rPr lang="en-US" altLang="zh-CN" dirty="0" err="1"/>
              <a:t>NextSetp</a:t>
            </a:r>
            <a:endParaRPr lang="en-US" dirty="0"/>
          </a:p>
        </p:txBody>
      </p:sp>
      <p:sp>
        <p:nvSpPr>
          <p:cNvPr id="14" name="TextBox 13">
            <a:extLst>
              <a:ext uri="{FF2B5EF4-FFF2-40B4-BE49-F238E27FC236}">
                <a16:creationId xmlns:a16="http://schemas.microsoft.com/office/drawing/2014/main" id="{A9BCADC9-3C48-C584-3C0A-873B8FDFBD4C}"/>
              </a:ext>
            </a:extLst>
          </p:cNvPr>
          <p:cNvSpPr txBox="1"/>
          <p:nvPr/>
        </p:nvSpPr>
        <p:spPr>
          <a:xfrm>
            <a:off x="461173" y="873376"/>
            <a:ext cx="10972800" cy="135421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91440" tIns="45720" rIns="91440" bIns="45720" anchor="t">
            <a:spAutoFit/>
          </a:bodyPr>
          <a:lstStyle/>
          <a:p>
            <a:pPr marL="342900" indent="-342900">
              <a:spcBef>
                <a:spcPts val="600"/>
              </a:spcBef>
              <a:buAutoNum type="arabicPeriod"/>
            </a:pPr>
            <a:r>
              <a:rPr lang="en-US" altLang="zh-CN" b="1"/>
              <a:t>Try </a:t>
            </a:r>
            <a:r>
              <a:rPr lang="en-US" b="1"/>
              <a:t>optimization </a:t>
            </a:r>
            <a:r>
              <a:rPr lang="en-US" b="1" dirty="0"/>
              <a:t>about this solution(e.g., do judgement with statistics from the whole </a:t>
            </a:r>
            <a:r>
              <a:rPr lang="en-US" b="1" dirty="0" err="1"/>
              <a:t>NVMe</a:t>
            </a:r>
            <a:r>
              <a:rPr lang="en-US" b="1" dirty="0"/>
              <a:t> device)</a:t>
            </a:r>
          </a:p>
          <a:p>
            <a:pPr marL="342900" indent="-342900">
              <a:spcBef>
                <a:spcPts val="600"/>
              </a:spcBef>
              <a:buAutoNum type="arabicPeriod"/>
            </a:pPr>
            <a:r>
              <a:rPr lang="en-US" b="1" dirty="0"/>
              <a:t>Target for upstream</a:t>
            </a:r>
            <a:endParaRPr lang="en-US" dirty="0"/>
          </a:p>
          <a:p>
            <a:pPr>
              <a:spcBef>
                <a:spcPts val="600"/>
              </a:spcBef>
            </a:pPr>
            <a:endParaRPr lang="en-US" dirty="0"/>
          </a:p>
        </p:txBody>
      </p:sp>
      <p:sp>
        <p:nvSpPr>
          <p:cNvPr id="2" name="TextBox 1">
            <a:extLst>
              <a:ext uri="{FF2B5EF4-FFF2-40B4-BE49-F238E27FC236}">
                <a16:creationId xmlns:a16="http://schemas.microsoft.com/office/drawing/2014/main" id="{4F10145A-30A5-EC09-D2AB-0BBC1D920BAF}"/>
              </a:ext>
            </a:extLst>
          </p:cNvPr>
          <p:cNvSpPr txBox="1"/>
          <p:nvPr/>
        </p:nvSpPr>
        <p:spPr>
          <a:xfrm rot="19948762">
            <a:off x="736241" y="2809169"/>
            <a:ext cx="10810652" cy="630365"/>
          </a:xfrm>
          <a:prstGeom prst="rect">
            <a:avLst/>
          </a:prstGeom>
          <a:noFill/>
        </p:spPr>
        <p:txBody>
          <a:bodyPr vert="horz" wrap="none" lIns="0" tIns="0" rIns="0" bIns="0" rtlCol="0">
            <a:spAutoFit/>
          </a:bodyPr>
          <a:lstStyle/>
          <a:p>
            <a:pPr marL="0" marR="0" lvl="0" indent="0" algn="l" defTabSz="1219169" rtl="0" eaLnBrk="1" fontAlgn="auto" latinLnBrk="0" hangingPunct="0">
              <a:lnSpc>
                <a:spcPct val="90000"/>
              </a:lnSpc>
              <a:spcBef>
                <a:spcPts val="2250"/>
              </a:spcBef>
              <a:spcAft>
                <a:spcPts val="0"/>
              </a:spcAft>
              <a:buClrTx/>
              <a:buSzTx/>
              <a:buFontTx/>
              <a:buNone/>
              <a:tabLst/>
              <a:defRPr/>
            </a:pPr>
            <a:r>
              <a:rPr kumimoji="0" lang="en-US" sz="4533" b="1" i="0" u="none" strike="noStrike" kern="0" cap="none" spc="0" normalizeH="0" baseline="0" noProof="0" dirty="0">
                <a:ln w="3175">
                  <a:solidFill>
                    <a:srgbClr val="FF0000"/>
                  </a:solidFill>
                  <a:prstDash val="sysDot"/>
                </a:ln>
                <a:noFill/>
                <a:effectLst>
                  <a:outerShdw blurRad="38100" dist="22860" dir="5400000" algn="tl" rotWithShape="0">
                    <a:srgbClr val="000000">
                      <a:alpha val="30000"/>
                    </a:srgbClr>
                  </a:outerShdw>
                </a:effectLst>
                <a:uLnTx/>
                <a:uFillTx/>
                <a:latin typeface="Intel Clear"/>
                <a:sym typeface="Helvetica Neue"/>
              </a:rPr>
              <a:t>For use under CNDA024859 : Bytedance</a:t>
            </a:r>
          </a:p>
        </p:txBody>
      </p:sp>
    </p:spTree>
    <p:extLst>
      <p:ext uri="{BB962C8B-B14F-4D97-AF65-F5344CB8AC3E}">
        <p14:creationId xmlns:p14="http://schemas.microsoft.com/office/powerpoint/2010/main" val="3491628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95758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21_BasicWhite">
  <a:themeElements>
    <a:clrScheme name="Intel2020">
      <a:dk1>
        <a:srgbClr val="000000"/>
      </a:dk1>
      <a:lt1>
        <a:srgbClr val="FFFFFF"/>
      </a:lt1>
      <a:dk2>
        <a:srgbClr val="004A86"/>
      </a:dk2>
      <a:lt2>
        <a:srgbClr val="525252"/>
      </a:lt2>
      <a:accent1>
        <a:srgbClr val="0068B5"/>
      </a:accent1>
      <a:accent2>
        <a:srgbClr val="00C7FD"/>
      </a:accent2>
      <a:accent3>
        <a:srgbClr val="F6CB4B"/>
      </a:accent3>
      <a:accent4>
        <a:srgbClr val="D96930"/>
      </a:accent4>
      <a:accent5>
        <a:srgbClr val="8F5DA2"/>
      </a:accent5>
      <a:accent6>
        <a:srgbClr val="8BAE46"/>
      </a:accent6>
      <a:hlink>
        <a:srgbClr val="0068B5"/>
      </a:hlink>
      <a:folHlink>
        <a:srgbClr val="0068B5"/>
      </a:folHlink>
    </a:clrScheme>
    <a:fontScheme name="Custom 11">
      <a:majorFont>
        <a:latin typeface="Intel Clear Light"/>
        <a:ea typeface="Helvetica Neue"/>
        <a:cs typeface="Helvetica Neue"/>
      </a:majorFont>
      <a:minorFont>
        <a:latin typeface="Intel Clear"/>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none" lIns="0" tIns="0" rIns="0" bIns="0" numCol="1" spcCol="38100" rtlCol="0" anchor="t" anchorCtr="0">
        <a:spAutoFit/>
      </a:bodyPr>
      <a:lstStyle>
        <a:defPPr marL="0" marR="0" indent="0" algn="l" defTabSz="2438338" rtl="0" fontAlgn="auto" latinLnBrk="0" hangingPunct="0">
          <a:lnSpc>
            <a:spcPct val="100000"/>
          </a:lnSpc>
          <a:spcBef>
            <a:spcPts val="0"/>
          </a:spcBef>
          <a:spcAft>
            <a:spcPts val="0"/>
          </a:spcAft>
          <a:buClrTx/>
          <a:buSzTx/>
          <a:buFontTx/>
          <a:buNone/>
          <a:tabLst/>
          <a:defRPr kumimoji="0" b="0" i="0" u="none" strike="noStrike" cap="none" spc="0" normalizeH="0" baseline="0" dirty="0" err="1" smtClean="0">
            <a:ln>
              <a:noFill/>
            </a:ln>
            <a:solidFill>
              <a:schemeClr val="tx2"/>
            </a:solidFill>
            <a:effectLst/>
            <a:uFillTx/>
            <a:latin typeface="+mn-lt"/>
            <a:ea typeface="+mn-ea"/>
            <a:cs typeface="+mn-cs"/>
            <a:sym typeface="Helvetica Neue"/>
          </a:defRPr>
        </a:def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New_Intel_Internal _PPT_Template_Final.potx" id="{E08DCBD5-58A4-4BC9-A0AA-8BABD4644A4C}" vid="{0CB0A326-D1BD-4569-864D-FE062184CDB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a7bc6c04-a6f3-4b85-abcc-278c78dc556b" xsi:nil="true"/>
    <lcf76f155ced4ddcb4097134ff3c332f xmlns="d663d400-de7e-4c65-84e2-f5aef1ddeb42">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A4EFE3660778F49ABC787D8E63A7E74" ma:contentTypeVersion="19" ma:contentTypeDescription="Create a new document." ma:contentTypeScope="" ma:versionID="23ab3ce3275577e7aec3106bba34bc5f">
  <xsd:schema xmlns:xsd="http://www.w3.org/2001/XMLSchema" xmlns:xs="http://www.w3.org/2001/XMLSchema" xmlns:p="http://schemas.microsoft.com/office/2006/metadata/properties" xmlns:ns2="d663d400-de7e-4c65-84e2-f5aef1ddeb42" xmlns:ns3="6d27fd1e-b386-49cf-8f7a-eba7ff0cda99" xmlns:ns4="a7bc6c04-a6f3-4b85-abcc-278c78dc556b" targetNamespace="http://schemas.microsoft.com/office/2006/metadata/properties" ma:root="true" ma:fieldsID="9ae9255c84c2285d6f4035b1ba3ea859" ns2:_="" ns3:_="" ns4:_="">
    <xsd:import namespace="d663d400-de7e-4c65-84e2-f5aef1ddeb42"/>
    <xsd:import namespace="6d27fd1e-b386-49cf-8f7a-eba7ff0cda99"/>
    <xsd:import namespace="a7bc6c04-a6f3-4b85-abcc-278c78dc556b"/>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lcf76f155ced4ddcb4097134ff3c332f" minOccurs="0"/>
                <xsd:element ref="ns4:TaxCatchAll"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663d400-de7e-4c65-84e2-f5aef1ddeb4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Length (seconds)" ma:internalName="MediaLengthInSeconds" ma:readOnly="true">
      <xsd:simpleType>
        <xsd:restriction base="dms:Unknown"/>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72a7515c-90a7-421b-ad67-16208a055132"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d27fd1e-b386-49cf-8f7a-eba7ff0cda99"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7bc6c04-a6f3-4b85-abcc-278c78dc556b"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c0aa87da-bbc0-4d90-9244-016a541be9b6}" ma:internalName="TaxCatchAll" ma:showField="CatchAllData" ma:web="6d27fd1e-b386-49cf-8f7a-eba7ff0cda9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C2C986C-B5EE-4C4C-AD37-9C752ACD3EC2}">
  <ds:schemaRefs>
    <ds:schemaRef ds:uri="http://schemas.microsoft.com/sharepoint/v3/contenttype/forms"/>
  </ds:schemaRefs>
</ds:datastoreItem>
</file>

<file path=customXml/itemProps2.xml><?xml version="1.0" encoding="utf-8"?>
<ds:datastoreItem xmlns:ds="http://schemas.openxmlformats.org/officeDocument/2006/customXml" ds:itemID="{FC512134-1A3A-46FD-82C8-60758B1A9656}">
  <ds:schemaRefs>
    <ds:schemaRef ds:uri="http://purl.org/dc/elements/1.1/"/>
    <ds:schemaRef ds:uri="http://www.w3.org/XML/1998/namespace"/>
    <ds:schemaRef ds:uri="http://purl.org/dc/dcmitype/"/>
    <ds:schemaRef ds:uri="http://purl.org/dc/terms/"/>
    <ds:schemaRef ds:uri="http://schemas.microsoft.com/office/infopath/2007/PartnerControls"/>
    <ds:schemaRef ds:uri="http://schemas.microsoft.com/office/2006/metadata/properties"/>
    <ds:schemaRef ds:uri="http://schemas.microsoft.com/office/2006/documentManagement/types"/>
    <ds:schemaRef ds:uri="http://schemas.openxmlformats.org/package/2006/metadata/core-properties"/>
    <ds:schemaRef ds:uri="a7bc6c04-a6f3-4b85-abcc-278c78dc556b"/>
    <ds:schemaRef ds:uri="6d27fd1e-b386-49cf-8f7a-eba7ff0cda99"/>
    <ds:schemaRef ds:uri="d663d400-de7e-4c65-84e2-f5aef1ddeb42"/>
  </ds:schemaRefs>
</ds:datastoreItem>
</file>

<file path=customXml/itemProps3.xml><?xml version="1.0" encoding="utf-8"?>
<ds:datastoreItem xmlns:ds="http://schemas.openxmlformats.org/officeDocument/2006/customXml" ds:itemID="{5AB70FAF-952A-4AE1-B8D8-554D39DBCEE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663d400-de7e-4c65-84e2-f5aef1ddeb42"/>
    <ds:schemaRef ds:uri="6d27fd1e-b386-49cf-8f7a-eba7ff0cda99"/>
    <ds:schemaRef ds:uri="a7bc6c04-a6f3-4b85-abcc-278c78dc556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46c98d88-e344-4ed4-8496-4ed7712e255d}" enabled="0" method="" siteId="{46c98d88-e344-4ed4-8496-4ed7712e255d}" removed="1"/>
</clbl:labelList>
</file>

<file path=docProps/app.xml><?xml version="1.0" encoding="utf-8"?>
<Properties xmlns="http://schemas.openxmlformats.org/officeDocument/2006/extended-properties" xmlns:vt="http://schemas.openxmlformats.org/officeDocument/2006/docPropsVTypes">
  <Template>Slice</Template>
  <TotalTime>5458</TotalTime>
  <Words>2239</Words>
  <Application>Microsoft Office PowerPoint</Application>
  <PresentationFormat>Widescreen</PresentationFormat>
  <Paragraphs>370</Paragraphs>
  <Slides>12</Slides>
  <Notes>2</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12</vt:i4>
      </vt:variant>
    </vt:vector>
  </HeadingPairs>
  <TitlesOfParts>
    <vt:vector size="25" baseType="lpstr">
      <vt:lpstr>Helvetica Neue</vt:lpstr>
      <vt:lpstr>Helvetica Neue Medium</vt:lpstr>
      <vt:lpstr>Inter</vt:lpstr>
      <vt:lpstr>Arial</vt:lpstr>
      <vt:lpstr>Calibri</vt:lpstr>
      <vt:lpstr>Courier New</vt:lpstr>
      <vt:lpstr>Helvetica</vt:lpstr>
      <vt:lpstr>Intel Clear</vt:lpstr>
      <vt:lpstr>Intel Clear Light</vt:lpstr>
      <vt:lpstr>IntelOne Display AR Regular</vt:lpstr>
      <vt:lpstr>Verdana</vt:lpstr>
      <vt:lpstr>Wingdings</vt:lpstr>
      <vt:lpstr>21_BasicWhite</vt:lpstr>
      <vt:lpstr> Adaptive interrupt coalescing patch for NVMe SSD   DCAI PRC Xeon SW Customer Engineering, Oct’25 Zeng Jun; Fang Liang  </vt:lpstr>
      <vt:lpstr>What is Adaptive Interrupt Coalescing</vt:lpstr>
      <vt:lpstr>How the patch works in Heavy WL</vt:lpstr>
      <vt:lpstr>How the patch works in Light WL</vt:lpstr>
      <vt:lpstr>Patches Readiness</vt:lpstr>
      <vt:lpstr>Patch Major Changes</vt:lpstr>
      <vt:lpstr>Installation</vt:lpstr>
      <vt:lpstr>Configuration</vt:lpstr>
      <vt:lpstr>Patch with 16x UMIS UH812a PCIe Gen5 Reference Performance Data</vt:lpstr>
      <vt:lpstr>Summary</vt:lpstr>
      <vt:lpstr>NextSetp</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Azure Storage &amp; Azure Compute Early EMR Performance   MTC - Mihir/Priyanka/Nisha  Data Credits – Abraham/Dheeraj</dc:title>
  <dc:creator>Ganesh, Priyanka</dc:creator>
  <cp:lastModifiedBy>Liu, Guanguan</cp:lastModifiedBy>
  <cp:revision>439</cp:revision>
  <dcterms:created xsi:type="dcterms:W3CDTF">2023-07-10T16:43:16Z</dcterms:created>
  <dcterms:modified xsi:type="dcterms:W3CDTF">2025-11-12T11:17:45Z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0x0101007A4EFE3660778F49ABC787D8E63A7E74</vt:lpwstr>
  </property>
  <property fmtid="{D5CDD505-2E9C-101B-9397-08002B2CF9AE}" pid="3" name="MediaServiceImageTags">
    <vt:lpwstr/>
  </property>
</Properties>
</file>